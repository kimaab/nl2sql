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1422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4318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F2A37"/>
                </a:solidFill>
                <a:latin typeface="맑은 고딕"/>
                <a:ea typeface="맑은 고딕"/>
              </a:rPr>
              <a:t>TO-BE · 질문 처리 흐름 — 예시로 따라가기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36600"/>
            <a:ext cx="8128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8A96A3"/>
                </a:solidFill>
                <a:latin typeface="맑은 고딕"/>
                <a:ea typeface="맑은 고딕"/>
              </a:rPr>
              <a:t>시스템 → 테이블 → 지표 순으로 범위를 좁히고, 각 단계의 판단은 LLM 이 한다. 주황 = 새로 생기는 단계 · 파랑 = 기존 단계</a:t>
            </a:r>
          </a:p>
          <a:p>
            <a:r>
              <a:rPr sz="850" b="0">
                <a:solidFill>
                  <a:srgbClr val="8A96A3"/>
                </a:solidFill>
                <a:latin typeface="맑은 고딕"/>
                <a:ea typeface="맑은 고딕"/>
              </a:rPr>
              <a:t>예시의 테이블·지표 이름은 개발 DB 기준이다. 선택 결과와 이유는 흐름을 보여주는 예시 값, 생성된 SQL 과 AS-IS 결과는 실측이다.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219200"/>
            <a:ext cx="8128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2A37"/>
                </a:solidFill>
                <a:latin typeface="맑은 고딕"/>
                <a:ea typeface="맑은 고딕"/>
              </a:rPr>
              <a:t>준비 — 질문 전에 끝나 있어야 하는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1498600"/>
            <a:ext cx="2362200" cy="1168400"/>
          </a:xfrm>
          <a:prstGeom prst="rect">
            <a:avLst/>
          </a:prstGeom>
          <a:solidFill>
            <a:srgbClr val="FFF6EC"/>
          </a:solidFill>
          <a:ln w="20320">
            <a:solidFill>
              <a:srgbClr val="D96C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612900"/>
            <a:ext cx="215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96C06"/>
                </a:solidFill>
                <a:latin typeface="맑은 고딕"/>
                <a:ea typeface="맑은 고딕"/>
              </a:rPr>
              <a:t>지표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300" y="1930400"/>
            <a:ext cx="2133600" cy="66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화면에서 사람이 정의 (AS-IS 방식)</a:t>
            </a:r>
          </a:p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저장하면 테이블 연결 자동 생성</a:t>
            </a:r>
          </a:p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→ metric · metric_table</a:t>
            </a:r>
          </a:p>
        </p:txBody>
      </p:sp>
      <p:sp>
        <p:nvSpPr>
          <p:cNvPr id="8" name="Down Arrow 7"/>
          <p:cNvSpPr/>
          <p:nvPr/>
        </p:nvSpPr>
        <p:spPr>
          <a:xfrm rot="16200000">
            <a:off x="2940050" y="1930400"/>
            <a:ext cx="381000" cy="304800"/>
          </a:xfrm>
          <a:prstGeom prst="downArrow">
            <a:avLst/>
          </a:prstGeom>
          <a:solidFill>
            <a:srgbClr val="1F5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900" y="1498600"/>
            <a:ext cx="2362200" cy="1168400"/>
          </a:xfrm>
          <a:prstGeom prst="rect">
            <a:avLst/>
          </a:prstGeom>
          <a:solidFill>
            <a:srgbClr val="FFF6EC"/>
          </a:solidFill>
          <a:ln w="20320">
            <a:solidFill>
              <a:srgbClr val="D96C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2500" y="1612900"/>
            <a:ext cx="215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96C06"/>
                </a:solidFill>
                <a:latin typeface="맑은 고딕"/>
                <a:ea typeface="맑은 고딕"/>
              </a:rPr>
              <a:t>테이블 용도 · 코멘트 (사람)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5200" y="1930400"/>
            <a:ext cx="2133600" cy="66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용도 한 줄이 테이블 추론에 쓰임</a:t>
            </a:r>
          </a:p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코드값 뜻은 DB 컬럼 코멘트에</a:t>
            </a:r>
          </a:p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→ meta_table.purpose</a:t>
            </a:r>
          </a:p>
        </p:txBody>
      </p:sp>
      <p:sp>
        <p:nvSpPr>
          <p:cNvPr id="12" name="Down Arrow 11"/>
          <p:cNvSpPr/>
          <p:nvPr/>
        </p:nvSpPr>
        <p:spPr>
          <a:xfrm rot="16200000">
            <a:off x="5822950" y="1930400"/>
            <a:ext cx="381000" cy="304800"/>
          </a:xfrm>
          <a:prstGeom prst="downArrow">
            <a:avLst/>
          </a:prstGeom>
          <a:solidFill>
            <a:srgbClr val="1F5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3800" y="1498600"/>
            <a:ext cx="2362200" cy="1168400"/>
          </a:xfrm>
          <a:prstGeom prst="rect">
            <a:avLst/>
          </a:prstGeom>
          <a:solidFill>
            <a:srgbClr val="FFFFFF"/>
          </a:solidFill>
          <a:ln w="16510">
            <a:solidFill>
              <a:srgbClr val="246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5400" y="1612900"/>
            <a:ext cx="215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463A6"/>
                </a:solidFill>
                <a:latin typeface="맑은 고딕"/>
                <a:ea typeface="맑은 고딕"/>
              </a:rPr>
              <a:t>저장하면 바로 사용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8100" y="1930400"/>
            <a:ext cx="2133600" cy="66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깨지지 않은 지표는 저장 즉시</a:t>
            </a:r>
          </a:p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질문 처리 후보가 됨</a:t>
            </a:r>
          </a:p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→ 지표 status = 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2921000"/>
            <a:ext cx="8128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2A37"/>
                </a:solidFill>
                <a:latin typeface="맑은 고딕"/>
                <a:ea typeface="맑은 고딕"/>
              </a:rPr>
              <a:t>질문 처리 — “차량 상태중에서 운행시간 졸라 큰 애 찾는 쿼리 만들어줘”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3276600"/>
            <a:ext cx="2362200" cy="2616200"/>
          </a:xfrm>
          <a:prstGeom prst="rect">
            <a:avLst/>
          </a:prstGeom>
          <a:solidFill>
            <a:srgbClr val="FFFFFF"/>
          </a:solidFill>
          <a:ln w="16510">
            <a:solidFill>
              <a:srgbClr val="246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3390900"/>
            <a:ext cx="215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463A6"/>
                </a:solidFill>
                <a:latin typeface="맑은 고딕"/>
                <a:ea typeface="맑은 고딕"/>
              </a:rPr>
              <a:t>① 시스템 선택 + 질문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00" y="3708400"/>
            <a:ext cx="2133600" cy="210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F2A37"/>
                </a:solidFill>
                <a:latin typeface="맑은 고딕"/>
                <a:ea typeface="맑은 고딕"/>
              </a:rPr>
              <a:t>시스템: 차량 관제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(화면에서 사용자가 고름)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00" b="1">
                <a:solidFill>
                  <a:srgbClr val="1F2A37"/>
                </a:solidFill>
                <a:latin typeface="맑은 고딕"/>
                <a:ea typeface="맑은 고딕"/>
              </a:rPr>
              <a:t>질문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“차량 상태중에서 운행시간 졸라 큰 애 찾는 쿼리 만들어줘”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이후 모든 단계는 이 시스템 안에서만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90900" y="3276600"/>
            <a:ext cx="2362200" cy="2616200"/>
          </a:xfrm>
          <a:prstGeom prst="rect">
            <a:avLst/>
          </a:prstGeom>
          <a:solidFill>
            <a:srgbClr val="FFF6EC"/>
          </a:solidFill>
          <a:ln w="20320">
            <a:solidFill>
              <a:srgbClr val="D96C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92500" y="3390900"/>
            <a:ext cx="215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96C06"/>
                </a:solidFill>
                <a:latin typeface="맑은 고딕"/>
                <a:ea typeface="맑은 고딕"/>
              </a:rPr>
              <a:t>② 테이블 추론 (LLM)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5200" y="3708400"/>
            <a:ext cx="2133600" cy="210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보내는 것: 업무 영역 설명 + 테이블마다 용도(없으면 코멘트) 한 줄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00" b="1">
                <a:solidFill>
                  <a:srgbClr val="1F2A37"/>
                </a:solidFill>
                <a:latin typeface="맑은 고딕"/>
                <a:ea typeface="맑은 고딕"/>
              </a:rPr>
              <a:t>선택</a:t>
            </a:r>
          </a:p>
          <a:p>
            <a:r>
              <a:rPr sz="900" b="1">
                <a:solidFill>
                  <a:srgbClr val="1F2A37"/>
                </a:solidFill>
                <a:latin typeface="맑은 고딕"/>
                <a:ea typeface="맑은 고딕"/>
              </a:rPr>
              <a:t>bms_log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 운행시간 ≈ 엔진 가동시간 누적값(eg_time)</a:t>
            </a:r>
          </a:p>
          <a:p>
            <a:r>
              <a:rPr sz="900" b="1">
                <a:solidFill>
                  <a:srgbClr val="1F2A37"/>
                </a:solidFill>
                <a:latin typeface="맑은 고딕"/>
                <a:ea typeface="맑은 고딕"/>
              </a:rPr>
              <a:t>bms_condition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 질문의 '차량 상태'</a:t>
            </a:r>
          </a:p>
          <a:p>
            <a:r>
              <a:rPr sz="900" b="1">
                <a:solidFill>
                  <a:srgbClr val="1F2A37"/>
                </a:solidFill>
                <a:latin typeface="맑은 고딕"/>
                <a:ea typeface="맑은 고딕"/>
              </a:rPr>
              <a:t>vehicle_info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 차량 식별 (vehicle_id)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넉넉히 고른다 — 놓치면 뒤에서 못 살림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51450" y="3175000"/>
            <a:ext cx="425450" cy="190500"/>
          </a:xfrm>
          <a:prstGeom prst="roundRect">
            <a:avLst>
              <a:gd name="adj" fmla="val 40000"/>
            </a:avLst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NEW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7250" y="3175000"/>
            <a:ext cx="425450" cy="19050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LLM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3800" y="3276600"/>
            <a:ext cx="2362200" cy="2616200"/>
          </a:xfrm>
          <a:prstGeom prst="rect">
            <a:avLst/>
          </a:prstGeom>
          <a:solidFill>
            <a:srgbClr val="FFF6EC"/>
          </a:solidFill>
          <a:ln w="20320">
            <a:solidFill>
              <a:srgbClr val="D96C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5400" y="3390900"/>
            <a:ext cx="215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96C06"/>
                </a:solidFill>
                <a:latin typeface="맑은 고딕"/>
                <a:ea typeface="맑은 고딕"/>
              </a:rPr>
              <a:t>③ 지표 후보 조회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8100" y="3708400"/>
            <a:ext cx="2133600" cy="210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metric_table 에서 세 테이블을 쓰는 지표</a:t>
            </a:r>
          </a:p>
          <a:p>
            <a:r>
              <a:rPr sz="900" b="1">
                <a:solidFill>
                  <a:srgbClr val="1F2A37"/>
                </a:solidFill>
                <a:latin typeface="맑은 고딕"/>
                <a:ea typeface="맑은 고딕"/>
              </a:rPr>
              <a:t>검색이 아니라 조회 — 오차 없음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· 일별 가동시간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· 차량별 차량상태 상세정보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· 차량상태 상세정보 목록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· 차량 기본 정보 · 차량 경고 이력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· 데이터 수집 현황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조인으로 쓰는 지표도 포함 · active 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4350" y="3175000"/>
            <a:ext cx="425450" cy="190500"/>
          </a:xfrm>
          <a:prstGeom prst="roundRect">
            <a:avLst>
              <a:gd name="adj" fmla="val 40000"/>
            </a:avLst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NEW</a:t>
            </a:r>
          </a:p>
        </p:txBody>
      </p:sp>
      <p:sp>
        <p:nvSpPr>
          <p:cNvPr id="29" name="Down Arrow 28"/>
          <p:cNvSpPr/>
          <p:nvPr/>
        </p:nvSpPr>
        <p:spPr>
          <a:xfrm rot="16200000">
            <a:off x="2940050" y="4432300"/>
            <a:ext cx="381000" cy="304800"/>
          </a:xfrm>
          <a:prstGeom prst="downArrow">
            <a:avLst/>
          </a:prstGeom>
          <a:solidFill>
            <a:srgbClr val="1F5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wn Arrow 29"/>
          <p:cNvSpPr/>
          <p:nvPr/>
        </p:nvSpPr>
        <p:spPr>
          <a:xfrm rot="16200000">
            <a:off x="5822950" y="4432300"/>
            <a:ext cx="381000" cy="304800"/>
          </a:xfrm>
          <a:prstGeom prst="downArrow">
            <a:avLst/>
          </a:prstGeom>
          <a:solidFill>
            <a:srgbClr val="1F5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7264400" y="5994400"/>
            <a:ext cx="381000" cy="304800"/>
          </a:xfrm>
          <a:prstGeom prst="downArrow">
            <a:avLst/>
          </a:prstGeom>
          <a:solidFill>
            <a:srgbClr val="1F5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73800" y="6400800"/>
            <a:ext cx="2362200" cy="2616200"/>
          </a:xfrm>
          <a:prstGeom prst="rect">
            <a:avLst/>
          </a:prstGeom>
          <a:solidFill>
            <a:srgbClr val="FFF6EC"/>
          </a:solidFill>
          <a:ln w="20320">
            <a:solidFill>
              <a:srgbClr val="D96C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5400" y="6515100"/>
            <a:ext cx="215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96C06"/>
                </a:solidFill>
                <a:latin typeface="맑은 고딕"/>
                <a:ea typeface="맑은 고딕"/>
              </a:rPr>
              <a:t>④ 지표 선택 (LLM)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8100" y="6832600"/>
            <a:ext cx="2133600" cy="210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보내는 것: 지표 이름 · 설명 · 같은 말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(정의·컬럼은 보내지 않음)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00" b="1">
                <a:solidFill>
                  <a:srgbClr val="D96C06"/>
                </a:solidFill>
                <a:latin typeface="맑은 고딕"/>
                <a:ea typeface="맑은 고딕"/>
              </a:rPr>
              <a:t>선택: 일별 가동시간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00" b="1">
                <a:solidFill>
                  <a:srgbClr val="1F2A37"/>
                </a:solidFill>
                <a:latin typeface="맑은 고딕"/>
                <a:ea typeface="맑은 고딕"/>
              </a:rPr>
              <a:t>이유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'운행시간' = 가동시간.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'졸라 큰' 은 정렬 조건이라 지표 고르기와 무관 — 다음 단계에서 처리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4350" y="6299200"/>
            <a:ext cx="425450" cy="190500"/>
          </a:xfrm>
          <a:prstGeom prst="roundRect">
            <a:avLst>
              <a:gd name="adj" fmla="val 40000"/>
            </a:avLst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NEW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50150" y="6299200"/>
            <a:ext cx="425450" cy="19050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LLM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90900" y="6400800"/>
            <a:ext cx="2362200" cy="2616200"/>
          </a:xfrm>
          <a:prstGeom prst="rect">
            <a:avLst/>
          </a:prstGeom>
          <a:solidFill>
            <a:srgbClr val="FFFFFF"/>
          </a:solidFill>
          <a:ln w="16510">
            <a:solidFill>
              <a:srgbClr val="246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92500" y="6515100"/>
            <a:ext cx="215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463A6"/>
                </a:solidFill>
                <a:latin typeface="맑은 고딕"/>
                <a:ea typeface="맑은 고딕"/>
              </a:rPr>
              <a:t>⑤ 조회 명세 생성 (LLM)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5200" y="6832600"/>
            <a:ext cx="2133600" cy="210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보내는 것: 고른 지표의 정의 · 필요한 컬럼 · AST 규칙 · 오늘 날짜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800" b="0">
                <a:solidFill>
                  <a:srgbClr val="1F2A37"/>
                </a:solidFill>
                <a:latin typeface="Consolas"/>
                <a:ea typeface="Consolas"/>
              </a:rPr>
              <a:t>{"metric": "일별 가동시간",</a:t>
            </a:r>
          </a:p>
          <a:p>
            <a:r>
              <a:rPr sz="800" b="0">
                <a:solidFill>
                  <a:srgbClr val="1F2A37"/>
                </a:solidFill>
                <a:latin typeface="Consolas"/>
                <a:ea typeface="Consolas"/>
              </a:rPr>
              <a:t> "group_by": ["vehicle_id"],</a:t>
            </a:r>
          </a:p>
          <a:p>
            <a:r>
              <a:rPr sz="800" b="0">
                <a:solidFill>
                  <a:srgbClr val="1F2A37"/>
                </a:solidFill>
                <a:latin typeface="Consolas"/>
                <a:ea typeface="Consolas"/>
              </a:rPr>
              <a:t> "order_by": [{"field":</a:t>
            </a:r>
          </a:p>
          <a:p>
            <a:r>
              <a:rPr sz="800" b="0">
                <a:solidFill>
                  <a:srgbClr val="1F2A37"/>
                </a:solidFill>
                <a:latin typeface="Consolas"/>
                <a:ea typeface="Consolas"/>
              </a:rPr>
              <a:t>   "일별 가동시간", "direction":</a:t>
            </a:r>
          </a:p>
          <a:p>
            <a:r>
              <a:rPr sz="800" b="0">
                <a:solidFill>
                  <a:srgbClr val="1F2A37"/>
                </a:solidFill>
                <a:latin typeface="Consolas"/>
                <a:ea typeface="Consolas"/>
              </a:rPr>
              <a:t>   "desc"}], "limit": 1}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00" b="1">
                <a:solidFill>
                  <a:srgbClr val="1F2A37"/>
                </a:solidFill>
                <a:latin typeface="맑은 고딕"/>
                <a:ea typeface="맑은 고딕"/>
              </a:rPr>
              <a:t>'졸라 큰' → desc + limit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70500" y="6299200"/>
            <a:ext cx="406400" cy="190500"/>
          </a:xfrm>
          <a:prstGeom prst="roundRect">
            <a:avLst>
              <a:gd name="adj" fmla="val 4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변경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67250" y="6299200"/>
            <a:ext cx="425450" cy="19050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LLM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8000" y="6400800"/>
            <a:ext cx="2362200" cy="2616200"/>
          </a:xfrm>
          <a:prstGeom prst="rect">
            <a:avLst/>
          </a:prstGeom>
          <a:solidFill>
            <a:srgbClr val="FFFFFF"/>
          </a:solidFill>
          <a:ln w="16510">
            <a:solidFill>
              <a:srgbClr val="246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600" y="6515100"/>
            <a:ext cx="215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463A6"/>
                </a:solidFill>
                <a:latin typeface="맑은 고딕"/>
                <a:ea typeface="맑은 고딕"/>
              </a:rPr>
              <a:t>⑥ 컴파일 &amp; 검증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2300" y="6832600"/>
            <a:ext cx="2133600" cy="210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화이트리스트 대조 · 날짜 보정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실패하면 오류 메시지로 재시도 (최대 4회)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00" b="1">
                <a:solidFill>
                  <a:srgbClr val="1F2A37"/>
                </a:solidFill>
                <a:latin typeface="맑은 고딕"/>
                <a:ea typeface="맑은 고딕"/>
              </a:rPr>
              <a:t>지표 전개 (기존 컴파일러)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일별 가동시간 = 누적값 eg_time 의 증가분 합 → LAG 서브쿼리로 펼침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고정 필터는 질문에 없어도 컴파일러가 붙인다</a:t>
            </a:r>
          </a:p>
        </p:txBody>
      </p:sp>
      <p:sp>
        <p:nvSpPr>
          <p:cNvPr id="45" name="Down Arrow 44"/>
          <p:cNvSpPr/>
          <p:nvPr/>
        </p:nvSpPr>
        <p:spPr>
          <a:xfrm rot="5400000">
            <a:off x="5822950" y="7556500"/>
            <a:ext cx="381000" cy="304800"/>
          </a:xfrm>
          <a:prstGeom prst="downArrow">
            <a:avLst/>
          </a:prstGeom>
          <a:solidFill>
            <a:srgbClr val="1F5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own Arrow 45"/>
          <p:cNvSpPr/>
          <p:nvPr/>
        </p:nvSpPr>
        <p:spPr>
          <a:xfrm rot="5400000">
            <a:off x="2940050" y="7556500"/>
            <a:ext cx="381000" cy="304800"/>
          </a:xfrm>
          <a:prstGeom prst="downArrow">
            <a:avLst/>
          </a:prstGeom>
          <a:solidFill>
            <a:srgbClr val="1F5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own Arrow 46"/>
          <p:cNvSpPr/>
          <p:nvPr/>
        </p:nvSpPr>
        <p:spPr>
          <a:xfrm>
            <a:off x="1498600" y="9118600"/>
            <a:ext cx="381000" cy="304800"/>
          </a:xfrm>
          <a:prstGeom prst="downArrow">
            <a:avLst/>
          </a:prstGeom>
          <a:solidFill>
            <a:srgbClr val="1F5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8000" y="9525000"/>
            <a:ext cx="8128000" cy="2133600"/>
          </a:xfrm>
          <a:prstGeom prst="rect">
            <a:avLst/>
          </a:prstGeom>
          <a:solidFill>
            <a:srgbClr val="FFFFFF"/>
          </a:solidFill>
          <a:ln w="16510">
            <a:solidFill>
              <a:srgbClr val="246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9600" y="9639300"/>
            <a:ext cx="792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463A6"/>
                </a:solidFill>
                <a:latin typeface="맑은 고딕"/>
                <a:ea typeface="맑은 고딕"/>
              </a:rPr>
              <a:t>생성된 SQL (AS-IS 컴파일러 실측)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2300" y="9956800"/>
            <a:ext cx="7899400" cy="162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526477"/>
                </a:solidFill>
                <a:latin typeface="Consolas"/>
                <a:ea typeface="Consolas"/>
              </a:rPr>
              <a:t>SELECT "vehicle_id",</a:t>
            </a:r>
          </a:p>
          <a:p>
            <a:r>
              <a:rPr sz="800" b="0">
                <a:solidFill>
                  <a:srgbClr val="526477"/>
                </a:solidFill>
                <a:latin typeface="Consolas"/>
                <a:ea typeface="Consolas"/>
              </a:rPr>
              <a:t>  SUM(CASE WHEN "eg_time" - "lag_1_eg_time" BETWEEN 0 AND 2</a:t>
            </a:r>
          </a:p>
          <a:p>
            <a:r>
              <a:rPr sz="800" b="0">
                <a:solidFill>
                  <a:srgbClr val="526477"/>
                </a:solidFill>
                <a:latin typeface="Consolas"/>
                <a:ea typeface="Consolas"/>
              </a:rPr>
              <a:t>           THEN "eg_time" - "lag_1_eg_time" ELSE 0 END) AS "일별 가동시간"</a:t>
            </a:r>
          </a:p>
          <a:p>
            <a:r>
              <a:rPr sz="800" b="0">
                <a:solidFill>
                  <a:srgbClr val="526477"/>
                </a:solidFill>
                <a:latin typeface="Consolas"/>
                <a:ea typeface="Consolas"/>
              </a:rPr>
              <a:t>FROM (SELECT "bms_log".*, LAG("eg_time") OVER (PARTITION BY "vehicle_id"</a:t>
            </a:r>
          </a:p>
          <a:p>
            <a:r>
              <a:rPr sz="800" b="0">
                <a:solidFill>
                  <a:srgbClr val="526477"/>
                </a:solidFill>
                <a:latin typeface="Consolas"/>
                <a:ea typeface="Consolas"/>
              </a:rPr>
              <a:t>        ORDER BY "collect_datetime", "eg_time") AS "lag_1_eg_time"</a:t>
            </a:r>
          </a:p>
          <a:p>
            <a:r>
              <a:rPr sz="800" b="0">
                <a:solidFill>
                  <a:srgbClr val="526477"/>
                </a:solidFill>
                <a:latin typeface="Consolas"/>
                <a:ea typeface="Consolas"/>
              </a:rPr>
              <a:t>      FROM "bms_log") "bms_log"</a:t>
            </a:r>
          </a:p>
          <a:p>
            <a:r>
              <a:rPr sz="800" b="0">
                <a:solidFill>
                  <a:srgbClr val="526477"/>
                </a:solidFill>
                <a:latin typeface="Consolas"/>
                <a:ea typeface="Consolas"/>
              </a:rPr>
              <a:t>GROUP BY "vehicle_id" ORDER BY "일별 가동시간" DESC NULLS LAST LIMIT 1;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누적값(eg_time)의 증가분을 합산 — 지표 정의가 지켜진다. 단계마다 고른 것과 이유는 ask_trace 에 남는다.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8000" y="11938000"/>
            <a:ext cx="8128000" cy="1219200"/>
          </a:xfrm>
          <a:prstGeom prst="rect">
            <a:avLst/>
          </a:prstGeom>
          <a:solidFill>
            <a:srgbClr val="FDF0EE"/>
          </a:solidFill>
          <a:ln w="1651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9600" y="12052300"/>
            <a:ext cx="792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  <a:ea typeface="맑은 고딕"/>
              </a:rPr>
              <a:t>같은 질문, AS-IS 실측 (TF-IDF 프루닝 → LLM)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2300" y="12369800"/>
            <a:ext cx="78994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'운행', '졸라', '큰' 이 단어 사전에 없어 무시 → 일별 가동시간은 후보 3위로 프롬프트에 실렸지만 </a:t>
            </a:r>
            <a:r>
              <a:rPr sz="850" b="1">
                <a:solidFill>
                  <a:srgbClr val="C0392B"/>
                </a:solidFill>
                <a:latin typeface="맑은 고딕"/>
                <a:ea typeface="맑은 고딕"/>
              </a:rPr>
              <a:t>모델이 지표를 쓰지 않음</a:t>
            </a:r>
          </a:p>
          <a:p>
            <a:r>
              <a:rPr sz="800" b="0">
                <a:solidFill>
                  <a:srgbClr val="C0392B"/>
                </a:solidFill>
                <a:latin typeface="Consolas"/>
                <a:ea typeface="Consolas"/>
              </a:rPr>
              <a:t>SELECT "vehicle_id", SUM("eg_time") AS "total_eg_time" FROM "bms_log" GROUP BY "vehicle_id" ORDER BY … DESC LIMIT 1</a:t>
            </a:r>
          </a:p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누적값을 그대로 더한 </a:t>
            </a:r>
            <a:r>
              <a:rPr sz="850" b="1">
                <a:solidFill>
                  <a:srgbClr val="C0392B"/>
                </a:solidFill>
                <a:latin typeface="맑은 고딕"/>
                <a:ea typeface="맑은 고딕"/>
              </a:rPr>
              <a:t>틀린 SQL</a:t>
            </a:r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 — 오류 없이 실행되어 사용자가 알아채기 어렵다. TO-BE 는 ④ 에서 지표를 따로 판단하게 해 이 경우를 줄인다.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4318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F2A37"/>
                </a:solidFill>
                <a:latin typeface="맑은 고딕"/>
                <a:ea typeface="맑은 고딕"/>
              </a:rPr>
              <a:t>단계별로 LLM 에 보내는 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36600"/>
            <a:ext cx="8128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8A96A3"/>
                </a:solidFill>
                <a:latin typeface="맑은 고딕"/>
                <a:ea typeface="맑은 고딕"/>
              </a:rPr>
              <a:t>모델 gemma-4-31B-it (vLLM, 컨텍스트 16,384 토큰 — 확인함). 단계마다 그 판단에 필요한 것만 보낸다 — 고를 때는 요약, SQL 을 만들 때만 상세.</a:t>
            </a:r>
          </a:p>
          <a:p>
            <a:r>
              <a:rPr sz="850" b="0">
                <a:solidFill>
                  <a:srgbClr val="8A96A3"/>
                </a:solidFill>
                <a:latin typeface="맑은 고딕"/>
                <a:ea typeface="맑은 고딕"/>
              </a:rPr>
              <a:t>실제 토큰 수는 단계 기록(ask_trace.prompt_tokens)으로 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270000"/>
            <a:ext cx="1397000" cy="3302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1358900"/>
            <a:ext cx="12446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0400" y="1270000"/>
            <a:ext cx="1143000" cy="3302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6600" y="1358900"/>
            <a:ext cx="9906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LLM 호출</a:t>
            </a:r>
          </a:p>
        </p:txBody>
      </p:sp>
      <p:sp>
        <p:nvSpPr>
          <p:cNvPr id="8" name="Rectangle 7"/>
          <p:cNvSpPr/>
          <p:nvPr/>
        </p:nvSpPr>
        <p:spPr>
          <a:xfrm>
            <a:off x="3073400" y="1270000"/>
            <a:ext cx="3175000" cy="3302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9600" y="1358900"/>
            <a:ext cx="30226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보내는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8400" y="1270000"/>
            <a:ext cx="2413000" cy="3302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4600" y="1358900"/>
            <a:ext cx="22606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보내지 않는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1600200"/>
            <a:ext cx="1397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300" y="1714500"/>
            <a:ext cx="12192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② 테이블 추론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30400" y="1600200"/>
            <a:ext cx="1143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9300" y="1714500"/>
            <a:ext cx="9652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1번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73400" y="1600200"/>
            <a:ext cx="3175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62300" y="1714500"/>
            <a:ext cx="29972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업무 영역 설명 · 테이블마다 용도(없으면 코멘트) 한 줄 · 질문 · 출력 형식(후보 + 이유)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8400" y="1600200"/>
            <a:ext cx="2413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7300" y="1714500"/>
            <a:ext cx="22352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컬럼 목록 · 지표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2336800"/>
            <a:ext cx="1397000" cy="736600"/>
          </a:xfrm>
          <a:prstGeom prst="rect">
            <a:avLst/>
          </a:prstGeom>
          <a:solidFill>
            <a:srgbClr val="F8FAFC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300" y="2451100"/>
            <a:ext cx="12192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④ 지표 선택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30400" y="2336800"/>
            <a:ext cx="1143000" cy="736600"/>
          </a:xfrm>
          <a:prstGeom prst="rect">
            <a:avLst/>
          </a:prstGeom>
          <a:solidFill>
            <a:srgbClr val="F8FAFC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9300" y="2451100"/>
            <a:ext cx="9652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1번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73400" y="2336800"/>
            <a:ext cx="3175000" cy="736600"/>
          </a:xfrm>
          <a:prstGeom prst="rect">
            <a:avLst/>
          </a:prstGeom>
          <a:solidFill>
            <a:srgbClr val="F8FAFC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62300" y="2451100"/>
            <a:ext cx="29972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후보 지표의 이름 · 설명 · 같은 말 · 질문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8400" y="2336800"/>
            <a:ext cx="2413000" cy="736600"/>
          </a:xfrm>
          <a:prstGeom prst="rect">
            <a:avLst/>
          </a:prstGeom>
          <a:solidFill>
            <a:srgbClr val="F8FAFC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7300" y="2451100"/>
            <a:ext cx="22352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지표 정의 · 컬럼 · 필터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3400" y="3073400"/>
            <a:ext cx="1397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300" y="3187700"/>
            <a:ext cx="12192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⑤ 조회 명세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30400" y="3073400"/>
            <a:ext cx="1143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9300" y="3187700"/>
            <a:ext cx="9652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1~4번</a:t>
            </a:r>
          </a:p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(재시도)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73400" y="3073400"/>
            <a:ext cx="3175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62300" y="3187700"/>
            <a:ext cx="29972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고른 지표의 정의 · 고른 테이블의 필요한 컬럼 · 관계 · AST 규칙 · 오늘 날짜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8400" y="3073400"/>
            <a:ext cx="2413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7300" y="3187700"/>
            <a:ext cx="22352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고르지 않은 테이블·지표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4191000"/>
            <a:ext cx="8128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2A37"/>
                </a:solidFill>
                <a:latin typeface="맑은 고딕"/>
                <a:ea typeface="맑은 고딕"/>
              </a:rPr>
              <a:t>④ 지표 선택 — 실제로 보내는 것 (예시)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400" y="4419600"/>
            <a:ext cx="8128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8A96A3"/>
                </a:solidFill>
                <a:latin typeface="맑은 고딕"/>
                <a:ea typeface="맑은 고딕"/>
              </a:rPr>
              <a:t>1장의 질문 그대로. 지표 정의·컬럼·SQL 은 없다 — 이름·설명·같은 말만 보고 고른다.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4673600"/>
            <a:ext cx="8128000" cy="2235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200" y="4826000"/>
            <a:ext cx="7772400" cy="198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>
                <a:solidFill>
                  <a:srgbClr val="9AA5B1"/>
                </a:solidFill>
                <a:latin typeface="Consolas"/>
                <a:ea typeface="Consolas"/>
              </a:rPr>
              <a:t>[시스템] 차량 관제 — 차량 BMS 수집·운행·경고 데이터</a:t>
            </a:r>
          </a:p>
          <a:p>
            <a:r>
              <a:rPr sz="860" b="0">
                <a:solidFill>
                  <a:srgbClr val="E5E9EE"/>
                </a:solidFill>
                <a:latin typeface="Consolas"/>
                <a:ea typeface="Consolas"/>
              </a:rPr>
              <a:t>[질문]   차량 상태중에서 운행시간 졸라 큰 애 찾는 쿼리 만들어줘</a:t>
            </a:r>
          </a:p>
          <a:p>
            <a:r>
              <a:rPr sz="860" b="0">
                <a:solidFill>
                  <a:srgbClr val="9AA5B1"/>
                </a:solidFill>
                <a:latin typeface="Consolas"/>
                <a:ea typeface="Consolas"/>
              </a:rPr>
              <a:t>[고른 테이블] bms_log · bms_condition · vehicle_info</a:t>
            </a:r>
          </a:p>
          <a:p>
            <a:r>
              <a:rPr sz="860" b="0">
                <a:solidFill>
                  <a:srgbClr val="E5E9EE"/>
                </a:solidFill>
                <a:latin typeface="Consolas"/>
                <a:ea typeface="Consolas"/>
              </a:rPr>
              <a:t/>
            </a:r>
          </a:p>
          <a:p>
            <a:r>
              <a:rPr sz="860" b="0">
                <a:solidFill>
                  <a:srgbClr val="9AA5B1"/>
                </a:solidFill>
                <a:latin typeface="Consolas"/>
                <a:ea typeface="Consolas"/>
              </a:rPr>
              <a:t>[후보 지표]</a:t>
            </a:r>
          </a:p>
          <a:p>
            <a:r>
              <a:rPr sz="860" b="0">
                <a:solidFill>
                  <a:srgbClr val="8CC4FF"/>
                </a:solidFill>
                <a:latin typeface="Consolas"/>
                <a:ea typeface="Consolas"/>
              </a:rPr>
              <a:t>1. 일별 가동시간 — 차량 일별 엔진 가동시간(누적값 증가분) 합계</a:t>
            </a:r>
          </a:p>
          <a:p>
            <a:r>
              <a:rPr sz="860" b="0">
                <a:solidFill>
                  <a:srgbClr val="8CC4FF"/>
                </a:solidFill>
                <a:latin typeface="Consolas"/>
                <a:ea typeface="Consolas"/>
              </a:rPr>
              <a:t>   같은 말: 운행시간, 엔진 가동시간</a:t>
            </a:r>
          </a:p>
          <a:p>
            <a:r>
              <a:rPr sz="860" b="0">
                <a:solidFill>
                  <a:srgbClr val="E5E9EE"/>
                </a:solidFill>
                <a:latin typeface="Consolas"/>
                <a:ea typeface="Consolas"/>
              </a:rPr>
              <a:t>2. 차량별 차량상태 상세정보 — 차량별 BMS 상태 수집 이력</a:t>
            </a:r>
          </a:p>
          <a:p>
            <a:r>
              <a:rPr sz="860" b="0">
                <a:solidFill>
                  <a:srgbClr val="E5E9EE"/>
                </a:solidFill>
                <a:latin typeface="Consolas"/>
                <a:ea typeface="Consolas"/>
              </a:rPr>
              <a:t>3. 차량 경고 이력 — 차량 경고 메시지 발생 이력</a:t>
            </a:r>
          </a:p>
          <a:p>
            <a:r>
              <a:rPr sz="860" b="0">
                <a:solidFill>
                  <a:srgbClr val="9AA5B1"/>
                </a:solidFill>
                <a:latin typeface="Consolas"/>
                <a:ea typeface="Consolas"/>
              </a:rPr>
              <a:t>   … (후보 6개)</a:t>
            </a:r>
          </a:p>
          <a:p>
            <a:r>
              <a:rPr sz="860" b="0">
                <a:solidFill>
                  <a:srgbClr val="E5E9EE"/>
                </a:solidFill>
                <a:latin typeface="Consolas"/>
                <a:ea typeface="Consolas"/>
              </a:rPr>
              <a:t/>
            </a:r>
          </a:p>
          <a:p>
            <a:r>
              <a:rPr sz="860" b="0">
                <a:solidFill>
                  <a:srgbClr val="9AA5B1"/>
                </a:solidFill>
                <a:latin typeface="Consolas"/>
                <a:ea typeface="Consolas"/>
              </a:rPr>
              <a:t>질문이 묻는 '무엇'에 맞는 지표를 1~2개 고르고 이유를 쓰십시오. 정렬·기간·개수는</a:t>
            </a:r>
          </a:p>
          <a:p>
            <a:r>
              <a:rPr sz="860" b="0">
                <a:solidFill>
                  <a:srgbClr val="9AA5B1"/>
                </a:solidFill>
                <a:latin typeface="Consolas"/>
                <a:ea typeface="Consolas"/>
              </a:rPr>
              <a:t>다음 단계에서 정하니 무시하십시오. 맞는 지표가 없으면 빈 목록을 돌려주십시오.</a:t>
            </a:r>
          </a:p>
          <a:p>
            <a:r>
              <a:rPr sz="860" b="0">
                <a:solidFill>
                  <a:srgbClr val="9BE29B"/>
                </a:solidFill>
                <a:latin typeface="Consolas"/>
                <a:ea typeface="Consolas"/>
              </a:rPr>
              <a:t>→ {"metrics": ["일별 가동시간"], "reason": "운행시간 = 엔진 가동시간"}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3400" y="7289800"/>
            <a:ext cx="3962400" cy="2921000"/>
          </a:xfrm>
          <a:prstGeom prst="rect">
            <a:avLst/>
          </a:prstGeom>
          <a:solidFill>
            <a:srgbClr val="F4F6F8"/>
          </a:solidFill>
          <a:ln w="16510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000" y="7404100"/>
            <a:ext cx="375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37"/>
                </a:solidFill>
                <a:latin typeface="맑은 고딕"/>
                <a:ea typeface="맑은 고딕"/>
              </a:rPr>
              <a:t>설계 원칙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700" y="7721600"/>
            <a:ext cx="3733800" cy="241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1">
                <a:solidFill>
                  <a:srgbClr val="1F2A37"/>
                </a:solidFill>
                <a:latin typeface="맑은 고딕"/>
                <a:ea typeface="맑은 고딕"/>
              </a:rPr>
              <a:t>· 넓게 고르고 점점 좁힌다</a:t>
            </a:r>
          </a:p>
          <a:p>
            <a:r>
              <a:rPr sz="930" b="0">
                <a:solidFill>
                  <a:srgbClr val="526477"/>
                </a:solidFill>
                <a:latin typeface="맑은 고딕"/>
                <a:ea typeface="맑은 고딕"/>
              </a:rPr>
              <a:t>  시스템 → 테이블 → 지표. 앞 단계는 놓치지 않기(재현율), 뒤 단계는 정확히</a:t>
            </a:r>
          </a:p>
          <a:p>
            <a:r>
              <a:rPr sz="93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30" b="1">
                <a:solidFill>
                  <a:srgbClr val="1F2A37"/>
                </a:solidFill>
                <a:latin typeface="맑은 고딕"/>
                <a:ea typeface="맑은 고딕"/>
              </a:rPr>
              <a:t>· 구조로 알 수 있는 것은 LLM 에 묻지 않는다</a:t>
            </a:r>
          </a:p>
          <a:p>
            <a:r>
              <a:rPr sz="930" b="0">
                <a:solidFill>
                  <a:srgbClr val="526477"/>
                </a:solidFill>
                <a:latin typeface="맑은 고딕"/>
                <a:ea typeface="맑은 고딕"/>
              </a:rPr>
              <a:t>  테이블 → 지표는 metric_table 조회 (검색 아님)</a:t>
            </a:r>
          </a:p>
          <a:p>
            <a:r>
              <a:rPr sz="93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30" b="1">
                <a:solidFill>
                  <a:srgbClr val="1F2A37"/>
                </a:solidFill>
                <a:latin typeface="맑은 고딕"/>
                <a:ea typeface="맑은 고딕"/>
              </a:rPr>
              <a:t>· 판단할 때 필요한 것만 보낸다</a:t>
            </a:r>
          </a:p>
          <a:p>
            <a:r>
              <a:rPr sz="930" b="0">
                <a:solidFill>
                  <a:srgbClr val="526477"/>
                </a:solidFill>
                <a:latin typeface="맑은 고딕"/>
                <a:ea typeface="맑은 고딕"/>
              </a:rPr>
              <a:t>  고를 때는 요약, SQL 을 만들 때만 상세</a:t>
            </a:r>
          </a:p>
          <a:p>
            <a:r>
              <a:rPr sz="93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30" b="1">
                <a:solidFill>
                  <a:srgbClr val="1F2A37"/>
                </a:solidFill>
                <a:latin typeface="맑은 고딕"/>
                <a:ea typeface="맑은 고딕"/>
              </a:rPr>
              <a:t>· 애매하면 되묻는다</a:t>
            </a:r>
          </a:p>
          <a:p>
            <a:r>
              <a:rPr sz="930" b="0">
                <a:solidFill>
                  <a:srgbClr val="526477"/>
                </a:solidFill>
                <a:latin typeface="맑은 고딕"/>
                <a:ea typeface="맑은 고딕"/>
              </a:rPr>
              <a:t>  후보 2~3개를 선택지로 — 틀린 SQL 보다 낫다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99000" y="7289800"/>
            <a:ext cx="3962400" cy="2921000"/>
          </a:xfrm>
          <a:prstGeom prst="rect">
            <a:avLst/>
          </a:prstGeom>
          <a:solidFill>
            <a:srgbClr val="F4F6F8"/>
          </a:solidFill>
          <a:ln w="16510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00600" y="7404100"/>
            <a:ext cx="375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37"/>
                </a:solidFill>
                <a:latin typeface="맑은 고딕"/>
                <a:ea typeface="맑은 고딕"/>
              </a:rPr>
              <a:t>검증 — 단계별로 잰다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13300" y="7721600"/>
            <a:ext cx="3733800" cy="241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1">
                <a:solidFill>
                  <a:srgbClr val="1F2A37"/>
                </a:solidFill>
                <a:latin typeface="맑은 고딕"/>
                <a:ea typeface="맑은 고딕"/>
              </a:rPr>
              <a:t>평가셋</a:t>
            </a:r>
          </a:p>
          <a:p>
            <a:r>
              <a:rPr sz="930" b="0">
                <a:solidFill>
                  <a:srgbClr val="526477"/>
                </a:solidFill>
                <a:latin typeface="맑은 고딕"/>
                <a:ea typeface="맑은 고딕"/>
              </a:rPr>
              <a:t>  질문 기록에서 '맞음' 표시한 것을 파일로 내보내 쌓는다</a:t>
            </a:r>
          </a:p>
          <a:p>
            <a:r>
              <a:rPr sz="930" b="0">
                <a:solidFill>
                  <a:srgbClr val="526477"/>
                </a:solidFill>
                <a:latin typeface="맑은 고딕"/>
                <a:ea typeface="맑은 고딕"/>
              </a:rPr>
              <a:t>  evaluate.py 로 명령줄에서 실행 (화면 없음)</a:t>
            </a:r>
          </a:p>
          <a:p>
            <a:r>
              <a:rPr sz="93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30" b="1">
                <a:solidFill>
                  <a:srgbClr val="1F2A37"/>
                </a:solidFill>
                <a:latin typeface="맑은 고딕"/>
                <a:ea typeface="맑은 고딕"/>
              </a:rPr>
              <a:t>단계별 지표</a:t>
            </a:r>
          </a:p>
          <a:p>
            <a:r>
              <a:rPr sz="930" b="0">
                <a:solidFill>
                  <a:srgbClr val="526477"/>
                </a:solidFill>
                <a:latin typeface="맑은 고딕"/>
                <a:ea typeface="맑은 고딕"/>
              </a:rPr>
              <a:t>  ② 테이블 재현율 (정답 테이블이 후보에 들었나)</a:t>
            </a:r>
          </a:p>
          <a:p>
            <a:r>
              <a:rPr sz="930" b="0">
                <a:solidFill>
                  <a:srgbClr val="526477"/>
                </a:solidFill>
                <a:latin typeface="맑은 고딕"/>
                <a:ea typeface="맑은 고딕"/>
              </a:rPr>
              <a:t>  ④ 지표 정확도 · ⑤ SQL 일치율</a:t>
            </a:r>
          </a:p>
          <a:p>
            <a:r>
              <a:rPr sz="93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30" b="1">
                <a:solidFill>
                  <a:srgbClr val="1F2A37"/>
                </a:solidFill>
                <a:latin typeface="맑은 고딕"/>
                <a:ea typeface="맑은 고딕"/>
              </a:rPr>
              <a:t>출발 기준</a:t>
            </a:r>
          </a:p>
          <a:p>
            <a:r>
              <a:rPr sz="930" b="0">
                <a:solidFill>
                  <a:srgbClr val="526477"/>
                </a:solidFill>
                <a:latin typeface="맑은 고딕"/>
                <a:ea typeface="맑은 고딕"/>
              </a:rPr>
              <a:t>  같은 평가셋으로 RAG 방식(지표 전체 검색)을 먼저 잰다</a:t>
            </a:r>
          </a:p>
          <a:p>
            <a:r>
              <a:rPr sz="930" b="0">
                <a:solidFill>
                  <a:srgbClr val="526477"/>
                </a:solidFill>
                <a:latin typeface="맑은 고딕"/>
                <a:ea typeface="맑은 고딕"/>
              </a:rPr>
              <a:t>  → 파일럿 시스템 하나로 숫자를 낸 뒤 확장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3400" y="10439400"/>
            <a:ext cx="8128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8A96A3"/>
                </a:solidFill>
                <a:latin typeface="맑은 고딕"/>
                <a:ea typeface="맑은 고딕"/>
              </a:rPr>
              <a:t>응답 시간: ② → ④ → ⑤ 세 번의 LLM 호출이 차례로 일어난다. 단계별 시간(ask_trace.elapsed_ms)을 재서 목표를 정한다.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