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6012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5500" y="571500"/>
            <a:ext cx="8280400" cy="5080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① 시스템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168400"/>
            <a:ext cx="8280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</a:rPr>
              <a:t>메타데이터 DB에 행 하나를 쓰는 작업 — 대상 DB에는 접속하지 않습니다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83600" y="660400"/>
            <a:ext cx="5334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TO-BE</a:t>
            </a:r>
          </a:p>
        </p:txBody>
      </p:sp>
      <p:sp>
        <p:nvSpPr>
          <p:cNvPr id="5" name="Oval 4"/>
          <p:cNvSpPr/>
          <p:nvPr/>
        </p:nvSpPr>
        <p:spPr>
          <a:xfrm>
            <a:off x="825500" y="1778000"/>
            <a:ext cx="4572000" cy="4318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시작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11500" y="22098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825500" y="2463800"/>
            <a:ext cx="4572000" cy="8382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접속 정보 입력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시스템 코드 · 이름 · 업무 영역 설명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드라이버 · 호스트 · 포트 · DB명 · 스키마 · 계정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8400" y="24511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11500" y="33020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arallelogram 9"/>
          <p:cNvSpPr/>
          <p:nvPr/>
        </p:nvSpPr>
        <p:spPr>
          <a:xfrm>
            <a:off x="825500" y="3556000"/>
            <a:ext cx="4572000" cy="5080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POST /api/systems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1500" y="40640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825500" y="4318000"/>
            <a:ext cx="4572000" cy="12192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입력 검증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필수값 · 타입 · 포트 범위 · 드라이버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5994400" y="4292600"/>
            <a:ext cx="3111500" cy="12700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422 Unprocessable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name·code 공백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host / db_name 누락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port 가 1~65535 밖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driver 가 셋 중 하나가 아님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7500" y="49276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22900" y="47371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실패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1500" y="55372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92300" y="55943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통과</a:t>
            </a:r>
          </a:p>
        </p:txBody>
      </p:sp>
      <p:sp>
        <p:nvSpPr>
          <p:cNvPr id="18" name="Diamond 17"/>
          <p:cNvSpPr/>
          <p:nvPr/>
        </p:nvSpPr>
        <p:spPr>
          <a:xfrm>
            <a:off x="825500" y="5791200"/>
            <a:ext cx="4572000" cy="11430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코드·이름이 이미 있는가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대소문자 구분 없이 비교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5994400" y="5956300"/>
            <a:ext cx="3111500" cy="8128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409 Conflict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같은 코드 또는 이름의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시스템이 이미 있습니다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7500" y="63627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22900" y="61722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중복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11500" y="69342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92300" y="69913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고유</a:t>
            </a:r>
          </a:p>
        </p:txBody>
      </p:sp>
      <p:sp>
        <p:nvSpPr>
          <p:cNvPr id="24" name="Parallelogram 23"/>
          <p:cNvSpPr/>
          <p:nvPr/>
        </p:nvSpPr>
        <p:spPr>
          <a:xfrm>
            <a:off x="825500" y="7188200"/>
            <a:ext cx="4572000" cy="8382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암호화 후 INSERT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비밀번호는 AES-256-GCM 암호문(password_enc)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키는 환경변수 · API 응답에 나가지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8400" y="71755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11500" y="80264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arallelogram 26"/>
          <p:cNvSpPr/>
          <p:nvPr/>
        </p:nvSpPr>
        <p:spPr>
          <a:xfrm>
            <a:off x="825500" y="8280400"/>
            <a:ext cx="4572000" cy="6350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201 Created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synced_at = NULL — 스키마 미수집 상태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11500" y="89154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25500" y="9169400"/>
            <a:ext cx="4572000" cy="4318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종료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5500" y="11341100"/>
            <a:ext cx="8280400" cy="63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11442700"/>
            <a:ext cx="7899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</a:rPr>
              <a:t>업무 영역 설명(domain_desc)은 20개 시스템만이라 사람이 쓴다. 테이블 추론 프롬프트 첫머리에 쓰인다. 호스트·계정 오류는 이 단계에서 드러나지 않는다 — 실제 접속은 동기화에서 처음 일어난다.</a:t>
            </a:r>
          </a:p>
        </p:txBody>
      </p:sp>
      <p:sp>
        <p:nvSpPr>
          <p:cNvPr id="32" name="Oval 31"/>
          <p:cNvSpPr/>
          <p:nvPr/>
        </p:nvSpPr>
        <p:spPr>
          <a:xfrm>
            <a:off x="825500" y="12179300"/>
            <a:ext cx="241300" cy="177800"/>
          </a:xfrm>
          <a:prstGeom prst="ellipse">
            <a:avLst/>
          </a:prstGeom>
          <a:solidFill>
            <a:srgbClr val="E0E7FF"/>
          </a:solidFill>
          <a:ln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76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시작 · 종료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7100" y="12179300"/>
            <a:ext cx="241300" cy="177800"/>
          </a:xfrm>
          <a:prstGeom prst="rect">
            <a:avLst/>
          </a:prstGeom>
          <a:solidFill>
            <a:srgbClr val="EFF6FF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92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36" name="Diamond 35"/>
          <p:cNvSpPr/>
          <p:nvPr/>
        </p:nvSpPr>
        <p:spPr>
          <a:xfrm>
            <a:off x="3568700" y="12179300"/>
            <a:ext cx="241300" cy="177800"/>
          </a:xfrm>
          <a:prstGeom prst="diamond">
            <a:avLst/>
          </a:prstGeom>
          <a:solidFill>
            <a:srgbClr val="FFFBEB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08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38" name="Parallelogram 37"/>
          <p:cNvSpPr/>
          <p:nvPr/>
        </p:nvSpPr>
        <p:spPr>
          <a:xfrm>
            <a:off x="4940300" y="12179300"/>
            <a:ext cx="241300" cy="177800"/>
          </a:xfrm>
          <a:prstGeom prst="parallelogram">
            <a:avLst/>
          </a:prstGeom>
          <a:solidFill>
            <a:srgbClr val="ECFDF5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24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데이터 · 입출력</a:t>
            </a:r>
          </a:p>
        </p:txBody>
      </p:sp>
      <p:sp>
        <p:nvSpPr>
          <p:cNvPr id="40" name="Parallelogram 39"/>
          <p:cNvSpPr/>
          <p:nvPr/>
        </p:nvSpPr>
        <p:spPr>
          <a:xfrm>
            <a:off x="6311900" y="12179300"/>
            <a:ext cx="241300" cy="177800"/>
          </a:xfrm>
          <a:prstGeom prst="parallelogram">
            <a:avLst/>
          </a:prstGeom>
          <a:solidFill>
            <a:srgbClr val="FEF2F2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40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실패 응답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85100" y="121793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10600" y="121793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3500" y="12420600"/>
            <a:ext cx="1422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TO-BE 에서 바뀐 단계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5500" y="571500"/>
            <a:ext cx="8280400" cy="5080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② 스키마 동기화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168400"/>
            <a:ext cx="8280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</a:rPr>
              <a:t>대상 DB에 접속하는 유일한 지점. 전량 교체가 아니라 이름 기준 병합 — 지표 연결이 끊기지 않게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83600" y="660400"/>
            <a:ext cx="5334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TO-BE</a:t>
            </a:r>
          </a:p>
        </p:txBody>
      </p:sp>
      <p:sp>
        <p:nvSpPr>
          <p:cNvPr id="5" name="Oval 4"/>
          <p:cNvSpPr/>
          <p:nvPr/>
        </p:nvSpPr>
        <p:spPr>
          <a:xfrm>
            <a:off x="825500" y="1778000"/>
            <a:ext cx="4572000" cy="4064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시작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11500" y="21844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825500" y="2489200"/>
            <a:ext cx="4572000" cy="6350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동기화 요청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POST /api/systems/{id}/sync — 수동 또는 주기 실행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1500" y="31242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825500" y="3429000"/>
            <a:ext cx="4572000" cy="9906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대상 DB 접속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CONNECT_TIMEOUT = 10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994400" y="3543300"/>
            <a:ext cx="3111500" cy="7620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502 Bad Gateway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드라이버 메시지 첫 줄을 전달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(대상 DB 문제라는 표시)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7500" y="39243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22900" y="37338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실패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11500" y="44196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2300" y="45021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성공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500" y="4724400"/>
            <a:ext cx="4572000" cy="6350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카탈로그 읽기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테이블 · 컬럼 · 코멘트 · FK (MySQL / PostgreSQL / Oracle 기존 로직)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1500" y="53594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5500" y="5664200"/>
            <a:ext cx="4572000" cy="7874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이름 기준 병합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새 테이블 INSERT · 있는 테이블 UPDATE (id 유지)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사라진 테이블·컬럼은 deleted_at 표시 (지우지 않음)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8400" y="56515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11500" y="64516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25500" y="6756400"/>
            <a:ext cx="4572000" cy="7620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영향받는 지표 표시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사라진 테이블·컬럼을 쓰는 지표 → status = broken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broken_reason 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67437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11500" y="75184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arallelogram 22"/>
          <p:cNvSpPr/>
          <p:nvPr/>
        </p:nvSpPr>
        <p:spPr>
          <a:xfrm>
            <a:off x="825500" y="7823200"/>
            <a:ext cx="4572000" cy="6350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동기화 완료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meta_sync_log: 추가 · 변경 · 삭제 건수, 깨진 지표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11500" y="8458200"/>
            <a:ext cx="0" cy="3048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5500" y="8763000"/>
            <a:ext cx="4572000" cy="4064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종료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5500" y="11341100"/>
            <a:ext cx="8280400" cy="63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000" y="11442700"/>
            <a:ext cx="7899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</a:rPr>
              <a:t>AS-IS 는 DELETE 후 INSERT 라 테이블 id 가 매번 바뀌었다. 지표-테이블 연결(metric_table)이 id 로 테이블을 가리키므로 TO-BE 는 id 를 유지한다. 전체를 한 트랜잭션으로 처리해 질문 도중 반쯤 바뀐 스키마를 보지 않게 한다.</a:t>
            </a:r>
          </a:p>
        </p:txBody>
      </p:sp>
      <p:sp>
        <p:nvSpPr>
          <p:cNvPr id="28" name="Oval 27"/>
          <p:cNvSpPr/>
          <p:nvPr/>
        </p:nvSpPr>
        <p:spPr>
          <a:xfrm>
            <a:off x="825500" y="12179300"/>
            <a:ext cx="241300" cy="177800"/>
          </a:xfrm>
          <a:prstGeom prst="ellipse">
            <a:avLst/>
          </a:prstGeom>
          <a:solidFill>
            <a:srgbClr val="E0E7FF"/>
          </a:solidFill>
          <a:ln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76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시작 · 종료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7100" y="12179300"/>
            <a:ext cx="241300" cy="177800"/>
          </a:xfrm>
          <a:prstGeom prst="rect">
            <a:avLst/>
          </a:prstGeom>
          <a:solidFill>
            <a:srgbClr val="EFF6FF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892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32" name="Diamond 31"/>
          <p:cNvSpPr/>
          <p:nvPr/>
        </p:nvSpPr>
        <p:spPr>
          <a:xfrm>
            <a:off x="3568700" y="12179300"/>
            <a:ext cx="241300" cy="177800"/>
          </a:xfrm>
          <a:prstGeom prst="diamond">
            <a:avLst/>
          </a:prstGeom>
          <a:solidFill>
            <a:srgbClr val="FFFBEB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608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34" name="Parallelogram 33"/>
          <p:cNvSpPr/>
          <p:nvPr/>
        </p:nvSpPr>
        <p:spPr>
          <a:xfrm>
            <a:off x="4940300" y="12179300"/>
            <a:ext cx="241300" cy="177800"/>
          </a:xfrm>
          <a:prstGeom prst="parallelogram">
            <a:avLst/>
          </a:prstGeom>
          <a:solidFill>
            <a:srgbClr val="ECFDF5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24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데이터 · 입출력</a:t>
            </a:r>
          </a:p>
        </p:txBody>
      </p:sp>
      <p:sp>
        <p:nvSpPr>
          <p:cNvPr id="36" name="Parallelogram 35"/>
          <p:cNvSpPr/>
          <p:nvPr/>
        </p:nvSpPr>
        <p:spPr>
          <a:xfrm>
            <a:off x="6311900" y="12179300"/>
            <a:ext cx="241300" cy="177800"/>
          </a:xfrm>
          <a:prstGeom prst="parallelogram">
            <a:avLst/>
          </a:prstGeom>
          <a:solidFill>
            <a:srgbClr val="FEF2F2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40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실패 응답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85100" y="121793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10600" y="121793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3500" y="12420600"/>
            <a:ext cx="1422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TO-BE 에서 바뀐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5500" y="571500"/>
            <a:ext cx="8280400" cy="5080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③ 지표 정의 (Metric Definition)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168400"/>
            <a:ext cx="8280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</a:rPr>
              <a:t>스키마에서 뽑을 수 없는 업무 개념을 사람이 선언 — 정의 방식은 AS-IS 와 같고, 테이블 연결이 더해진다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83600" y="660400"/>
            <a:ext cx="5334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TO-BE</a:t>
            </a:r>
          </a:p>
        </p:txBody>
      </p:sp>
      <p:sp>
        <p:nvSpPr>
          <p:cNvPr id="5" name="Oval 4"/>
          <p:cNvSpPr/>
          <p:nvPr/>
        </p:nvSpPr>
        <p:spPr>
          <a:xfrm>
            <a:off x="825500" y="1778000"/>
            <a:ext cx="4572000" cy="4064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시작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11500" y="21844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825500" y="2438400"/>
            <a:ext cx="4572000" cy="7874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지표 추가 · 수정 요청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화면 등록 · 이름 · 설명 · 종류 · 기본 테이블 · 조인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집계 / 조회 컬럼 / 수식 · 고정 필터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1500" y="32258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825500" y="3479800"/>
            <a:ext cx="4572000" cy="10160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종류에 맞는 정의인가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aggregate · projection · derived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994400" y="3517900"/>
            <a:ext cx="3111500" cy="9398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422 — 모양 불일치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집계 컬럼·함수 없음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조회 컬럼이 빔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수식의 지표가 없음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7500" y="39878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22900" y="37973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불일치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11500" y="44958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2300" y="45529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일치</a:t>
            </a:r>
          </a:p>
        </p:txBody>
      </p:sp>
      <p:sp>
        <p:nvSpPr>
          <p:cNvPr id="15" name="Diamond 14"/>
          <p:cNvSpPr/>
          <p:nvPr/>
        </p:nvSpPr>
        <p:spPr>
          <a:xfrm>
            <a:off x="825500" y="4749800"/>
            <a:ext cx="4572000" cy="10160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필터 값 형식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literal · relative · question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5994400" y="4864100"/>
            <a:ext cx="3111500" cy="7874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400 — 값 형식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날짜가 YYYY-MM-DD 가 아님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· relative 가 -7d 형식이 아님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7500" y="52578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22900" y="50673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오류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11500" y="57658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92300" y="58229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통과</a:t>
            </a:r>
          </a:p>
        </p:txBody>
      </p:sp>
      <p:sp>
        <p:nvSpPr>
          <p:cNvPr id="21" name="Diamond 20"/>
          <p:cNvSpPr/>
          <p:nvPr/>
        </p:nvSpPr>
        <p:spPr>
          <a:xfrm>
            <a:off x="825500" y="6019800"/>
            <a:ext cx="4572000" cy="10668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스키마에 실재하는가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테이블 · 컬럼 · 필터 컬럼 (삭제 표시 제외)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5994400" y="6210300"/>
            <a:ext cx="3111500" cy="6858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400 — 스키마에 없음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테이블·컬럼을 찾을 수 없습니다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97500" y="65532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22900" y="63627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없음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11500" y="70866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92300" y="71437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825500" y="7340600"/>
            <a:ext cx="4572000" cy="6350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저장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metric (status = active) · metric_history (create · update)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11500" y="79756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5500" y="8229600"/>
            <a:ext cx="4572000" cy="7874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테이블 연결 갱신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기본 테이블 → base · 조인 테이블 → join · 파생 지표는 구성 지표의 테이블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metric_table (origin = definition) 을 정의에서 다시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65700" y="82169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11500" y="9017000"/>
            <a:ext cx="0" cy="2540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5500" y="9271000"/>
            <a:ext cx="4572000" cy="4064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종료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500" y="11341100"/>
            <a:ext cx="8280400" cy="63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000" y="11442700"/>
            <a:ext cx="7899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</a:rPr>
              <a:t>지표는 저장하면 바로 active 가 되어 질문에 쓰인다 (스키마와 어긋나면 broken). 지표 선택은 이름 · 설명 · 같은 말만 보므로 설명을 실제 뜻대로 쓴다. metric_table 은 사람이 손으로 잇지 않는다 — 정의에서 자동으로 만들어 ④ 의 '테이블 → 지표' 조회가 정의와 어긋나지 않게 한다.</a:t>
            </a:r>
          </a:p>
        </p:txBody>
      </p:sp>
      <p:sp>
        <p:nvSpPr>
          <p:cNvPr id="35" name="Oval 34"/>
          <p:cNvSpPr/>
          <p:nvPr/>
        </p:nvSpPr>
        <p:spPr>
          <a:xfrm>
            <a:off x="825500" y="12179300"/>
            <a:ext cx="241300" cy="177800"/>
          </a:xfrm>
          <a:prstGeom prst="ellipse">
            <a:avLst/>
          </a:prstGeom>
          <a:solidFill>
            <a:srgbClr val="E0E7FF"/>
          </a:solidFill>
          <a:ln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76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시작 · 종료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7100" y="12179300"/>
            <a:ext cx="241300" cy="177800"/>
          </a:xfrm>
          <a:prstGeom prst="rect">
            <a:avLst/>
          </a:prstGeom>
          <a:solidFill>
            <a:srgbClr val="EFF6FF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892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39" name="Diamond 38"/>
          <p:cNvSpPr/>
          <p:nvPr/>
        </p:nvSpPr>
        <p:spPr>
          <a:xfrm>
            <a:off x="3568700" y="12179300"/>
            <a:ext cx="241300" cy="177800"/>
          </a:xfrm>
          <a:prstGeom prst="diamond">
            <a:avLst/>
          </a:prstGeom>
          <a:solidFill>
            <a:srgbClr val="FFFBEB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608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41" name="Parallelogram 40"/>
          <p:cNvSpPr/>
          <p:nvPr/>
        </p:nvSpPr>
        <p:spPr>
          <a:xfrm>
            <a:off x="4940300" y="12179300"/>
            <a:ext cx="241300" cy="177800"/>
          </a:xfrm>
          <a:prstGeom prst="parallelogram">
            <a:avLst/>
          </a:prstGeom>
          <a:solidFill>
            <a:srgbClr val="ECFDF5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24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데이터 · 입출력</a:t>
            </a:r>
          </a:p>
        </p:txBody>
      </p:sp>
      <p:sp>
        <p:nvSpPr>
          <p:cNvPr id="43" name="Parallelogram 42"/>
          <p:cNvSpPr/>
          <p:nvPr/>
        </p:nvSpPr>
        <p:spPr>
          <a:xfrm>
            <a:off x="6311900" y="12179300"/>
            <a:ext cx="241300" cy="177800"/>
          </a:xfrm>
          <a:prstGeom prst="parallelogram">
            <a:avLst/>
          </a:prstGeom>
          <a:solidFill>
            <a:srgbClr val="FEF2F2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40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실패 응답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85100" y="121793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10600" y="121793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3500" y="12420600"/>
            <a:ext cx="1422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TO-BE 에서 바뀐 단계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5500" y="571500"/>
            <a:ext cx="8280400" cy="5080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④ 질의 생성 (Query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168400"/>
            <a:ext cx="8280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</a:rPr>
              <a:t>넓게 고르고 점점 좁힌다 — 단계마다 LLM 에는 그 판단에 필요한 정보만 (컨텍스트 16K)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83600" y="660400"/>
            <a:ext cx="5334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TO-BE</a:t>
            </a:r>
          </a:p>
        </p:txBody>
      </p:sp>
      <p:sp>
        <p:nvSpPr>
          <p:cNvPr id="5" name="Oval 4"/>
          <p:cNvSpPr/>
          <p:nvPr/>
        </p:nvSpPr>
        <p:spPr>
          <a:xfrm>
            <a:off x="825500" y="1676400"/>
            <a:ext cx="4572000" cy="3556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시작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11500" y="20320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825500" y="2260600"/>
            <a:ext cx="4572000" cy="5842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시스템 선택 + 자연어 질문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이전 질문은 전달되지 않음 — 매 요청 독립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1500" y="28448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5500" y="3073400"/>
            <a:ext cx="4572000" cy="7366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테이블 추론 (LLM)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업무 영역 설명 + 테이블마다 용도(없으면 코멘트) 한 줄을 보고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3~5개와 이유 — 놓치지 않기 우선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5700" y="30607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9100" y="3060700"/>
            <a:ext cx="355600" cy="177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11500" y="38100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825500" y="4038600"/>
            <a:ext cx="4572000" cy="7874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후보 테이블이 있나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5994400" y="4140200"/>
            <a:ext cx="3111500" cy="5842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되묻기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업무 영역 안내 + 질문 다시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7500" y="44323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22900" y="42418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없음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11500" y="48260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92300" y="48704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825500" y="5054600"/>
            <a:ext cx="4572000" cy="6604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지표 후보 조회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metric_table 로 조회 (검색 아님)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조인 지표 포함 · active 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5700" y="50419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11500" y="57150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5500" y="5943600"/>
            <a:ext cx="4572000" cy="7112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지표 선택 (LLM)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후보 지표의 이름 · 설명 · 같은 말만 보고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1~2개 또는 '없음'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5700" y="59309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9100" y="5930900"/>
            <a:ext cx="355600" cy="177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11500" y="66548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825500" y="6883400"/>
            <a:ext cx="4572000" cy="7874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고를 수 있나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5994400" y="6985000"/>
            <a:ext cx="3111500" cy="584200"/>
          </a:xfrm>
          <a:prstGeom prst="parallelogram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되묻기</a:t>
            </a:r>
          </a:p>
          <a:p>
            <a:pPr algn="ctr"/>
            <a:r>
              <a:rPr sz="950" b="0">
                <a:solidFill>
                  <a:srgbClr val="7F1D1D"/>
                </a:solidFill>
                <a:latin typeface="맑은 고딕"/>
                <a:ea typeface="맑은 고딕"/>
              </a:rPr>
              <a:t>후보 지표 2~3개를 선택지로 제시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7500" y="7277100"/>
            <a:ext cx="7747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22900" y="70866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애매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11500" y="76708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92300" y="77152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확정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500" y="7899400"/>
            <a:ext cx="4572000" cy="73660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조회 명세 생성 (LLM)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지표 있음: 고른 지표의 정의 + 필요한 컬럼 + AST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지표 없음: 고른 테이블의 필요한 컬럼만 + 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78400" y="78867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29100" y="7886700"/>
            <a:ext cx="355600" cy="177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11500" y="86360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825500" y="8864600"/>
            <a:ext cx="4572000" cy="889000"/>
          </a:xfrm>
          <a:prstGeom prst="diamond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컴파일 &amp; 검증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화이트리스트 · 지표 전개 · 날짜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94400" y="8978900"/>
            <a:ext cx="3111500" cy="66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050" b="1">
                <a:solidFill>
                  <a:srgbClr val="1E293B"/>
                </a:solidFill>
                <a:latin typeface="맑은 고딕"/>
                <a:ea typeface="맑은 고딕"/>
              </a:rPr>
              <a:t>재시도 (최대 4회)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오류 메시지가 다음 시도의 프롬프트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(기존 유지)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7500" y="9309100"/>
            <a:ext cx="5969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22900" y="9118600"/>
            <a:ext cx="546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실패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11500" y="97536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892300" y="9798050"/>
            <a:ext cx="1143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성공</a:t>
            </a:r>
          </a:p>
        </p:txBody>
      </p:sp>
      <p:sp>
        <p:nvSpPr>
          <p:cNvPr id="42" name="Parallelogram 41"/>
          <p:cNvSpPr/>
          <p:nvPr/>
        </p:nvSpPr>
        <p:spPr>
          <a:xfrm>
            <a:off x="825500" y="9982200"/>
            <a:ext cx="4572000" cy="584200"/>
          </a:xfrm>
          <a:prstGeom prst="parallelogram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SQL 반환 + 단계 기록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맑은 고딕"/>
                <a:ea typeface="맑은 고딕"/>
              </a:rPr>
              <a:t>ask_log · ask_trace (단계별 후보·선택·이유·토큰)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5700" y="99695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11500" y="10566400"/>
            <a:ext cx="0" cy="2286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25500" y="10795000"/>
            <a:ext cx="4572000" cy="3556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  <a:r>
              <a:rPr sz="1250" b="1">
                <a:solidFill>
                  <a:srgbClr val="1E293B"/>
                </a:solidFill>
                <a:latin typeface="맑은 고딕"/>
                <a:ea typeface="맑은 고딕"/>
              </a:rPr>
              <a:t>종료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444500" y="9309100"/>
            <a:ext cx="381000" cy="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4500" y="8267700"/>
            <a:ext cx="0" cy="104140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44500" y="8267700"/>
            <a:ext cx="381000" cy="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 rot="16200000">
            <a:off x="-342900" y="8699500"/>
            <a:ext cx="1371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맑은 고딕"/>
                <a:ea typeface="맑은 고딕"/>
              </a:rPr>
              <a:t>수정 후 재시도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5500" y="11493500"/>
            <a:ext cx="8280400" cy="533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000" y="11595100"/>
            <a:ext cx="78994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</a:rPr>
              <a:t>AS-IS 와 RAG 방식은 지표 전체를 한 번에 검색(TF-IDF·임베딩)한다. TO-BE 는 시스템 → 테이블 → 지표 순으로 범위를 좁히고, 각 단계의 판단을 LLM 이 한다. ② 테이블 추론에서 놓친 테이블은 뒤에서 되살릴 수 없으므로 넉넉히 고른다.</a:t>
            </a:r>
          </a:p>
        </p:txBody>
      </p:sp>
      <p:sp>
        <p:nvSpPr>
          <p:cNvPr id="52" name="Oval 51"/>
          <p:cNvSpPr/>
          <p:nvPr/>
        </p:nvSpPr>
        <p:spPr>
          <a:xfrm>
            <a:off x="825500" y="12179300"/>
            <a:ext cx="241300" cy="177800"/>
          </a:xfrm>
          <a:prstGeom prst="ellipse">
            <a:avLst/>
          </a:prstGeom>
          <a:solidFill>
            <a:srgbClr val="E0E7FF"/>
          </a:solidFill>
          <a:ln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76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시작 · 종료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97100" y="12179300"/>
            <a:ext cx="241300" cy="177800"/>
          </a:xfrm>
          <a:prstGeom prst="rect">
            <a:avLst/>
          </a:prstGeom>
          <a:solidFill>
            <a:srgbClr val="EFF6FF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92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56" name="Diamond 55"/>
          <p:cNvSpPr/>
          <p:nvPr/>
        </p:nvSpPr>
        <p:spPr>
          <a:xfrm>
            <a:off x="3568700" y="12179300"/>
            <a:ext cx="241300" cy="177800"/>
          </a:xfrm>
          <a:prstGeom prst="diamond">
            <a:avLst/>
          </a:prstGeom>
          <a:solidFill>
            <a:srgbClr val="FFFBEB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608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58" name="Parallelogram 57"/>
          <p:cNvSpPr/>
          <p:nvPr/>
        </p:nvSpPr>
        <p:spPr>
          <a:xfrm>
            <a:off x="4940300" y="12179300"/>
            <a:ext cx="241300" cy="177800"/>
          </a:xfrm>
          <a:prstGeom prst="parallelogram">
            <a:avLst/>
          </a:prstGeom>
          <a:solidFill>
            <a:srgbClr val="ECFDF5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24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데이터 · 입출력</a:t>
            </a:r>
          </a:p>
        </p:txBody>
      </p:sp>
      <p:sp>
        <p:nvSpPr>
          <p:cNvPr id="60" name="Parallelogram 59"/>
          <p:cNvSpPr/>
          <p:nvPr/>
        </p:nvSpPr>
        <p:spPr>
          <a:xfrm>
            <a:off x="6311900" y="12179300"/>
            <a:ext cx="241300" cy="177800"/>
          </a:xfrm>
          <a:prstGeom prst="parallelogram">
            <a:avLst/>
          </a:prstGeom>
          <a:solidFill>
            <a:srgbClr val="FEF2F2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04000" y="12179300"/>
            <a:ext cx="101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맑은 고딕"/>
                <a:ea typeface="맑은 고딕"/>
              </a:rPr>
              <a:t>실패 응답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85100" y="12179300"/>
            <a:ext cx="355600" cy="1778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10600" y="12179300"/>
            <a:ext cx="342900" cy="1778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3500" y="12420600"/>
            <a:ext cx="1422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  <a:ea typeface="맑은 고딕"/>
              </a:rPr>
              <a:t>TO-BE 에서 바뀐 단계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