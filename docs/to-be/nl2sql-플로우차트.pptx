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601200" cy="12801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5500" y="571500"/>
            <a:ext cx="8280400" cy="508000"/>
          </a:xfrm>
          <a:prstGeom prst="roundRect">
            <a:avLst>
              <a:gd name="adj" fmla="val 1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맑은 고딕"/>
                <a:ea typeface="맑은 고딕"/>
              </a:rPr>
              <a:t>① 시스템 등록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5500" y="1168400"/>
            <a:ext cx="82804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맑은 고딕"/>
                <a:ea typeface="맑은 고딕"/>
              </a:rPr>
              <a:t>메타데이터 DB에 행 하나를 쓰는 작업 — 대상 DB에는 접속하지 않습니다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483600" y="660400"/>
            <a:ext cx="533400" cy="203200"/>
          </a:xfrm>
          <a:prstGeom prst="roundRect">
            <a:avLst/>
          </a:prstGeom>
          <a:solidFill>
            <a:srgbClr val="D96C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TO-BE</a:t>
            </a:r>
          </a:p>
        </p:txBody>
      </p:sp>
      <p:sp>
        <p:nvSpPr>
          <p:cNvPr id="5" name="Oval 4"/>
          <p:cNvSpPr/>
          <p:nvPr/>
        </p:nvSpPr>
        <p:spPr>
          <a:xfrm>
            <a:off x="825500" y="1778000"/>
            <a:ext cx="4572000" cy="431800"/>
          </a:xfrm>
          <a:prstGeom prst="ellipse">
            <a:avLst/>
          </a:prstGeom>
          <a:solidFill>
            <a:srgbClr val="E0E7FF"/>
          </a:solidFill>
          <a:ln w="127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25400" bIns="25400"/>
          <a:lstStyle/>
          <a:p>
            <a:pPr algn="ctr"/>
            <a:r>
              <a:rPr sz="1250" b="1">
                <a:solidFill>
                  <a:srgbClr val="1E293B"/>
                </a:solidFill>
                <a:latin typeface="맑은 고딕"/>
                <a:ea typeface="맑은 고딕"/>
              </a:rPr>
              <a:t>시작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111500" y="2209800"/>
            <a:ext cx="0" cy="254000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Parallelogram 6"/>
          <p:cNvSpPr/>
          <p:nvPr/>
        </p:nvSpPr>
        <p:spPr>
          <a:xfrm>
            <a:off x="825500" y="2463800"/>
            <a:ext cx="4572000" cy="838200"/>
          </a:xfrm>
          <a:prstGeom prst="parallelogram">
            <a:avLst/>
          </a:prstGeom>
          <a:solidFill>
            <a:srgbClr val="ECFDF5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9400" rIns="279400" tIns="25400" bIns="25400"/>
          <a:lstStyle/>
          <a:p>
            <a:pPr algn="ctr"/>
            <a:r>
              <a:rPr sz="1250" b="1">
                <a:solidFill>
                  <a:srgbClr val="1E293B"/>
                </a:solidFill>
                <a:latin typeface="맑은 고딕"/>
                <a:ea typeface="맑은 고딕"/>
              </a:rPr>
              <a:t>접속 정보 입력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맑은 고딕"/>
                <a:ea typeface="맑은 고딕"/>
              </a:rPr>
              <a:t>시스템 코드 · 이름 · 업무 영역 설명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맑은 고딕"/>
                <a:ea typeface="맑은 고딕"/>
              </a:rPr>
              <a:t>드라이버 · 호스트 · 포트 · DB명 · 스키마 · 계정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78400" y="2451100"/>
            <a:ext cx="342900" cy="177800"/>
          </a:xfrm>
          <a:prstGeom prst="round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맑은 고딕"/>
                <a:ea typeface="맑은 고딕"/>
              </a:rPr>
              <a:t>변경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11500" y="3302000"/>
            <a:ext cx="0" cy="254000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Parallelogram 9"/>
          <p:cNvSpPr/>
          <p:nvPr/>
        </p:nvSpPr>
        <p:spPr>
          <a:xfrm>
            <a:off x="825500" y="3556000"/>
            <a:ext cx="4572000" cy="508000"/>
          </a:xfrm>
          <a:prstGeom prst="parallelogram">
            <a:avLst/>
          </a:prstGeom>
          <a:solidFill>
            <a:srgbClr val="ECFDF5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9400" rIns="279400" tIns="25400" bIns="25400"/>
          <a:lstStyle/>
          <a:p>
            <a:pPr algn="ctr"/>
            <a:r>
              <a:rPr sz="1250" b="1">
                <a:solidFill>
                  <a:srgbClr val="1E293B"/>
                </a:solidFill>
                <a:latin typeface="맑은 고딕"/>
                <a:ea typeface="맑은 고딕"/>
              </a:rPr>
              <a:t>POST /api/systems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11500" y="4064000"/>
            <a:ext cx="0" cy="254000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Diamond 11"/>
          <p:cNvSpPr/>
          <p:nvPr/>
        </p:nvSpPr>
        <p:spPr>
          <a:xfrm>
            <a:off x="825500" y="4318000"/>
            <a:ext cx="4572000" cy="1219200"/>
          </a:xfrm>
          <a:prstGeom prst="diamond">
            <a:avLst/>
          </a:prstGeom>
          <a:solidFill>
            <a:srgbClr val="FFFBEB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5400" bIns="25400"/>
          <a:lstStyle/>
          <a:p>
            <a:pPr algn="ctr"/>
            <a:r>
              <a:rPr sz="1250" b="1">
                <a:solidFill>
                  <a:srgbClr val="1E293B"/>
                </a:solidFill>
                <a:latin typeface="맑은 고딕"/>
                <a:ea typeface="맑은 고딕"/>
              </a:rPr>
              <a:t>입력 검증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맑은 고딕"/>
                <a:ea typeface="맑은 고딕"/>
              </a:rPr>
              <a:t>필수값 · 타입 · 포트 범위 · 드라이버</a:t>
            </a:r>
          </a:p>
        </p:txBody>
      </p:sp>
      <p:sp>
        <p:nvSpPr>
          <p:cNvPr id="13" name="Parallelogram 12"/>
          <p:cNvSpPr/>
          <p:nvPr/>
        </p:nvSpPr>
        <p:spPr>
          <a:xfrm>
            <a:off x="5994400" y="4292600"/>
            <a:ext cx="3111500" cy="1270000"/>
          </a:xfrm>
          <a:prstGeom prst="parallelogram">
            <a:avLst/>
          </a:prstGeom>
          <a:solidFill>
            <a:srgbClr val="FEF2F2"/>
          </a:solidFill>
          <a:ln w="1270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9400" rIns="279400" tIns="25400" bIns="25400"/>
          <a:lstStyle/>
          <a:p>
            <a:pPr algn="ctr"/>
            <a:r>
              <a:rPr sz="1250" b="1">
                <a:solidFill>
                  <a:srgbClr val="1E293B"/>
                </a:solidFill>
                <a:latin typeface="맑은 고딕"/>
                <a:ea typeface="맑은 고딕"/>
              </a:rPr>
              <a:t>422 Unprocessable</a:t>
            </a:r>
          </a:p>
          <a:p>
            <a:pPr algn="ctr"/>
            <a:r>
              <a:rPr sz="950" b="0">
                <a:solidFill>
                  <a:srgbClr val="7F1D1D"/>
                </a:solidFill>
                <a:latin typeface="맑은 고딕"/>
                <a:ea typeface="맑은 고딕"/>
              </a:rPr>
              <a:t>· name·code 공백</a:t>
            </a:r>
          </a:p>
          <a:p>
            <a:pPr algn="ctr"/>
            <a:r>
              <a:rPr sz="950" b="0">
                <a:solidFill>
                  <a:srgbClr val="7F1D1D"/>
                </a:solidFill>
                <a:latin typeface="맑은 고딕"/>
                <a:ea typeface="맑은 고딕"/>
              </a:rPr>
              <a:t>· host / db_name 누락</a:t>
            </a:r>
          </a:p>
          <a:p>
            <a:pPr algn="ctr"/>
            <a:r>
              <a:rPr sz="950" b="0">
                <a:solidFill>
                  <a:srgbClr val="7F1D1D"/>
                </a:solidFill>
                <a:latin typeface="맑은 고딕"/>
                <a:ea typeface="맑은 고딕"/>
              </a:rPr>
              <a:t>· port 가 1~65535 밖</a:t>
            </a:r>
          </a:p>
          <a:p>
            <a:pPr algn="ctr"/>
            <a:r>
              <a:rPr sz="950" b="0">
                <a:solidFill>
                  <a:srgbClr val="7F1D1D"/>
                </a:solidFill>
                <a:latin typeface="맑은 고딕"/>
                <a:ea typeface="맑은 고딕"/>
              </a:rPr>
              <a:t>· driver 가 셋 중 하나가 아님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97500" y="4927600"/>
            <a:ext cx="774700" cy="0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22900" y="4737100"/>
            <a:ext cx="546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94A3B8"/>
                </a:solidFill>
                <a:latin typeface="맑은 고딕"/>
                <a:ea typeface="맑은 고딕"/>
              </a:rPr>
              <a:t>실패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111500" y="5537200"/>
            <a:ext cx="0" cy="254000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892300" y="5594350"/>
            <a:ext cx="1143000" cy="139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맑은 고딕"/>
                <a:ea typeface="맑은 고딕"/>
              </a:rPr>
              <a:t>통과</a:t>
            </a:r>
          </a:p>
        </p:txBody>
      </p:sp>
      <p:sp>
        <p:nvSpPr>
          <p:cNvPr id="18" name="Diamond 17"/>
          <p:cNvSpPr/>
          <p:nvPr/>
        </p:nvSpPr>
        <p:spPr>
          <a:xfrm>
            <a:off x="825500" y="5791200"/>
            <a:ext cx="4572000" cy="1143000"/>
          </a:xfrm>
          <a:prstGeom prst="diamond">
            <a:avLst/>
          </a:prstGeom>
          <a:solidFill>
            <a:srgbClr val="FFFBEB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5400" bIns="25400"/>
          <a:lstStyle/>
          <a:p>
            <a:pPr algn="ctr"/>
            <a:r>
              <a:rPr sz="1250" b="1">
                <a:solidFill>
                  <a:srgbClr val="1E293B"/>
                </a:solidFill>
                <a:latin typeface="맑은 고딕"/>
                <a:ea typeface="맑은 고딕"/>
              </a:rPr>
              <a:t>코드·이름이 이미 있는가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맑은 고딕"/>
                <a:ea typeface="맑은 고딕"/>
              </a:rPr>
              <a:t>대소문자 구분 없이 비교</a:t>
            </a:r>
          </a:p>
        </p:txBody>
      </p:sp>
      <p:sp>
        <p:nvSpPr>
          <p:cNvPr id="19" name="Parallelogram 18"/>
          <p:cNvSpPr/>
          <p:nvPr/>
        </p:nvSpPr>
        <p:spPr>
          <a:xfrm>
            <a:off x="5994400" y="5956300"/>
            <a:ext cx="3111500" cy="812800"/>
          </a:xfrm>
          <a:prstGeom prst="parallelogram">
            <a:avLst/>
          </a:prstGeom>
          <a:solidFill>
            <a:srgbClr val="FEF2F2"/>
          </a:solidFill>
          <a:ln w="1270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9400" rIns="279400" tIns="25400" bIns="25400"/>
          <a:lstStyle/>
          <a:p>
            <a:pPr algn="ctr"/>
            <a:r>
              <a:rPr sz="1250" b="1">
                <a:solidFill>
                  <a:srgbClr val="1E293B"/>
                </a:solidFill>
                <a:latin typeface="맑은 고딕"/>
                <a:ea typeface="맑은 고딕"/>
              </a:rPr>
              <a:t>409 Conflict</a:t>
            </a:r>
          </a:p>
          <a:p>
            <a:pPr algn="ctr"/>
            <a:r>
              <a:rPr sz="950" b="0">
                <a:solidFill>
                  <a:srgbClr val="7F1D1D"/>
                </a:solidFill>
                <a:latin typeface="맑은 고딕"/>
                <a:ea typeface="맑은 고딕"/>
              </a:rPr>
              <a:t>같은 코드 또는 이름의</a:t>
            </a:r>
          </a:p>
          <a:p>
            <a:pPr algn="ctr"/>
            <a:r>
              <a:rPr sz="950" b="0">
                <a:solidFill>
                  <a:srgbClr val="7F1D1D"/>
                </a:solidFill>
                <a:latin typeface="맑은 고딕"/>
                <a:ea typeface="맑은 고딕"/>
              </a:rPr>
              <a:t>시스템이 이미 있습니다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397500" y="6362700"/>
            <a:ext cx="774700" cy="0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422900" y="6172200"/>
            <a:ext cx="546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94A3B8"/>
                </a:solidFill>
                <a:latin typeface="맑은 고딕"/>
                <a:ea typeface="맑은 고딕"/>
              </a:rPr>
              <a:t>중복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111500" y="6934200"/>
            <a:ext cx="0" cy="254000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892300" y="6991350"/>
            <a:ext cx="1143000" cy="139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맑은 고딕"/>
                <a:ea typeface="맑은 고딕"/>
              </a:rPr>
              <a:t>고유</a:t>
            </a:r>
          </a:p>
        </p:txBody>
      </p:sp>
      <p:sp>
        <p:nvSpPr>
          <p:cNvPr id="24" name="Parallelogram 23"/>
          <p:cNvSpPr/>
          <p:nvPr/>
        </p:nvSpPr>
        <p:spPr>
          <a:xfrm>
            <a:off x="825500" y="7188200"/>
            <a:ext cx="4572000" cy="838200"/>
          </a:xfrm>
          <a:prstGeom prst="parallelogram">
            <a:avLst/>
          </a:prstGeom>
          <a:solidFill>
            <a:srgbClr val="ECFDF5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9400" rIns="279400" tIns="25400" bIns="25400"/>
          <a:lstStyle/>
          <a:p>
            <a:pPr algn="ctr"/>
            <a:r>
              <a:rPr sz="1250" b="1">
                <a:solidFill>
                  <a:srgbClr val="1E293B"/>
                </a:solidFill>
                <a:latin typeface="맑은 고딕"/>
                <a:ea typeface="맑은 고딕"/>
              </a:rPr>
              <a:t>암호화 후 INSERT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맑은 고딕"/>
                <a:ea typeface="맑은 고딕"/>
              </a:rPr>
              <a:t>비밀번호는 AES-256-GCM 암호문(password_enc)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맑은 고딕"/>
                <a:ea typeface="맑은 고딕"/>
              </a:rPr>
              <a:t>키는 환경변수 · API 응답에 나가지 않음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78400" y="7175500"/>
            <a:ext cx="342900" cy="177800"/>
          </a:xfrm>
          <a:prstGeom prst="round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맑은 고딕"/>
                <a:ea typeface="맑은 고딕"/>
              </a:rPr>
              <a:t>변경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111500" y="8026400"/>
            <a:ext cx="0" cy="254000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Parallelogram 26"/>
          <p:cNvSpPr/>
          <p:nvPr/>
        </p:nvSpPr>
        <p:spPr>
          <a:xfrm>
            <a:off x="825500" y="8280400"/>
            <a:ext cx="4572000" cy="635000"/>
          </a:xfrm>
          <a:prstGeom prst="parallelogram">
            <a:avLst/>
          </a:prstGeom>
          <a:solidFill>
            <a:srgbClr val="ECFDF5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9400" rIns="279400" tIns="25400" bIns="25400"/>
          <a:lstStyle/>
          <a:p>
            <a:pPr algn="ctr"/>
            <a:r>
              <a:rPr sz="1250" b="1">
                <a:solidFill>
                  <a:srgbClr val="1E293B"/>
                </a:solidFill>
                <a:latin typeface="맑은 고딕"/>
                <a:ea typeface="맑은 고딕"/>
              </a:rPr>
              <a:t>201 Created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맑은 고딕"/>
                <a:ea typeface="맑은 고딕"/>
              </a:rPr>
              <a:t>synced_at = NULL — 스키마 미수집 상태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111500" y="8915400"/>
            <a:ext cx="0" cy="254000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825500" y="9169400"/>
            <a:ext cx="4572000" cy="431800"/>
          </a:xfrm>
          <a:prstGeom prst="ellipse">
            <a:avLst/>
          </a:prstGeom>
          <a:solidFill>
            <a:srgbClr val="E0E7FF"/>
          </a:solidFill>
          <a:ln w="127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25400" bIns="25400"/>
          <a:lstStyle/>
          <a:p>
            <a:pPr algn="ctr"/>
            <a:r>
              <a:rPr sz="1250" b="1">
                <a:solidFill>
                  <a:srgbClr val="1E293B"/>
                </a:solidFill>
                <a:latin typeface="맑은 고딕"/>
                <a:ea typeface="맑은 고딕"/>
              </a:rPr>
              <a:t>종료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5500" y="11341100"/>
            <a:ext cx="8280400" cy="6350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25400" bIns="2540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6000" y="11442700"/>
            <a:ext cx="7899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맑은 고딕"/>
                <a:ea typeface="맑은 고딕"/>
              </a:rPr>
              <a:t>업무 영역 설명(domain_desc)은 20개 시스템만이라 사람이 쓴다. 테이블 추론 프롬프트 첫머리와 평가 문항 생성에 쓰인다. 호스트·계정 오류는 이 단계에서 드러나지 않는다 — 실제 접속은 동기화에서 처음 일어난다.</a:t>
            </a:r>
          </a:p>
        </p:txBody>
      </p:sp>
      <p:sp>
        <p:nvSpPr>
          <p:cNvPr id="32" name="Oval 31"/>
          <p:cNvSpPr/>
          <p:nvPr/>
        </p:nvSpPr>
        <p:spPr>
          <a:xfrm>
            <a:off x="825500" y="12179300"/>
            <a:ext cx="241300" cy="177800"/>
          </a:xfrm>
          <a:prstGeom prst="ellipse">
            <a:avLst/>
          </a:prstGeom>
          <a:solidFill>
            <a:srgbClr val="E0E7FF"/>
          </a:solidFill>
          <a:ln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7600" y="12179300"/>
            <a:ext cx="101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맑은 고딕"/>
                <a:ea typeface="맑은 고딕"/>
              </a:rPr>
              <a:t>시작 · 종료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197100" y="12179300"/>
            <a:ext cx="241300" cy="177800"/>
          </a:xfrm>
          <a:prstGeom prst="rect">
            <a:avLst/>
          </a:prstGeom>
          <a:solidFill>
            <a:srgbClr val="EFF6FF"/>
          </a:solidFill>
          <a:ln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89200" y="12179300"/>
            <a:ext cx="101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맑은 고딕"/>
                <a:ea typeface="맑은 고딕"/>
              </a:rPr>
              <a:t>처리</a:t>
            </a:r>
          </a:p>
        </p:txBody>
      </p:sp>
      <p:sp>
        <p:nvSpPr>
          <p:cNvPr id="36" name="Diamond 35"/>
          <p:cNvSpPr/>
          <p:nvPr/>
        </p:nvSpPr>
        <p:spPr>
          <a:xfrm>
            <a:off x="3568700" y="12179300"/>
            <a:ext cx="241300" cy="177800"/>
          </a:xfrm>
          <a:prstGeom prst="diamond">
            <a:avLst/>
          </a:prstGeom>
          <a:solidFill>
            <a:srgbClr val="FFFBEB"/>
          </a:solidFill>
          <a:ln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0800" y="12179300"/>
            <a:ext cx="101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맑은 고딕"/>
                <a:ea typeface="맑은 고딕"/>
              </a:rPr>
              <a:t>조건</a:t>
            </a:r>
          </a:p>
        </p:txBody>
      </p:sp>
      <p:sp>
        <p:nvSpPr>
          <p:cNvPr id="38" name="Parallelogram 37"/>
          <p:cNvSpPr/>
          <p:nvPr/>
        </p:nvSpPr>
        <p:spPr>
          <a:xfrm>
            <a:off x="4940300" y="12179300"/>
            <a:ext cx="241300" cy="177800"/>
          </a:xfrm>
          <a:prstGeom prst="parallelogram">
            <a:avLst/>
          </a:prstGeom>
          <a:solidFill>
            <a:srgbClr val="ECFDF5"/>
          </a:solidFill>
          <a:ln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32400" y="12179300"/>
            <a:ext cx="101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맑은 고딕"/>
                <a:ea typeface="맑은 고딕"/>
              </a:rPr>
              <a:t>데이터 · 입출력</a:t>
            </a:r>
          </a:p>
        </p:txBody>
      </p:sp>
      <p:sp>
        <p:nvSpPr>
          <p:cNvPr id="40" name="Parallelogram 39"/>
          <p:cNvSpPr/>
          <p:nvPr/>
        </p:nvSpPr>
        <p:spPr>
          <a:xfrm>
            <a:off x="6311900" y="12179300"/>
            <a:ext cx="241300" cy="177800"/>
          </a:xfrm>
          <a:prstGeom prst="parallelogram">
            <a:avLst/>
          </a:prstGeom>
          <a:solidFill>
            <a:srgbClr val="FEF2F2"/>
          </a:solidFill>
          <a:ln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04000" y="12179300"/>
            <a:ext cx="101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맑은 고딕"/>
                <a:ea typeface="맑은 고딕"/>
              </a:rPr>
              <a:t>실패 응답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785100" y="12179300"/>
            <a:ext cx="355600" cy="177800"/>
          </a:xfrm>
          <a:prstGeom prst="roundRect">
            <a:avLst/>
          </a:prstGeom>
          <a:solidFill>
            <a:srgbClr val="D96C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맑은 고딕"/>
                <a:ea typeface="맑은 고딕"/>
              </a:rPr>
              <a:t>NEW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610600" y="12179300"/>
            <a:ext cx="342900" cy="177800"/>
          </a:xfrm>
          <a:prstGeom prst="round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맑은 고딕"/>
                <a:ea typeface="맑은 고딕"/>
              </a:rPr>
              <a:t>변경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83500" y="12420600"/>
            <a:ext cx="1422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맑은 고딕"/>
                <a:ea typeface="맑은 고딕"/>
              </a:rPr>
              <a:t>TO-BE 에서 바뀐 단계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5500" y="571500"/>
            <a:ext cx="8280400" cy="508000"/>
          </a:xfrm>
          <a:prstGeom prst="roundRect">
            <a:avLst>
              <a:gd name="adj" fmla="val 1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맑은 고딕"/>
                <a:ea typeface="맑은 고딕"/>
              </a:rPr>
              <a:t>② 스키마 동기화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5500" y="1168400"/>
            <a:ext cx="82804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맑은 고딕"/>
                <a:ea typeface="맑은 고딕"/>
              </a:rPr>
              <a:t>대상 DB에 접속하는 유일한 지점. 전량 교체가 아니라 이름 기준 병합 — 지표 연결이 끊기지 않게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483600" y="660400"/>
            <a:ext cx="533400" cy="203200"/>
          </a:xfrm>
          <a:prstGeom prst="roundRect">
            <a:avLst/>
          </a:prstGeom>
          <a:solidFill>
            <a:srgbClr val="D96C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TO-BE</a:t>
            </a:r>
          </a:p>
        </p:txBody>
      </p:sp>
      <p:sp>
        <p:nvSpPr>
          <p:cNvPr id="5" name="Oval 4"/>
          <p:cNvSpPr/>
          <p:nvPr/>
        </p:nvSpPr>
        <p:spPr>
          <a:xfrm>
            <a:off x="825500" y="1778000"/>
            <a:ext cx="4572000" cy="406400"/>
          </a:xfrm>
          <a:prstGeom prst="ellipse">
            <a:avLst/>
          </a:prstGeom>
          <a:solidFill>
            <a:srgbClr val="E0E7FF"/>
          </a:solidFill>
          <a:ln w="127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25400" bIns="25400"/>
          <a:lstStyle/>
          <a:p>
            <a:pPr algn="ctr"/>
            <a:r>
              <a:rPr sz="1250" b="1">
                <a:solidFill>
                  <a:srgbClr val="1E293B"/>
                </a:solidFill>
                <a:latin typeface="맑은 고딕"/>
                <a:ea typeface="맑은 고딕"/>
              </a:rPr>
              <a:t>시작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111500" y="2184400"/>
            <a:ext cx="0" cy="304800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Parallelogram 6"/>
          <p:cNvSpPr/>
          <p:nvPr/>
        </p:nvSpPr>
        <p:spPr>
          <a:xfrm>
            <a:off x="825500" y="2489200"/>
            <a:ext cx="4572000" cy="635000"/>
          </a:xfrm>
          <a:prstGeom prst="parallelogram">
            <a:avLst/>
          </a:prstGeom>
          <a:solidFill>
            <a:srgbClr val="ECFDF5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9400" rIns="279400" tIns="25400" bIns="25400"/>
          <a:lstStyle/>
          <a:p>
            <a:pPr algn="ctr"/>
            <a:r>
              <a:rPr sz="1250" b="1">
                <a:solidFill>
                  <a:srgbClr val="1E293B"/>
                </a:solidFill>
                <a:latin typeface="맑은 고딕"/>
                <a:ea typeface="맑은 고딕"/>
              </a:rPr>
              <a:t>동기화 요청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맑은 고딕"/>
                <a:ea typeface="맑은 고딕"/>
              </a:rPr>
              <a:t>POST /api/systems/{id}/sync — 수동 또는 주기 실행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111500" y="3124200"/>
            <a:ext cx="0" cy="304800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Diamond 8"/>
          <p:cNvSpPr/>
          <p:nvPr/>
        </p:nvSpPr>
        <p:spPr>
          <a:xfrm>
            <a:off x="825500" y="3429000"/>
            <a:ext cx="4572000" cy="990600"/>
          </a:xfrm>
          <a:prstGeom prst="diamond">
            <a:avLst/>
          </a:prstGeom>
          <a:solidFill>
            <a:srgbClr val="FFFBEB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5400" bIns="25400"/>
          <a:lstStyle/>
          <a:p>
            <a:pPr algn="ctr"/>
            <a:r>
              <a:rPr sz="1250" b="1">
                <a:solidFill>
                  <a:srgbClr val="1E293B"/>
                </a:solidFill>
                <a:latin typeface="맑은 고딕"/>
                <a:ea typeface="맑은 고딕"/>
              </a:rPr>
              <a:t>대상 DB 접속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맑은 고딕"/>
                <a:ea typeface="맑은 고딕"/>
              </a:rPr>
              <a:t>CONNECT_TIMEOUT = 10</a:t>
            </a:r>
          </a:p>
        </p:txBody>
      </p:sp>
      <p:sp>
        <p:nvSpPr>
          <p:cNvPr id="10" name="Parallelogram 9"/>
          <p:cNvSpPr/>
          <p:nvPr/>
        </p:nvSpPr>
        <p:spPr>
          <a:xfrm>
            <a:off x="5994400" y="3543300"/>
            <a:ext cx="3111500" cy="762000"/>
          </a:xfrm>
          <a:prstGeom prst="parallelogram">
            <a:avLst/>
          </a:prstGeom>
          <a:solidFill>
            <a:srgbClr val="FEF2F2"/>
          </a:solidFill>
          <a:ln w="1270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9400" rIns="279400" tIns="25400" bIns="25400"/>
          <a:lstStyle/>
          <a:p>
            <a:pPr algn="ctr"/>
            <a:r>
              <a:rPr sz="1250" b="1">
                <a:solidFill>
                  <a:srgbClr val="1E293B"/>
                </a:solidFill>
                <a:latin typeface="맑은 고딕"/>
                <a:ea typeface="맑은 고딕"/>
              </a:rPr>
              <a:t>502 Bad Gateway</a:t>
            </a:r>
          </a:p>
          <a:p>
            <a:pPr algn="ctr"/>
            <a:r>
              <a:rPr sz="950" b="0">
                <a:solidFill>
                  <a:srgbClr val="7F1D1D"/>
                </a:solidFill>
                <a:latin typeface="맑은 고딕"/>
                <a:ea typeface="맑은 고딕"/>
              </a:rPr>
              <a:t>드라이버 메시지 첫 줄을 전달</a:t>
            </a:r>
          </a:p>
          <a:p>
            <a:pPr algn="ctr"/>
            <a:r>
              <a:rPr sz="950" b="0">
                <a:solidFill>
                  <a:srgbClr val="7F1D1D"/>
                </a:solidFill>
                <a:latin typeface="맑은 고딕"/>
                <a:ea typeface="맑은 고딕"/>
              </a:rPr>
              <a:t>(대상 DB 문제라는 표시)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97500" y="3924300"/>
            <a:ext cx="774700" cy="0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22900" y="3733800"/>
            <a:ext cx="546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94A3B8"/>
                </a:solidFill>
                <a:latin typeface="맑은 고딕"/>
                <a:ea typeface="맑은 고딕"/>
              </a:rPr>
              <a:t>실패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111500" y="4419600"/>
            <a:ext cx="0" cy="304800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892300" y="4502150"/>
            <a:ext cx="1143000" cy="139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맑은 고딕"/>
                <a:ea typeface="맑은 고딕"/>
              </a:rPr>
              <a:t>성공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5500" y="4724400"/>
            <a:ext cx="4572000" cy="635000"/>
          </a:xfrm>
          <a:prstGeom prst="rect">
            <a:avLst/>
          </a:prstGeom>
          <a:solidFill>
            <a:srgbClr val="EFF6FF"/>
          </a:solidFill>
          <a:ln w="1270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25400" bIns="25400"/>
          <a:lstStyle/>
          <a:p>
            <a:pPr algn="ctr"/>
            <a:r>
              <a:rPr sz="1250" b="1">
                <a:solidFill>
                  <a:srgbClr val="1E293B"/>
                </a:solidFill>
                <a:latin typeface="맑은 고딕"/>
                <a:ea typeface="맑은 고딕"/>
              </a:rPr>
              <a:t>카탈로그 읽기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맑은 고딕"/>
                <a:ea typeface="맑은 고딕"/>
              </a:rPr>
              <a:t>테이블 · 컬럼 · 코멘트 · FK (MySQL / PostgreSQL / Oracle 기존 로직)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111500" y="5359400"/>
            <a:ext cx="0" cy="304800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825500" y="5664200"/>
            <a:ext cx="4572000" cy="787400"/>
          </a:xfrm>
          <a:prstGeom prst="rect">
            <a:avLst/>
          </a:prstGeom>
          <a:solidFill>
            <a:srgbClr val="EFF6FF"/>
          </a:solidFill>
          <a:ln w="1270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25400" bIns="25400"/>
          <a:lstStyle/>
          <a:p>
            <a:pPr algn="ctr"/>
            <a:r>
              <a:rPr sz="1250" b="1">
                <a:solidFill>
                  <a:srgbClr val="1E293B"/>
                </a:solidFill>
                <a:latin typeface="맑은 고딕"/>
                <a:ea typeface="맑은 고딕"/>
              </a:rPr>
              <a:t>이름 기준 병합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맑은 고딕"/>
                <a:ea typeface="맑은 고딕"/>
              </a:rPr>
              <a:t>새 테이블 INSERT · 있는 테이블 UPDATE (id 유지)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맑은 고딕"/>
                <a:ea typeface="맑은 고딕"/>
              </a:rPr>
              <a:t>사라진 테이블·컬럼은 deleted_at 표시 (지우지 않음)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78400" y="5651500"/>
            <a:ext cx="342900" cy="177800"/>
          </a:xfrm>
          <a:prstGeom prst="round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맑은 고딕"/>
                <a:ea typeface="맑은 고딕"/>
              </a:rPr>
              <a:t>변경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111500" y="6451600"/>
            <a:ext cx="0" cy="304800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Diamond 19"/>
          <p:cNvSpPr/>
          <p:nvPr/>
        </p:nvSpPr>
        <p:spPr>
          <a:xfrm>
            <a:off x="825500" y="6756400"/>
            <a:ext cx="4572000" cy="1066800"/>
          </a:xfrm>
          <a:prstGeom prst="diamond">
            <a:avLst/>
          </a:prstGeom>
          <a:solidFill>
            <a:srgbClr val="FFFBEB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5400" bIns="25400"/>
          <a:lstStyle/>
          <a:p>
            <a:pPr algn="ctr"/>
            <a:r>
              <a:rPr sz="1250" b="1">
                <a:solidFill>
                  <a:srgbClr val="1E293B"/>
                </a:solidFill>
                <a:latin typeface="맑은 고딕"/>
                <a:ea typeface="맑은 고딕"/>
              </a:rPr>
              <a:t>구조가 바뀐 테이블?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맑은 고딕"/>
                <a:ea typeface="맑은 고딕"/>
              </a:rPr>
              <a:t>purpose + 컬럼 구성 해시 비교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965700" y="6859524"/>
            <a:ext cx="355600" cy="177800"/>
          </a:xfrm>
          <a:prstGeom prst="roundRect">
            <a:avLst/>
          </a:prstGeom>
          <a:solidFill>
            <a:srgbClr val="D96C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맑은 고딕"/>
                <a:ea typeface="맑은 고딕"/>
              </a:rPr>
              <a:t>NEW</a:t>
            </a:r>
          </a:p>
        </p:txBody>
      </p:sp>
      <p:sp>
        <p:nvSpPr>
          <p:cNvPr id="22" name="Parallelogram 21"/>
          <p:cNvSpPr/>
          <p:nvPr/>
        </p:nvSpPr>
        <p:spPr>
          <a:xfrm>
            <a:off x="5994400" y="6883400"/>
            <a:ext cx="3111500" cy="812800"/>
          </a:xfrm>
          <a:prstGeom prst="parallelogram">
            <a:avLst/>
          </a:prstGeom>
          <a:solidFill>
            <a:srgbClr val="ECFDF5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9400" rIns="279400" tIns="25400" bIns="25400"/>
          <a:lstStyle/>
          <a:p>
            <a:pPr algn="ctr"/>
            <a:r>
              <a:rPr sz="1250" b="1">
                <a:solidFill>
                  <a:srgbClr val="1E293B"/>
                </a:solidFill>
                <a:latin typeface="맑은 고딕"/>
                <a:ea typeface="맑은 고딕"/>
              </a:rPr>
              <a:t>보강 대기열 등록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맑은 고딕"/>
                <a:ea typeface="맑은 고딕"/>
              </a:rPr>
              <a:t>enrich_job (table, changed)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맑은 고딕"/>
                <a:ea typeface="맑은 고딕"/>
              </a:rPr>
              <a:t>테이블 카드 다시 만들기 → ④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397500" y="7289800"/>
            <a:ext cx="774700" cy="0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22900" y="7099300"/>
            <a:ext cx="546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94A3B8"/>
                </a:solidFill>
                <a:latin typeface="맑은 고딕"/>
                <a:ea typeface="맑은 고딕"/>
              </a:rPr>
              <a:t>있음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111500" y="7823200"/>
            <a:ext cx="0" cy="304800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892300" y="7905750"/>
            <a:ext cx="1143000" cy="139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맑은 고딕"/>
                <a:ea typeface="맑은 고딕"/>
              </a:rPr>
              <a:t>계속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5500" y="8128000"/>
            <a:ext cx="4572000" cy="762000"/>
          </a:xfrm>
          <a:prstGeom prst="rect">
            <a:avLst/>
          </a:prstGeom>
          <a:solidFill>
            <a:srgbClr val="EFF6FF"/>
          </a:solidFill>
          <a:ln w="1270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25400" bIns="25400"/>
          <a:lstStyle/>
          <a:p>
            <a:pPr algn="ctr"/>
            <a:r>
              <a:rPr sz="1250" b="1">
                <a:solidFill>
                  <a:srgbClr val="1E293B"/>
                </a:solidFill>
                <a:latin typeface="맑은 고딕"/>
                <a:ea typeface="맑은 고딕"/>
              </a:rPr>
              <a:t>영향받는 지표 표시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맑은 고딕"/>
                <a:ea typeface="맑은 고딕"/>
              </a:rPr>
              <a:t>사라진 테이블·컬럼을 쓰는 지표 → status = broken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맑은 고딕"/>
                <a:ea typeface="맑은 고딕"/>
              </a:rPr>
              <a:t>broken_reason 기록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65700" y="8115300"/>
            <a:ext cx="355600" cy="177800"/>
          </a:xfrm>
          <a:prstGeom prst="roundRect">
            <a:avLst/>
          </a:prstGeom>
          <a:solidFill>
            <a:srgbClr val="D96C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맑은 고딕"/>
                <a:ea typeface="맑은 고딕"/>
              </a:rPr>
              <a:t>NEW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111500" y="8890000"/>
            <a:ext cx="0" cy="304800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Parallelogram 29"/>
          <p:cNvSpPr/>
          <p:nvPr/>
        </p:nvSpPr>
        <p:spPr>
          <a:xfrm>
            <a:off x="825500" y="9194800"/>
            <a:ext cx="4572000" cy="635000"/>
          </a:xfrm>
          <a:prstGeom prst="parallelogram">
            <a:avLst/>
          </a:prstGeom>
          <a:solidFill>
            <a:srgbClr val="ECFDF5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9400" rIns="279400" tIns="25400" bIns="25400"/>
          <a:lstStyle/>
          <a:p>
            <a:pPr algn="ctr"/>
            <a:r>
              <a:rPr sz="1250" b="1">
                <a:solidFill>
                  <a:srgbClr val="1E293B"/>
                </a:solidFill>
                <a:latin typeface="맑은 고딕"/>
                <a:ea typeface="맑은 고딕"/>
              </a:rPr>
              <a:t>동기화 완료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맑은 고딕"/>
                <a:ea typeface="맑은 고딕"/>
              </a:rPr>
              <a:t>meta_sync_log: 추가 · 변경 · 삭제 건수, 깨진 지표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111500" y="9829800"/>
            <a:ext cx="0" cy="304800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825500" y="10134600"/>
            <a:ext cx="4572000" cy="406400"/>
          </a:xfrm>
          <a:prstGeom prst="ellipse">
            <a:avLst/>
          </a:prstGeom>
          <a:solidFill>
            <a:srgbClr val="E0E7FF"/>
          </a:solidFill>
          <a:ln w="127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25400" bIns="25400"/>
          <a:lstStyle/>
          <a:p>
            <a:pPr algn="ctr"/>
            <a:r>
              <a:rPr sz="1250" b="1">
                <a:solidFill>
                  <a:srgbClr val="1E293B"/>
                </a:solidFill>
                <a:latin typeface="맑은 고딕"/>
                <a:ea typeface="맑은 고딕"/>
              </a:rPr>
              <a:t>종료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5500" y="11341100"/>
            <a:ext cx="8280400" cy="6350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25400" bIns="2540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6000" y="11442700"/>
            <a:ext cx="7899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맑은 고딕"/>
                <a:ea typeface="맑은 고딕"/>
              </a:rPr>
              <a:t>AS-IS 는 DELETE 후 INSERT 라 테이블 id 가 매번 바뀌었다. 지표-테이블 연결(metric_table)이 id 로 테이블을 가리키므로 TO-BE 는 id 를 유지한다. 전체를 한 트랜잭션으로 처리해 질문 도중 반쯤 바뀐 스키마를 보지 않게 한다.</a:t>
            </a:r>
          </a:p>
        </p:txBody>
      </p:sp>
      <p:sp>
        <p:nvSpPr>
          <p:cNvPr id="35" name="Oval 34"/>
          <p:cNvSpPr/>
          <p:nvPr/>
        </p:nvSpPr>
        <p:spPr>
          <a:xfrm>
            <a:off x="825500" y="12179300"/>
            <a:ext cx="241300" cy="177800"/>
          </a:xfrm>
          <a:prstGeom prst="ellipse">
            <a:avLst/>
          </a:prstGeom>
          <a:solidFill>
            <a:srgbClr val="E0E7FF"/>
          </a:solidFill>
          <a:ln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17600" y="12179300"/>
            <a:ext cx="101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맑은 고딕"/>
                <a:ea typeface="맑은 고딕"/>
              </a:rPr>
              <a:t>시작 · 종료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197100" y="12179300"/>
            <a:ext cx="241300" cy="177800"/>
          </a:xfrm>
          <a:prstGeom prst="rect">
            <a:avLst/>
          </a:prstGeom>
          <a:solidFill>
            <a:srgbClr val="EFF6FF"/>
          </a:solidFill>
          <a:ln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489200" y="12179300"/>
            <a:ext cx="101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맑은 고딕"/>
                <a:ea typeface="맑은 고딕"/>
              </a:rPr>
              <a:t>처리</a:t>
            </a:r>
          </a:p>
        </p:txBody>
      </p:sp>
      <p:sp>
        <p:nvSpPr>
          <p:cNvPr id="39" name="Diamond 38"/>
          <p:cNvSpPr/>
          <p:nvPr/>
        </p:nvSpPr>
        <p:spPr>
          <a:xfrm>
            <a:off x="3568700" y="12179300"/>
            <a:ext cx="241300" cy="177800"/>
          </a:xfrm>
          <a:prstGeom prst="diamond">
            <a:avLst/>
          </a:prstGeom>
          <a:solidFill>
            <a:srgbClr val="FFFBEB"/>
          </a:solidFill>
          <a:ln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860800" y="12179300"/>
            <a:ext cx="101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맑은 고딕"/>
                <a:ea typeface="맑은 고딕"/>
              </a:rPr>
              <a:t>조건</a:t>
            </a:r>
          </a:p>
        </p:txBody>
      </p:sp>
      <p:sp>
        <p:nvSpPr>
          <p:cNvPr id="41" name="Parallelogram 40"/>
          <p:cNvSpPr/>
          <p:nvPr/>
        </p:nvSpPr>
        <p:spPr>
          <a:xfrm>
            <a:off x="4940300" y="12179300"/>
            <a:ext cx="241300" cy="177800"/>
          </a:xfrm>
          <a:prstGeom prst="parallelogram">
            <a:avLst/>
          </a:prstGeom>
          <a:solidFill>
            <a:srgbClr val="ECFDF5"/>
          </a:solidFill>
          <a:ln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32400" y="12179300"/>
            <a:ext cx="101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맑은 고딕"/>
                <a:ea typeface="맑은 고딕"/>
              </a:rPr>
              <a:t>데이터 · 입출력</a:t>
            </a:r>
          </a:p>
        </p:txBody>
      </p:sp>
      <p:sp>
        <p:nvSpPr>
          <p:cNvPr id="43" name="Parallelogram 42"/>
          <p:cNvSpPr/>
          <p:nvPr/>
        </p:nvSpPr>
        <p:spPr>
          <a:xfrm>
            <a:off x="6311900" y="12179300"/>
            <a:ext cx="241300" cy="177800"/>
          </a:xfrm>
          <a:prstGeom prst="parallelogram">
            <a:avLst/>
          </a:prstGeom>
          <a:solidFill>
            <a:srgbClr val="FEF2F2"/>
          </a:solidFill>
          <a:ln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04000" y="12179300"/>
            <a:ext cx="101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맑은 고딕"/>
                <a:ea typeface="맑은 고딕"/>
              </a:rPr>
              <a:t>실패 응답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785100" y="12179300"/>
            <a:ext cx="355600" cy="177800"/>
          </a:xfrm>
          <a:prstGeom prst="roundRect">
            <a:avLst/>
          </a:prstGeom>
          <a:solidFill>
            <a:srgbClr val="D96C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맑은 고딕"/>
                <a:ea typeface="맑은 고딕"/>
              </a:rPr>
              <a:t>NEW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610600" y="12179300"/>
            <a:ext cx="342900" cy="177800"/>
          </a:xfrm>
          <a:prstGeom prst="round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맑은 고딕"/>
                <a:ea typeface="맑은 고딕"/>
              </a:rPr>
              <a:t>변경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3500" y="12420600"/>
            <a:ext cx="1422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맑은 고딕"/>
                <a:ea typeface="맑은 고딕"/>
              </a:rPr>
              <a:t>TO-BE 에서 바뀐 단계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5500" y="571500"/>
            <a:ext cx="8280400" cy="508000"/>
          </a:xfrm>
          <a:prstGeom prst="roundRect">
            <a:avLst>
              <a:gd name="adj" fmla="val 1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맑은 고딕"/>
                <a:ea typeface="맑은 고딕"/>
              </a:rPr>
              <a:t>③ 지표 정의 (Metric Definition)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5500" y="1168400"/>
            <a:ext cx="82804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맑은 고딕"/>
                <a:ea typeface="맑은 고딕"/>
              </a:rPr>
              <a:t>스키마에서 뽑을 수 없는 업무 개념을 사람이 선언 — 정의 방식은 AS-IS 와 같고, 테이블 연결과 보강이 더해진다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483600" y="660400"/>
            <a:ext cx="533400" cy="203200"/>
          </a:xfrm>
          <a:prstGeom prst="roundRect">
            <a:avLst/>
          </a:prstGeom>
          <a:solidFill>
            <a:srgbClr val="D96C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TO-BE</a:t>
            </a:r>
          </a:p>
        </p:txBody>
      </p:sp>
      <p:sp>
        <p:nvSpPr>
          <p:cNvPr id="5" name="Oval 4"/>
          <p:cNvSpPr/>
          <p:nvPr/>
        </p:nvSpPr>
        <p:spPr>
          <a:xfrm>
            <a:off x="825500" y="1778000"/>
            <a:ext cx="4572000" cy="406400"/>
          </a:xfrm>
          <a:prstGeom prst="ellipse">
            <a:avLst/>
          </a:prstGeom>
          <a:solidFill>
            <a:srgbClr val="E0E7FF"/>
          </a:solidFill>
          <a:ln w="127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25400" bIns="25400"/>
          <a:lstStyle/>
          <a:p>
            <a:pPr algn="ctr"/>
            <a:r>
              <a:rPr sz="1250" b="1">
                <a:solidFill>
                  <a:srgbClr val="1E293B"/>
                </a:solidFill>
                <a:latin typeface="맑은 고딕"/>
                <a:ea typeface="맑은 고딕"/>
              </a:rPr>
              <a:t>시작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111500" y="2184400"/>
            <a:ext cx="0" cy="254000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Parallelogram 6"/>
          <p:cNvSpPr/>
          <p:nvPr/>
        </p:nvSpPr>
        <p:spPr>
          <a:xfrm>
            <a:off x="825500" y="2438400"/>
            <a:ext cx="4572000" cy="787400"/>
          </a:xfrm>
          <a:prstGeom prst="parallelogram">
            <a:avLst/>
          </a:prstGeom>
          <a:solidFill>
            <a:srgbClr val="ECFDF5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9400" rIns="279400" tIns="25400" bIns="25400"/>
          <a:lstStyle/>
          <a:p>
            <a:pPr algn="ctr"/>
            <a:r>
              <a:rPr sz="1250" b="1">
                <a:solidFill>
                  <a:srgbClr val="1E293B"/>
                </a:solidFill>
                <a:latin typeface="맑은 고딕"/>
                <a:ea typeface="맑은 고딕"/>
              </a:rPr>
              <a:t>지표 추가 · 수정 요청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맑은 고딕"/>
                <a:ea typeface="맑은 고딕"/>
              </a:rPr>
              <a:t>화면 등록 · 이름 · 설명 · 종류 · 기본 테이블 · 조인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맑은 고딕"/>
                <a:ea typeface="맑은 고딕"/>
              </a:rPr>
              <a:t>집계 / 조회 컬럼 / 수식 · 고정 필터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111500" y="3225800"/>
            <a:ext cx="0" cy="254000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Diamond 8"/>
          <p:cNvSpPr/>
          <p:nvPr/>
        </p:nvSpPr>
        <p:spPr>
          <a:xfrm>
            <a:off x="825500" y="3479800"/>
            <a:ext cx="4572000" cy="1016000"/>
          </a:xfrm>
          <a:prstGeom prst="diamond">
            <a:avLst/>
          </a:prstGeom>
          <a:solidFill>
            <a:srgbClr val="FFFBEB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5400" bIns="25400"/>
          <a:lstStyle/>
          <a:p>
            <a:pPr algn="ctr"/>
            <a:r>
              <a:rPr sz="1250" b="1">
                <a:solidFill>
                  <a:srgbClr val="1E293B"/>
                </a:solidFill>
                <a:latin typeface="맑은 고딕"/>
                <a:ea typeface="맑은 고딕"/>
              </a:rPr>
              <a:t>종류에 맞는 정의인가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맑은 고딕"/>
                <a:ea typeface="맑은 고딕"/>
              </a:rPr>
              <a:t>aggregate · projection · derived</a:t>
            </a:r>
          </a:p>
        </p:txBody>
      </p:sp>
      <p:sp>
        <p:nvSpPr>
          <p:cNvPr id="10" name="Parallelogram 9"/>
          <p:cNvSpPr/>
          <p:nvPr/>
        </p:nvSpPr>
        <p:spPr>
          <a:xfrm>
            <a:off x="5994400" y="3517900"/>
            <a:ext cx="3111500" cy="939800"/>
          </a:xfrm>
          <a:prstGeom prst="parallelogram">
            <a:avLst/>
          </a:prstGeom>
          <a:solidFill>
            <a:srgbClr val="FEF2F2"/>
          </a:solidFill>
          <a:ln w="1270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9400" rIns="279400" tIns="25400" bIns="25400"/>
          <a:lstStyle/>
          <a:p>
            <a:pPr algn="ctr"/>
            <a:r>
              <a:rPr sz="1250" b="1">
                <a:solidFill>
                  <a:srgbClr val="1E293B"/>
                </a:solidFill>
                <a:latin typeface="맑은 고딕"/>
                <a:ea typeface="맑은 고딕"/>
              </a:rPr>
              <a:t>422 — 모양 불일치</a:t>
            </a:r>
          </a:p>
          <a:p>
            <a:pPr algn="ctr"/>
            <a:r>
              <a:rPr sz="950" b="0">
                <a:solidFill>
                  <a:srgbClr val="7F1D1D"/>
                </a:solidFill>
                <a:latin typeface="맑은 고딕"/>
                <a:ea typeface="맑은 고딕"/>
              </a:rPr>
              <a:t>· 집계 컬럼·함수 없음</a:t>
            </a:r>
          </a:p>
          <a:p>
            <a:pPr algn="ctr"/>
            <a:r>
              <a:rPr sz="950" b="0">
                <a:solidFill>
                  <a:srgbClr val="7F1D1D"/>
                </a:solidFill>
                <a:latin typeface="맑은 고딕"/>
                <a:ea typeface="맑은 고딕"/>
              </a:rPr>
              <a:t>· 조회 컬럼이 빔</a:t>
            </a:r>
          </a:p>
          <a:p>
            <a:pPr algn="ctr"/>
            <a:r>
              <a:rPr sz="950" b="0">
                <a:solidFill>
                  <a:srgbClr val="7F1D1D"/>
                </a:solidFill>
                <a:latin typeface="맑은 고딕"/>
                <a:ea typeface="맑은 고딕"/>
              </a:rPr>
              <a:t>· 수식의 지표가 없음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97500" y="3987800"/>
            <a:ext cx="774700" cy="0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22900" y="3797300"/>
            <a:ext cx="546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94A3B8"/>
                </a:solidFill>
                <a:latin typeface="맑은 고딕"/>
                <a:ea typeface="맑은 고딕"/>
              </a:rPr>
              <a:t>불일치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111500" y="4495800"/>
            <a:ext cx="0" cy="254000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892300" y="4552950"/>
            <a:ext cx="1143000" cy="139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맑은 고딕"/>
                <a:ea typeface="맑은 고딕"/>
              </a:rPr>
              <a:t>일치</a:t>
            </a:r>
          </a:p>
        </p:txBody>
      </p:sp>
      <p:sp>
        <p:nvSpPr>
          <p:cNvPr id="15" name="Diamond 14"/>
          <p:cNvSpPr/>
          <p:nvPr/>
        </p:nvSpPr>
        <p:spPr>
          <a:xfrm>
            <a:off x="825500" y="4749800"/>
            <a:ext cx="4572000" cy="1016000"/>
          </a:xfrm>
          <a:prstGeom prst="diamond">
            <a:avLst/>
          </a:prstGeom>
          <a:solidFill>
            <a:srgbClr val="FFFBEB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5400" bIns="25400"/>
          <a:lstStyle/>
          <a:p>
            <a:pPr algn="ctr"/>
            <a:r>
              <a:rPr sz="1250" b="1">
                <a:solidFill>
                  <a:srgbClr val="1E293B"/>
                </a:solidFill>
                <a:latin typeface="맑은 고딕"/>
                <a:ea typeface="맑은 고딕"/>
              </a:rPr>
              <a:t>필터 값 형식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맑은 고딕"/>
                <a:ea typeface="맑은 고딕"/>
              </a:rPr>
              <a:t>literal · relative · question</a:t>
            </a:r>
          </a:p>
        </p:txBody>
      </p:sp>
      <p:sp>
        <p:nvSpPr>
          <p:cNvPr id="16" name="Parallelogram 15"/>
          <p:cNvSpPr/>
          <p:nvPr/>
        </p:nvSpPr>
        <p:spPr>
          <a:xfrm>
            <a:off x="5994400" y="4864100"/>
            <a:ext cx="3111500" cy="787400"/>
          </a:xfrm>
          <a:prstGeom prst="parallelogram">
            <a:avLst/>
          </a:prstGeom>
          <a:solidFill>
            <a:srgbClr val="FEF2F2"/>
          </a:solidFill>
          <a:ln w="1270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9400" rIns="279400" tIns="25400" bIns="25400"/>
          <a:lstStyle/>
          <a:p>
            <a:pPr algn="ctr"/>
            <a:r>
              <a:rPr sz="1250" b="1">
                <a:solidFill>
                  <a:srgbClr val="1E293B"/>
                </a:solidFill>
                <a:latin typeface="맑은 고딕"/>
                <a:ea typeface="맑은 고딕"/>
              </a:rPr>
              <a:t>400 — 값 형식</a:t>
            </a:r>
          </a:p>
          <a:p>
            <a:pPr algn="ctr"/>
            <a:r>
              <a:rPr sz="950" b="0">
                <a:solidFill>
                  <a:srgbClr val="7F1D1D"/>
                </a:solidFill>
                <a:latin typeface="맑은 고딕"/>
                <a:ea typeface="맑은 고딕"/>
              </a:rPr>
              <a:t>· 날짜가 YYYY-MM-DD 가 아님</a:t>
            </a:r>
          </a:p>
          <a:p>
            <a:pPr algn="ctr"/>
            <a:r>
              <a:rPr sz="950" b="0">
                <a:solidFill>
                  <a:srgbClr val="7F1D1D"/>
                </a:solidFill>
                <a:latin typeface="맑은 고딕"/>
                <a:ea typeface="맑은 고딕"/>
              </a:rPr>
              <a:t>· relative 가 -7d 형식이 아님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397500" y="5257800"/>
            <a:ext cx="774700" cy="0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22900" y="5067300"/>
            <a:ext cx="546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94A3B8"/>
                </a:solidFill>
                <a:latin typeface="맑은 고딕"/>
                <a:ea typeface="맑은 고딕"/>
              </a:rPr>
              <a:t>오류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111500" y="5765800"/>
            <a:ext cx="0" cy="254000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892300" y="5822950"/>
            <a:ext cx="1143000" cy="139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맑은 고딕"/>
                <a:ea typeface="맑은 고딕"/>
              </a:rPr>
              <a:t>통과</a:t>
            </a:r>
          </a:p>
        </p:txBody>
      </p:sp>
      <p:sp>
        <p:nvSpPr>
          <p:cNvPr id="21" name="Diamond 20"/>
          <p:cNvSpPr/>
          <p:nvPr/>
        </p:nvSpPr>
        <p:spPr>
          <a:xfrm>
            <a:off x="825500" y="6019800"/>
            <a:ext cx="4572000" cy="1066800"/>
          </a:xfrm>
          <a:prstGeom prst="diamond">
            <a:avLst/>
          </a:prstGeom>
          <a:solidFill>
            <a:srgbClr val="FFFBEB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5400" bIns="25400"/>
          <a:lstStyle/>
          <a:p>
            <a:pPr algn="ctr"/>
            <a:r>
              <a:rPr sz="1250" b="1">
                <a:solidFill>
                  <a:srgbClr val="1E293B"/>
                </a:solidFill>
                <a:latin typeface="맑은 고딕"/>
                <a:ea typeface="맑은 고딕"/>
              </a:rPr>
              <a:t>스키마에 실재하는가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맑은 고딕"/>
                <a:ea typeface="맑은 고딕"/>
              </a:rPr>
              <a:t>테이블 · 컬럼 · 필터 컬럼 (삭제 표시 제외)</a:t>
            </a:r>
          </a:p>
        </p:txBody>
      </p:sp>
      <p:sp>
        <p:nvSpPr>
          <p:cNvPr id="22" name="Parallelogram 21"/>
          <p:cNvSpPr/>
          <p:nvPr/>
        </p:nvSpPr>
        <p:spPr>
          <a:xfrm>
            <a:off x="5994400" y="6210300"/>
            <a:ext cx="3111500" cy="685800"/>
          </a:xfrm>
          <a:prstGeom prst="parallelogram">
            <a:avLst/>
          </a:prstGeom>
          <a:solidFill>
            <a:srgbClr val="FEF2F2"/>
          </a:solidFill>
          <a:ln w="1270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9400" rIns="279400" tIns="25400" bIns="25400"/>
          <a:lstStyle/>
          <a:p>
            <a:pPr algn="ctr"/>
            <a:r>
              <a:rPr sz="1250" b="1">
                <a:solidFill>
                  <a:srgbClr val="1E293B"/>
                </a:solidFill>
                <a:latin typeface="맑은 고딕"/>
                <a:ea typeface="맑은 고딕"/>
              </a:rPr>
              <a:t>400 — 스키마에 없음</a:t>
            </a:r>
          </a:p>
          <a:p>
            <a:pPr algn="ctr"/>
            <a:r>
              <a:rPr sz="950" b="0">
                <a:solidFill>
                  <a:srgbClr val="7F1D1D"/>
                </a:solidFill>
                <a:latin typeface="맑은 고딕"/>
                <a:ea typeface="맑은 고딕"/>
              </a:rPr>
              <a:t>테이블·컬럼을 찾을 수 없습니다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397500" y="6553200"/>
            <a:ext cx="774700" cy="0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22900" y="6362700"/>
            <a:ext cx="546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94A3B8"/>
                </a:solidFill>
                <a:latin typeface="맑은 고딕"/>
                <a:ea typeface="맑은 고딕"/>
              </a:rPr>
              <a:t>없음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111500" y="7086600"/>
            <a:ext cx="0" cy="254000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892300" y="7143750"/>
            <a:ext cx="1143000" cy="139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맑은 고딕"/>
                <a:ea typeface="맑은 고딕"/>
              </a:rPr>
              <a:t>있음</a:t>
            </a:r>
          </a:p>
        </p:txBody>
      </p:sp>
      <p:sp>
        <p:nvSpPr>
          <p:cNvPr id="27" name="Parallelogram 26"/>
          <p:cNvSpPr/>
          <p:nvPr/>
        </p:nvSpPr>
        <p:spPr>
          <a:xfrm>
            <a:off x="825500" y="7340600"/>
            <a:ext cx="4572000" cy="635000"/>
          </a:xfrm>
          <a:prstGeom prst="parallelogram">
            <a:avLst/>
          </a:prstGeom>
          <a:solidFill>
            <a:srgbClr val="ECFDF5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9400" rIns="279400" tIns="25400" bIns="25400"/>
          <a:lstStyle/>
          <a:p>
            <a:pPr algn="ctr"/>
            <a:r>
              <a:rPr sz="1250" b="1">
                <a:solidFill>
                  <a:srgbClr val="1E293B"/>
                </a:solidFill>
                <a:latin typeface="맑은 고딕"/>
                <a:ea typeface="맑은 고딕"/>
              </a:rPr>
              <a:t>저장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맑은 고딕"/>
                <a:ea typeface="맑은 고딕"/>
              </a:rPr>
              <a:t>metric (status = draft) · metric_history (create · update)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111500" y="7975600"/>
            <a:ext cx="0" cy="254000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825500" y="8229600"/>
            <a:ext cx="4572000" cy="787400"/>
          </a:xfrm>
          <a:prstGeom prst="rect">
            <a:avLst/>
          </a:prstGeom>
          <a:solidFill>
            <a:srgbClr val="EFF6FF"/>
          </a:solidFill>
          <a:ln w="1270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25400" bIns="25400"/>
          <a:lstStyle/>
          <a:p>
            <a:pPr algn="ctr"/>
            <a:r>
              <a:rPr sz="1250" b="1">
                <a:solidFill>
                  <a:srgbClr val="1E293B"/>
                </a:solidFill>
                <a:latin typeface="맑은 고딕"/>
                <a:ea typeface="맑은 고딕"/>
              </a:rPr>
              <a:t>테이블 연결 갱신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맑은 고딕"/>
                <a:ea typeface="맑은 고딕"/>
              </a:rPr>
              <a:t>기본 테이블 → base · 조인 테이블 → join · 파생 지표는 구성 지표의 테이블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맑은 고딕"/>
                <a:ea typeface="맑은 고딕"/>
              </a:rPr>
              <a:t>metric_table (origin = definition) 을 정의에서 다시 만듦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65700" y="8216900"/>
            <a:ext cx="355600" cy="177800"/>
          </a:xfrm>
          <a:prstGeom prst="roundRect">
            <a:avLst/>
          </a:prstGeom>
          <a:solidFill>
            <a:srgbClr val="D96C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맑은 고딕"/>
                <a:ea typeface="맑은 고딕"/>
              </a:rPr>
              <a:t>NEW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111500" y="9017000"/>
            <a:ext cx="0" cy="254000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Parallelogram 31"/>
          <p:cNvSpPr/>
          <p:nvPr/>
        </p:nvSpPr>
        <p:spPr>
          <a:xfrm>
            <a:off x="825500" y="9271000"/>
            <a:ext cx="4572000" cy="635000"/>
          </a:xfrm>
          <a:prstGeom prst="parallelogram">
            <a:avLst/>
          </a:prstGeom>
          <a:solidFill>
            <a:srgbClr val="ECFDF5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9400" rIns="279400" tIns="25400" bIns="25400"/>
          <a:lstStyle/>
          <a:p>
            <a:pPr algn="ctr"/>
            <a:r>
              <a:rPr sz="1250" b="1">
                <a:solidFill>
                  <a:srgbClr val="1E293B"/>
                </a:solidFill>
                <a:latin typeface="맑은 고딕"/>
                <a:ea typeface="맑은 고딕"/>
              </a:rPr>
              <a:t>보강 대기열 등록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맑은 고딕"/>
                <a:ea typeface="맑은 고딕"/>
              </a:rPr>
              <a:t>enrich_job (metric) → ④ 예시 질문 · 동의어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965700" y="9258300"/>
            <a:ext cx="355600" cy="177800"/>
          </a:xfrm>
          <a:prstGeom prst="roundRect">
            <a:avLst/>
          </a:prstGeom>
          <a:solidFill>
            <a:srgbClr val="D96C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맑은 고딕"/>
                <a:ea typeface="맑은 고딕"/>
              </a:rPr>
              <a:t>NEW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111500" y="9906000"/>
            <a:ext cx="0" cy="254000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825500" y="10160000"/>
            <a:ext cx="4572000" cy="406400"/>
          </a:xfrm>
          <a:prstGeom prst="ellipse">
            <a:avLst/>
          </a:prstGeom>
          <a:solidFill>
            <a:srgbClr val="E0E7FF"/>
          </a:solidFill>
          <a:ln w="127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25400" bIns="25400"/>
          <a:lstStyle/>
          <a:p>
            <a:pPr algn="ctr"/>
            <a:r>
              <a:rPr sz="1250" b="1">
                <a:solidFill>
                  <a:srgbClr val="1E293B"/>
                </a:solidFill>
                <a:latin typeface="맑은 고딕"/>
                <a:ea typeface="맑은 고딕"/>
              </a:rPr>
              <a:t>종료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5500" y="11341100"/>
            <a:ext cx="8280400" cy="6350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25400" bIns="2540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6000" y="11442700"/>
            <a:ext cx="7899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맑은 고딕"/>
                <a:ea typeface="맑은 고딕"/>
              </a:rPr>
              <a:t>지표는 ④ 보강에서 예시 질문이 승인되어야 active 가 된다 — ⑤ 지표 선택이 예시 질문을 가장 강한 단서로 쓰기 때문이다. metric_table 은 사람이 손으로 잇지 않는다 — 정의에서 자동으로 만들어 ⑤ 의 '테이블 → 지표' 조회가 정의와 어긋나지 않게 한다.</a:t>
            </a:r>
          </a:p>
        </p:txBody>
      </p:sp>
      <p:sp>
        <p:nvSpPr>
          <p:cNvPr id="38" name="Oval 37"/>
          <p:cNvSpPr/>
          <p:nvPr/>
        </p:nvSpPr>
        <p:spPr>
          <a:xfrm>
            <a:off x="825500" y="12179300"/>
            <a:ext cx="241300" cy="177800"/>
          </a:xfrm>
          <a:prstGeom prst="ellipse">
            <a:avLst/>
          </a:prstGeom>
          <a:solidFill>
            <a:srgbClr val="E0E7FF"/>
          </a:solidFill>
          <a:ln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17600" y="12179300"/>
            <a:ext cx="101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맑은 고딕"/>
                <a:ea typeface="맑은 고딕"/>
              </a:rPr>
              <a:t>시작 · 종료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197100" y="12179300"/>
            <a:ext cx="241300" cy="177800"/>
          </a:xfrm>
          <a:prstGeom prst="rect">
            <a:avLst/>
          </a:prstGeom>
          <a:solidFill>
            <a:srgbClr val="EFF6FF"/>
          </a:solidFill>
          <a:ln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489200" y="12179300"/>
            <a:ext cx="101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맑은 고딕"/>
                <a:ea typeface="맑은 고딕"/>
              </a:rPr>
              <a:t>처리</a:t>
            </a:r>
          </a:p>
        </p:txBody>
      </p:sp>
      <p:sp>
        <p:nvSpPr>
          <p:cNvPr id="42" name="Diamond 41"/>
          <p:cNvSpPr/>
          <p:nvPr/>
        </p:nvSpPr>
        <p:spPr>
          <a:xfrm>
            <a:off x="3568700" y="12179300"/>
            <a:ext cx="241300" cy="177800"/>
          </a:xfrm>
          <a:prstGeom prst="diamond">
            <a:avLst/>
          </a:prstGeom>
          <a:solidFill>
            <a:srgbClr val="FFFBEB"/>
          </a:solidFill>
          <a:ln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860800" y="12179300"/>
            <a:ext cx="101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맑은 고딕"/>
                <a:ea typeface="맑은 고딕"/>
              </a:rPr>
              <a:t>조건</a:t>
            </a:r>
          </a:p>
        </p:txBody>
      </p:sp>
      <p:sp>
        <p:nvSpPr>
          <p:cNvPr id="44" name="Parallelogram 43"/>
          <p:cNvSpPr/>
          <p:nvPr/>
        </p:nvSpPr>
        <p:spPr>
          <a:xfrm>
            <a:off x="4940300" y="12179300"/>
            <a:ext cx="241300" cy="177800"/>
          </a:xfrm>
          <a:prstGeom prst="parallelogram">
            <a:avLst/>
          </a:prstGeom>
          <a:solidFill>
            <a:srgbClr val="ECFDF5"/>
          </a:solidFill>
          <a:ln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32400" y="12179300"/>
            <a:ext cx="101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맑은 고딕"/>
                <a:ea typeface="맑은 고딕"/>
              </a:rPr>
              <a:t>데이터 · 입출력</a:t>
            </a:r>
          </a:p>
        </p:txBody>
      </p:sp>
      <p:sp>
        <p:nvSpPr>
          <p:cNvPr id="46" name="Parallelogram 45"/>
          <p:cNvSpPr/>
          <p:nvPr/>
        </p:nvSpPr>
        <p:spPr>
          <a:xfrm>
            <a:off x="6311900" y="12179300"/>
            <a:ext cx="241300" cy="177800"/>
          </a:xfrm>
          <a:prstGeom prst="parallelogram">
            <a:avLst/>
          </a:prstGeom>
          <a:solidFill>
            <a:srgbClr val="FEF2F2"/>
          </a:solidFill>
          <a:ln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04000" y="12179300"/>
            <a:ext cx="101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맑은 고딕"/>
                <a:ea typeface="맑은 고딕"/>
              </a:rPr>
              <a:t>실패 응답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785100" y="12179300"/>
            <a:ext cx="355600" cy="177800"/>
          </a:xfrm>
          <a:prstGeom prst="roundRect">
            <a:avLst/>
          </a:prstGeom>
          <a:solidFill>
            <a:srgbClr val="D96C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맑은 고딕"/>
                <a:ea typeface="맑은 고딕"/>
              </a:rPr>
              <a:t>NEW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610600" y="12179300"/>
            <a:ext cx="342900" cy="177800"/>
          </a:xfrm>
          <a:prstGeom prst="round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맑은 고딕"/>
                <a:ea typeface="맑은 고딕"/>
              </a:rPr>
              <a:t>변경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83500" y="12420600"/>
            <a:ext cx="1422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맑은 고딕"/>
                <a:ea typeface="맑은 고딕"/>
              </a:rPr>
              <a:t>TO-BE 에서 바뀐 단계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5500" y="571500"/>
            <a:ext cx="8280400" cy="508000"/>
          </a:xfrm>
          <a:prstGeom prst="roundRect">
            <a:avLst>
              <a:gd name="adj" fmla="val 1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맑은 고딕"/>
                <a:ea typeface="맑은 고딕"/>
              </a:rPr>
              <a:t>④ 메타데이터 보강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5500" y="1168400"/>
            <a:ext cx="82804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맑은 고딕"/>
                <a:ea typeface="맑은 고딕"/>
              </a:rPr>
              <a:t>선택 품질은 메타데이터가 정한다 — LLM 이 초안을 만들고, 사람이 승인한 것만 질문에 쓴다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483600" y="660400"/>
            <a:ext cx="533400" cy="203200"/>
          </a:xfrm>
          <a:prstGeom prst="roundRect">
            <a:avLst/>
          </a:prstGeom>
          <a:solidFill>
            <a:srgbClr val="D96C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TO-BE</a:t>
            </a:r>
          </a:p>
        </p:txBody>
      </p:sp>
      <p:sp>
        <p:nvSpPr>
          <p:cNvPr id="5" name="Oval 4"/>
          <p:cNvSpPr/>
          <p:nvPr/>
        </p:nvSpPr>
        <p:spPr>
          <a:xfrm>
            <a:off x="825500" y="1778000"/>
            <a:ext cx="4572000" cy="508000"/>
          </a:xfrm>
          <a:prstGeom prst="ellipse">
            <a:avLst/>
          </a:prstGeom>
          <a:solidFill>
            <a:srgbClr val="E0E7FF"/>
          </a:solidFill>
          <a:ln w="127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25400" bIns="25400"/>
          <a:lstStyle/>
          <a:p>
            <a:pPr algn="ctr"/>
            <a:r>
              <a:rPr sz="1250" b="1">
                <a:solidFill>
                  <a:srgbClr val="1E293B"/>
                </a:solidFill>
                <a:latin typeface="맑은 고딕"/>
                <a:ea typeface="맑은 고딕"/>
              </a:rPr>
              <a:t>시작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맑은 고딕"/>
                <a:ea typeface="맑은 고딕"/>
              </a:rPr>
              <a:t>배치 · 대기열(enrich_job)에서 꺼냄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111500" y="2286000"/>
            <a:ext cx="0" cy="330200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Parallelogram 6"/>
          <p:cNvSpPr/>
          <p:nvPr/>
        </p:nvSpPr>
        <p:spPr>
          <a:xfrm>
            <a:off x="825500" y="2616200"/>
            <a:ext cx="4572000" cy="736600"/>
          </a:xfrm>
          <a:prstGeom prst="parallelogram">
            <a:avLst/>
          </a:prstGeom>
          <a:solidFill>
            <a:srgbClr val="ECFDF5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9400" rIns="279400" tIns="25400" bIns="25400"/>
          <a:lstStyle/>
          <a:p>
            <a:pPr algn="ctr"/>
            <a:r>
              <a:rPr sz="1250" b="1">
                <a:solidFill>
                  <a:srgbClr val="1E293B"/>
                </a:solidFill>
                <a:latin typeface="맑은 고딕"/>
                <a:ea typeface="맑은 고딕"/>
              </a:rPr>
              <a:t>재료 모으기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맑은 고딕"/>
                <a:ea typeface="맑은 고딕"/>
              </a:rPr>
              <a:t>테이블: 용도 · 코멘트 · 컬럼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맑은 고딕"/>
                <a:ea typeface="맑은 고딕"/>
              </a:rPr>
              <a:t>지표: 이름 · 설명 · 정의 · 연결 테이블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111500" y="3352800"/>
            <a:ext cx="0" cy="330200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825500" y="3683000"/>
            <a:ext cx="4572000" cy="812800"/>
          </a:xfrm>
          <a:prstGeom prst="rect">
            <a:avLst/>
          </a:prstGeom>
          <a:solidFill>
            <a:srgbClr val="EFF6FF"/>
          </a:solidFill>
          <a:ln w="1270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25400" bIns="25400"/>
          <a:lstStyle/>
          <a:p>
            <a:pPr algn="ctr"/>
            <a:r>
              <a:rPr sz="1250" b="1">
                <a:solidFill>
                  <a:srgbClr val="1E293B"/>
                </a:solidFill>
                <a:latin typeface="맑은 고딕"/>
                <a:ea typeface="맑은 고딕"/>
              </a:rPr>
              <a:t>초안 생성 (LLM)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맑은 고딕"/>
                <a:ea typeface="맑은 고딕"/>
              </a:rPr>
              <a:t>테이블: 요약 카드 + 한 줄 요약(card_line, 80자 이내)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맑은 고딕"/>
                <a:ea typeface="맑은 고딕"/>
              </a:rPr>
              <a:t>지표: 설명 정비 · 예시 질문 3~5개 · 동의어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65700" y="3670300"/>
            <a:ext cx="355600" cy="177800"/>
          </a:xfrm>
          <a:prstGeom prst="roundRect">
            <a:avLst/>
          </a:prstGeom>
          <a:solidFill>
            <a:srgbClr val="D96C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맑은 고딕"/>
                <a:ea typeface="맑은 고딕"/>
              </a:rPr>
              <a:t>NEW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29100" y="3670300"/>
            <a:ext cx="355600" cy="17780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맑은 고딕"/>
                <a:ea typeface="맑은 고딕"/>
              </a:rPr>
              <a:t>LLM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11500" y="4495800"/>
            <a:ext cx="0" cy="330200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Diamond 12"/>
          <p:cNvSpPr/>
          <p:nvPr/>
        </p:nvSpPr>
        <p:spPr>
          <a:xfrm>
            <a:off x="825500" y="4826000"/>
            <a:ext cx="4572000" cy="1219200"/>
          </a:xfrm>
          <a:prstGeom prst="diamond">
            <a:avLst/>
          </a:prstGeom>
          <a:solidFill>
            <a:srgbClr val="FFFBEB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5400" bIns="25400"/>
          <a:lstStyle/>
          <a:p>
            <a:pPr algn="ctr"/>
            <a:r>
              <a:rPr sz="1250" b="1">
                <a:solidFill>
                  <a:srgbClr val="1E293B"/>
                </a:solidFill>
                <a:latin typeface="맑은 고딕"/>
                <a:ea typeface="맑은 고딕"/>
              </a:rPr>
              <a:t>형식 검증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맑은 고딕"/>
                <a:ea typeface="맑은 고딕"/>
              </a:rPr>
              <a:t>JSON 형식 · 없는 테이블/컬럼 언급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맑은 고딕"/>
                <a:ea typeface="맑은 고딕"/>
              </a:rPr>
              <a:t>예시 질문이 지표 이름을 베꼈나</a:t>
            </a:r>
          </a:p>
        </p:txBody>
      </p:sp>
      <p:sp>
        <p:nvSpPr>
          <p:cNvPr id="14" name="Parallelogram 13"/>
          <p:cNvSpPr/>
          <p:nvPr/>
        </p:nvSpPr>
        <p:spPr>
          <a:xfrm>
            <a:off x="5994400" y="5054600"/>
            <a:ext cx="3111500" cy="762000"/>
          </a:xfrm>
          <a:prstGeom prst="parallelogram">
            <a:avLst/>
          </a:prstGeom>
          <a:solidFill>
            <a:srgbClr val="FEF2F2"/>
          </a:solidFill>
          <a:ln w="1270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9400" rIns="279400" tIns="25400" bIns="25400"/>
          <a:lstStyle/>
          <a:p>
            <a:pPr algn="ctr"/>
            <a:r>
              <a:rPr sz="1250" b="1">
                <a:solidFill>
                  <a:srgbClr val="1E293B"/>
                </a:solidFill>
                <a:latin typeface="맑은 고딕"/>
                <a:ea typeface="맑은 고딕"/>
              </a:rPr>
              <a:t>재생성</a:t>
            </a:r>
          </a:p>
          <a:p>
            <a:pPr algn="ctr"/>
            <a:r>
              <a:rPr sz="950" b="0">
                <a:solidFill>
                  <a:srgbClr val="7F1D1D"/>
                </a:solidFill>
                <a:latin typeface="맑은 고딕"/>
                <a:ea typeface="맑은 고딕"/>
              </a:rPr>
              <a:t>실패 이유를 붙여 다시 생성</a:t>
            </a:r>
          </a:p>
          <a:p>
            <a:pPr algn="ctr"/>
            <a:r>
              <a:rPr sz="950" b="0">
                <a:solidFill>
                  <a:srgbClr val="7F1D1D"/>
                </a:solidFill>
                <a:latin typeface="맑은 고딕"/>
                <a:ea typeface="맑은 고딕"/>
              </a:rPr>
              <a:t>2회 넘게 실패하면 failed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97500" y="5435600"/>
            <a:ext cx="774700" cy="0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22900" y="5245100"/>
            <a:ext cx="546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94A3B8"/>
                </a:solidFill>
                <a:latin typeface="맑은 고딕"/>
                <a:ea typeface="맑은 고딕"/>
              </a:rPr>
              <a:t>실패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11500" y="6045200"/>
            <a:ext cx="0" cy="330200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892300" y="6140450"/>
            <a:ext cx="1143000" cy="139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맑은 고딕"/>
                <a:ea typeface="맑은 고딕"/>
              </a:rPr>
              <a:t>통과</a:t>
            </a:r>
          </a:p>
        </p:txBody>
      </p:sp>
      <p:sp>
        <p:nvSpPr>
          <p:cNvPr id="19" name="Parallelogram 18"/>
          <p:cNvSpPr/>
          <p:nvPr/>
        </p:nvSpPr>
        <p:spPr>
          <a:xfrm>
            <a:off x="825500" y="6375400"/>
            <a:ext cx="4572000" cy="635000"/>
          </a:xfrm>
          <a:prstGeom prst="parallelogram">
            <a:avLst/>
          </a:prstGeom>
          <a:solidFill>
            <a:srgbClr val="ECFDF5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9400" rIns="279400" tIns="25400" bIns="25400"/>
          <a:lstStyle/>
          <a:p>
            <a:pPr algn="ctr"/>
            <a:r>
              <a:rPr sz="1250" b="1">
                <a:solidFill>
                  <a:srgbClr val="1E293B"/>
                </a:solidFill>
                <a:latin typeface="맑은 고딕"/>
                <a:ea typeface="맑은 고딕"/>
              </a:rPr>
              <a:t>초안 저장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맑은 고딕"/>
                <a:ea typeface="맑은 고딕"/>
              </a:rPr>
              <a:t>card_status = draft · metric_example.status = draft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111500" y="7010400"/>
            <a:ext cx="0" cy="330200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Diamond 20"/>
          <p:cNvSpPr/>
          <p:nvPr/>
        </p:nvSpPr>
        <p:spPr>
          <a:xfrm>
            <a:off x="825500" y="7340600"/>
            <a:ext cx="4572000" cy="1066800"/>
          </a:xfrm>
          <a:prstGeom prst="diamond">
            <a:avLst/>
          </a:prstGeom>
          <a:solidFill>
            <a:srgbClr val="FFFBEB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5400" bIns="25400"/>
          <a:lstStyle/>
          <a:p>
            <a:pPr algn="ctr"/>
            <a:r>
              <a:rPr sz="1250" b="1">
                <a:solidFill>
                  <a:srgbClr val="1E293B"/>
                </a:solidFill>
                <a:latin typeface="맑은 고딕"/>
                <a:ea typeface="맑은 고딕"/>
              </a:rPr>
              <a:t>사람 검수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맑은 고딕"/>
                <a:ea typeface="맑은 고딕"/>
              </a:rPr>
              <a:t>시스템 담당자 · 일괄 승인 가능</a:t>
            </a:r>
          </a:p>
        </p:txBody>
      </p:sp>
      <p:sp>
        <p:nvSpPr>
          <p:cNvPr id="22" name="Parallelogram 21"/>
          <p:cNvSpPr/>
          <p:nvPr/>
        </p:nvSpPr>
        <p:spPr>
          <a:xfrm>
            <a:off x="5994400" y="7505700"/>
            <a:ext cx="3111500" cy="736600"/>
          </a:xfrm>
          <a:prstGeom prst="parallelogram">
            <a:avLst/>
          </a:prstGeom>
          <a:solidFill>
            <a:srgbClr val="ECFDF5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9400" rIns="279400" tIns="25400" bIns="25400"/>
          <a:lstStyle/>
          <a:p>
            <a:pPr algn="ctr"/>
            <a:r>
              <a:rPr sz="1250" b="1">
                <a:solidFill>
                  <a:srgbClr val="1E293B"/>
                </a:solidFill>
                <a:latin typeface="맑은 고딕"/>
                <a:ea typeface="맑은 고딕"/>
              </a:rPr>
              <a:t>반려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맑은 고딕"/>
                <a:ea typeface="맑은 고딕"/>
              </a:rPr>
              <a:t>사유와 함께 대기열로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맑은 고딕"/>
                <a:ea typeface="맑은 고딕"/>
              </a:rPr>
              <a:t>enrich_job (rejected)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397500" y="7874000"/>
            <a:ext cx="774700" cy="0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22900" y="7683500"/>
            <a:ext cx="546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94A3B8"/>
                </a:solidFill>
                <a:latin typeface="맑은 고딕"/>
                <a:ea typeface="맑은 고딕"/>
              </a:rPr>
              <a:t>반려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111500" y="8407400"/>
            <a:ext cx="0" cy="330200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892300" y="8502650"/>
            <a:ext cx="1143000" cy="139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맑은 고딕"/>
                <a:ea typeface="맑은 고딕"/>
              </a:rPr>
              <a:t>승인</a:t>
            </a:r>
          </a:p>
        </p:txBody>
      </p:sp>
      <p:sp>
        <p:nvSpPr>
          <p:cNvPr id="27" name="Parallelogram 26"/>
          <p:cNvSpPr/>
          <p:nvPr/>
        </p:nvSpPr>
        <p:spPr>
          <a:xfrm>
            <a:off x="825500" y="8737600"/>
            <a:ext cx="4572000" cy="762000"/>
          </a:xfrm>
          <a:prstGeom prst="parallelogram">
            <a:avLst/>
          </a:prstGeom>
          <a:solidFill>
            <a:srgbClr val="ECFDF5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9400" rIns="279400" tIns="25400" bIns="25400"/>
          <a:lstStyle/>
          <a:p>
            <a:pPr algn="ctr"/>
            <a:r>
              <a:rPr sz="1250" b="1">
                <a:solidFill>
                  <a:srgbClr val="1E293B"/>
                </a:solidFill>
                <a:latin typeface="맑은 고딕"/>
                <a:ea typeface="맑은 고딕"/>
              </a:rPr>
              <a:t>승인 반영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맑은 고딕"/>
                <a:ea typeface="맑은 고딕"/>
              </a:rPr>
              <a:t>card_status = approved · 예시 approved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맑은 고딕"/>
                <a:ea typeface="맑은 고딕"/>
              </a:rPr>
              <a:t>지표 status = active (질문에 쓰이기 시작)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111500" y="9499600"/>
            <a:ext cx="0" cy="330200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825500" y="9829800"/>
            <a:ext cx="4572000" cy="406400"/>
          </a:xfrm>
          <a:prstGeom prst="ellipse">
            <a:avLst/>
          </a:prstGeom>
          <a:solidFill>
            <a:srgbClr val="E0E7FF"/>
          </a:solidFill>
          <a:ln w="127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25400" bIns="25400"/>
          <a:lstStyle/>
          <a:p>
            <a:pPr algn="ctr"/>
            <a:r>
              <a:rPr sz="1250" b="1">
                <a:solidFill>
                  <a:srgbClr val="1E293B"/>
                </a:solidFill>
                <a:latin typeface="맑은 고딕"/>
                <a:ea typeface="맑은 고딕"/>
              </a:rPr>
              <a:t>종료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5500" y="11341100"/>
            <a:ext cx="8280400" cy="6350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25400" bIns="2540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6000" y="11442700"/>
            <a:ext cx="7899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맑은 고딕"/>
                <a:ea typeface="맑은 고딕"/>
              </a:rPr>
              <a:t>테이블 카드와 지표마다의 예시 질문을 사람이 다 쓰기는 어렵다 — 초안은 LLM, 책임은 사람. 예시 질문은 지표 이름·설명의 단어를 피하고 구어체·줄임말·다른 업무 용어를 섞는다. 평가 문항(eval_case)은 따로 만든다 — 예시 질문으로 평가하면 점수가 부풀려진다.</a:t>
            </a:r>
          </a:p>
        </p:txBody>
      </p:sp>
      <p:sp>
        <p:nvSpPr>
          <p:cNvPr id="32" name="Oval 31"/>
          <p:cNvSpPr/>
          <p:nvPr/>
        </p:nvSpPr>
        <p:spPr>
          <a:xfrm>
            <a:off x="825500" y="12179300"/>
            <a:ext cx="241300" cy="177800"/>
          </a:xfrm>
          <a:prstGeom prst="ellipse">
            <a:avLst/>
          </a:prstGeom>
          <a:solidFill>
            <a:srgbClr val="E0E7FF"/>
          </a:solidFill>
          <a:ln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7600" y="12179300"/>
            <a:ext cx="101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맑은 고딕"/>
                <a:ea typeface="맑은 고딕"/>
              </a:rPr>
              <a:t>시작 · 종료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197100" y="12179300"/>
            <a:ext cx="241300" cy="177800"/>
          </a:xfrm>
          <a:prstGeom prst="rect">
            <a:avLst/>
          </a:prstGeom>
          <a:solidFill>
            <a:srgbClr val="EFF6FF"/>
          </a:solidFill>
          <a:ln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89200" y="12179300"/>
            <a:ext cx="101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맑은 고딕"/>
                <a:ea typeface="맑은 고딕"/>
              </a:rPr>
              <a:t>처리</a:t>
            </a:r>
          </a:p>
        </p:txBody>
      </p:sp>
      <p:sp>
        <p:nvSpPr>
          <p:cNvPr id="36" name="Diamond 35"/>
          <p:cNvSpPr/>
          <p:nvPr/>
        </p:nvSpPr>
        <p:spPr>
          <a:xfrm>
            <a:off x="3568700" y="12179300"/>
            <a:ext cx="241300" cy="177800"/>
          </a:xfrm>
          <a:prstGeom prst="diamond">
            <a:avLst/>
          </a:prstGeom>
          <a:solidFill>
            <a:srgbClr val="FFFBEB"/>
          </a:solidFill>
          <a:ln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0800" y="12179300"/>
            <a:ext cx="101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맑은 고딕"/>
                <a:ea typeface="맑은 고딕"/>
              </a:rPr>
              <a:t>조건</a:t>
            </a:r>
          </a:p>
        </p:txBody>
      </p:sp>
      <p:sp>
        <p:nvSpPr>
          <p:cNvPr id="38" name="Parallelogram 37"/>
          <p:cNvSpPr/>
          <p:nvPr/>
        </p:nvSpPr>
        <p:spPr>
          <a:xfrm>
            <a:off x="4940300" y="12179300"/>
            <a:ext cx="241300" cy="177800"/>
          </a:xfrm>
          <a:prstGeom prst="parallelogram">
            <a:avLst/>
          </a:prstGeom>
          <a:solidFill>
            <a:srgbClr val="ECFDF5"/>
          </a:solidFill>
          <a:ln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32400" y="12179300"/>
            <a:ext cx="101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맑은 고딕"/>
                <a:ea typeface="맑은 고딕"/>
              </a:rPr>
              <a:t>데이터 · 입출력</a:t>
            </a:r>
          </a:p>
        </p:txBody>
      </p:sp>
      <p:sp>
        <p:nvSpPr>
          <p:cNvPr id="40" name="Parallelogram 39"/>
          <p:cNvSpPr/>
          <p:nvPr/>
        </p:nvSpPr>
        <p:spPr>
          <a:xfrm>
            <a:off x="6311900" y="12179300"/>
            <a:ext cx="241300" cy="177800"/>
          </a:xfrm>
          <a:prstGeom prst="parallelogram">
            <a:avLst/>
          </a:prstGeom>
          <a:solidFill>
            <a:srgbClr val="FEF2F2"/>
          </a:solidFill>
          <a:ln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04000" y="12179300"/>
            <a:ext cx="101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맑은 고딕"/>
                <a:ea typeface="맑은 고딕"/>
              </a:rPr>
              <a:t>실패 응답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785100" y="12179300"/>
            <a:ext cx="355600" cy="177800"/>
          </a:xfrm>
          <a:prstGeom prst="roundRect">
            <a:avLst/>
          </a:prstGeom>
          <a:solidFill>
            <a:srgbClr val="D96C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맑은 고딕"/>
                <a:ea typeface="맑은 고딕"/>
              </a:rPr>
              <a:t>NEW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610600" y="12179300"/>
            <a:ext cx="342900" cy="177800"/>
          </a:xfrm>
          <a:prstGeom prst="round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맑은 고딕"/>
                <a:ea typeface="맑은 고딕"/>
              </a:rPr>
              <a:t>변경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83500" y="12420600"/>
            <a:ext cx="1422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맑은 고딕"/>
                <a:ea typeface="맑은 고딕"/>
              </a:rPr>
              <a:t>TO-BE 에서 바뀐 단계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5500" y="571500"/>
            <a:ext cx="8280400" cy="508000"/>
          </a:xfrm>
          <a:prstGeom prst="roundRect">
            <a:avLst>
              <a:gd name="adj" fmla="val 1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맑은 고딕"/>
                <a:ea typeface="맑은 고딕"/>
              </a:rPr>
              <a:t>⑤ 질의 생성 (Query Generation)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5500" y="1168400"/>
            <a:ext cx="82804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맑은 고딕"/>
                <a:ea typeface="맑은 고딕"/>
              </a:rPr>
              <a:t>넓게 고르고 점점 좁힌다 — 단계마다 LLM 에는 그 판단에 필요한 정보만 (컨텍스트 16K)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483600" y="660400"/>
            <a:ext cx="533400" cy="203200"/>
          </a:xfrm>
          <a:prstGeom prst="roundRect">
            <a:avLst/>
          </a:prstGeom>
          <a:solidFill>
            <a:srgbClr val="D96C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TO-BE</a:t>
            </a:r>
          </a:p>
        </p:txBody>
      </p:sp>
      <p:sp>
        <p:nvSpPr>
          <p:cNvPr id="5" name="Oval 4"/>
          <p:cNvSpPr/>
          <p:nvPr/>
        </p:nvSpPr>
        <p:spPr>
          <a:xfrm>
            <a:off x="825500" y="1676400"/>
            <a:ext cx="4572000" cy="355600"/>
          </a:xfrm>
          <a:prstGeom prst="ellipse">
            <a:avLst/>
          </a:prstGeom>
          <a:solidFill>
            <a:srgbClr val="E0E7FF"/>
          </a:solidFill>
          <a:ln w="127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25400" bIns="25400"/>
          <a:lstStyle/>
          <a:p>
            <a:pPr algn="ctr"/>
            <a:r>
              <a:rPr sz="1250" b="1">
                <a:solidFill>
                  <a:srgbClr val="1E293B"/>
                </a:solidFill>
                <a:latin typeface="맑은 고딕"/>
                <a:ea typeface="맑은 고딕"/>
              </a:rPr>
              <a:t>시작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111500" y="2032000"/>
            <a:ext cx="0" cy="228600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Parallelogram 6"/>
          <p:cNvSpPr/>
          <p:nvPr/>
        </p:nvSpPr>
        <p:spPr>
          <a:xfrm>
            <a:off x="825500" y="2260600"/>
            <a:ext cx="4572000" cy="584200"/>
          </a:xfrm>
          <a:prstGeom prst="parallelogram">
            <a:avLst/>
          </a:prstGeom>
          <a:solidFill>
            <a:srgbClr val="ECFDF5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9400" rIns="279400" tIns="25400" bIns="25400"/>
          <a:lstStyle/>
          <a:p>
            <a:pPr algn="ctr"/>
            <a:r>
              <a:rPr sz="1250" b="1">
                <a:solidFill>
                  <a:srgbClr val="1E293B"/>
                </a:solidFill>
                <a:latin typeface="맑은 고딕"/>
                <a:ea typeface="맑은 고딕"/>
              </a:rPr>
              <a:t>시스템 선택 + 자연어 질문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맑은 고딕"/>
                <a:ea typeface="맑은 고딕"/>
              </a:rPr>
              <a:t>이전 질문은 전달되지 않음 — 매 요청 독립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111500" y="2844800"/>
            <a:ext cx="0" cy="228600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825500" y="3073400"/>
            <a:ext cx="4572000" cy="736600"/>
          </a:xfrm>
          <a:prstGeom prst="rect">
            <a:avLst/>
          </a:prstGeom>
          <a:solidFill>
            <a:srgbClr val="EFF6FF"/>
          </a:solidFill>
          <a:ln w="1270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25400" bIns="25400"/>
          <a:lstStyle/>
          <a:p>
            <a:pPr algn="ctr"/>
            <a:r>
              <a:rPr sz="1250" b="1">
                <a:solidFill>
                  <a:srgbClr val="1E293B"/>
                </a:solidFill>
                <a:latin typeface="맑은 고딕"/>
                <a:ea typeface="맑은 고딕"/>
              </a:rPr>
              <a:t>테이블 추론 (LLM)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맑은 고딕"/>
                <a:ea typeface="맑은 고딕"/>
              </a:rPr>
              <a:t>업무 영역 설명 + 시스템 테이블의 한 줄 요약 목록을 보고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맑은 고딕"/>
                <a:ea typeface="맑은 고딕"/>
              </a:rPr>
              <a:t>3~5개와 이유 — 놓치지 않기 우선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65700" y="3060700"/>
            <a:ext cx="355600" cy="177800"/>
          </a:xfrm>
          <a:prstGeom prst="roundRect">
            <a:avLst/>
          </a:prstGeom>
          <a:solidFill>
            <a:srgbClr val="D96C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맑은 고딕"/>
                <a:ea typeface="맑은 고딕"/>
              </a:rPr>
              <a:t>NEW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29100" y="3060700"/>
            <a:ext cx="355600" cy="17780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맑은 고딕"/>
                <a:ea typeface="맑은 고딕"/>
              </a:rPr>
              <a:t>LLM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11500" y="3810000"/>
            <a:ext cx="0" cy="228600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Diamond 12"/>
          <p:cNvSpPr/>
          <p:nvPr/>
        </p:nvSpPr>
        <p:spPr>
          <a:xfrm>
            <a:off x="825500" y="4038600"/>
            <a:ext cx="4572000" cy="787400"/>
          </a:xfrm>
          <a:prstGeom prst="diamond">
            <a:avLst/>
          </a:prstGeom>
          <a:solidFill>
            <a:srgbClr val="FFFBEB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5400" bIns="25400"/>
          <a:lstStyle/>
          <a:p>
            <a:pPr algn="ctr"/>
            <a:r>
              <a:rPr sz="1250" b="1">
                <a:solidFill>
                  <a:srgbClr val="1E293B"/>
                </a:solidFill>
                <a:latin typeface="맑은 고딕"/>
                <a:ea typeface="맑은 고딕"/>
              </a:rPr>
              <a:t>후보 테이블이 있나</a:t>
            </a:r>
          </a:p>
        </p:txBody>
      </p:sp>
      <p:sp>
        <p:nvSpPr>
          <p:cNvPr id="14" name="Parallelogram 13"/>
          <p:cNvSpPr/>
          <p:nvPr/>
        </p:nvSpPr>
        <p:spPr>
          <a:xfrm>
            <a:off x="5994400" y="4140200"/>
            <a:ext cx="3111500" cy="584200"/>
          </a:xfrm>
          <a:prstGeom prst="parallelogram">
            <a:avLst/>
          </a:prstGeom>
          <a:solidFill>
            <a:srgbClr val="FEF2F2"/>
          </a:solidFill>
          <a:ln w="1270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9400" rIns="279400" tIns="25400" bIns="25400"/>
          <a:lstStyle/>
          <a:p>
            <a:pPr algn="ctr"/>
            <a:r>
              <a:rPr sz="1250" b="1">
                <a:solidFill>
                  <a:srgbClr val="1E293B"/>
                </a:solidFill>
                <a:latin typeface="맑은 고딕"/>
                <a:ea typeface="맑은 고딕"/>
              </a:rPr>
              <a:t>되묻기</a:t>
            </a:r>
          </a:p>
          <a:p>
            <a:pPr algn="ctr"/>
            <a:r>
              <a:rPr sz="950" b="0">
                <a:solidFill>
                  <a:srgbClr val="7F1D1D"/>
                </a:solidFill>
                <a:latin typeface="맑은 고딕"/>
                <a:ea typeface="맑은 고딕"/>
              </a:rPr>
              <a:t>업무 영역 안내 + 질문 다시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97500" y="4432300"/>
            <a:ext cx="774700" cy="0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22900" y="4241800"/>
            <a:ext cx="546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94A3B8"/>
                </a:solidFill>
                <a:latin typeface="맑은 고딕"/>
                <a:ea typeface="맑은 고딕"/>
              </a:rPr>
              <a:t>없음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11500" y="4826000"/>
            <a:ext cx="0" cy="228600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892300" y="4870450"/>
            <a:ext cx="1143000" cy="139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맑은 고딕"/>
                <a:ea typeface="맑은 고딕"/>
              </a:rPr>
              <a:t>있음</a:t>
            </a:r>
          </a:p>
        </p:txBody>
      </p:sp>
      <p:sp>
        <p:nvSpPr>
          <p:cNvPr id="19" name="Parallelogram 18"/>
          <p:cNvSpPr/>
          <p:nvPr/>
        </p:nvSpPr>
        <p:spPr>
          <a:xfrm>
            <a:off x="825500" y="5054600"/>
            <a:ext cx="4572000" cy="660400"/>
          </a:xfrm>
          <a:prstGeom prst="parallelogram">
            <a:avLst/>
          </a:prstGeom>
          <a:solidFill>
            <a:srgbClr val="ECFDF5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9400" rIns="279400" tIns="25400" bIns="25400"/>
          <a:lstStyle/>
          <a:p>
            <a:pPr algn="ctr"/>
            <a:r>
              <a:rPr sz="1250" b="1">
                <a:solidFill>
                  <a:srgbClr val="1E293B"/>
                </a:solidFill>
                <a:latin typeface="맑은 고딕"/>
                <a:ea typeface="맑은 고딕"/>
              </a:rPr>
              <a:t>지표 후보 조회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맑은 고딕"/>
                <a:ea typeface="맑은 고딕"/>
              </a:rPr>
              <a:t>metric_table 로 조회 (검색 아님)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맑은 고딕"/>
                <a:ea typeface="맑은 고딕"/>
              </a:rPr>
              <a:t>조인 지표 포함 · active 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65700" y="5041900"/>
            <a:ext cx="355600" cy="177800"/>
          </a:xfrm>
          <a:prstGeom prst="roundRect">
            <a:avLst/>
          </a:prstGeom>
          <a:solidFill>
            <a:srgbClr val="D96C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맑은 고딕"/>
                <a:ea typeface="맑은 고딕"/>
              </a:rPr>
              <a:t>NEW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111500" y="5715000"/>
            <a:ext cx="0" cy="228600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5500" y="5943600"/>
            <a:ext cx="4572000" cy="711200"/>
          </a:xfrm>
          <a:prstGeom prst="rect">
            <a:avLst/>
          </a:prstGeom>
          <a:solidFill>
            <a:srgbClr val="EFF6FF"/>
          </a:solidFill>
          <a:ln w="1270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25400" bIns="25400"/>
          <a:lstStyle/>
          <a:p>
            <a:pPr algn="ctr"/>
            <a:r>
              <a:rPr sz="1250" b="1">
                <a:solidFill>
                  <a:srgbClr val="1E293B"/>
                </a:solidFill>
                <a:latin typeface="맑은 고딕"/>
                <a:ea typeface="맑은 고딕"/>
              </a:rPr>
              <a:t>지표 선택 (LLM)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맑은 고딕"/>
                <a:ea typeface="맑은 고딕"/>
              </a:rPr>
              <a:t>후보 지표의 이름 · 설명 · 예시 질문만 보고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맑은 고딕"/>
                <a:ea typeface="맑은 고딕"/>
              </a:rPr>
              <a:t>1~2개 또는 '없음'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65700" y="5930900"/>
            <a:ext cx="355600" cy="177800"/>
          </a:xfrm>
          <a:prstGeom prst="roundRect">
            <a:avLst/>
          </a:prstGeom>
          <a:solidFill>
            <a:srgbClr val="D96C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맑은 고딕"/>
                <a:ea typeface="맑은 고딕"/>
              </a:rPr>
              <a:t>NEW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29100" y="5930900"/>
            <a:ext cx="355600" cy="17780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맑은 고딕"/>
                <a:ea typeface="맑은 고딕"/>
              </a:rPr>
              <a:t>LLM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111500" y="6654800"/>
            <a:ext cx="0" cy="228600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Diamond 25"/>
          <p:cNvSpPr/>
          <p:nvPr/>
        </p:nvSpPr>
        <p:spPr>
          <a:xfrm>
            <a:off x="825500" y="6883400"/>
            <a:ext cx="4572000" cy="787400"/>
          </a:xfrm>
          <a:prstGeom prst="diamond">
            <a:avLst/>
          </a:prstGeom>
          <a:solidFill>
            <a:srgbClr val="FFFBEB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5400" bIns="25400"/>
          <a:lstStyle/>
          <a:p>
            <a:pPr algn="ctr"/>
            <a:r>
              <a:rPr sz="1250" b="1">
                <a:solidFill>
                  <a:srgbClr val="1E293B"/>
                </a:solidFill>
                <a:latin typeface="맑은 고딕"/>
                <a:ea typeface="맑은 고딕"/>
              </a:rPr>
              <a:t>고를 수 있나</a:t>
            </a:r>
          </a:p>
        </p:txBody>
      </p:sp>
      <p:sp>
        <p:nvSpPr>
          <p:cNvPr id="27" name="Parallelogram 26"/>
          <p:cNvSpPr/>
          <p:nvPr/>
        </p:nvSpPr>
        <p:spPr>
          <a:xfrm>
            <a:off x="5994400" y="6985000"/>
            <a:ext cx="3111500" cy="584200"/>
          </a:xfrm>
          <a:prstGeom prst="parallelogram">
            <a:avLst/>
          </a:prstGeom>
          <a:solidFill>
            <a:srgbClr val="FEF2F2"/>
          </a:solidFill>
          <a:ln w="1270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9400" rIns="279400" tIns="25400" bIns="25400"/>
          <a:lstStyle/>
          <a:p>
            <a:pPr algn="ctr"/>
            <a:r>
              <a:rPr sz="1250" b="1">
                <a:solidFill>
                  <a:srgbClr val="1E293B"/>
                </a:solidFill>
                <a:latin typeface="맑은 고딕"/>
                <a:ea typeface="맑은 고딕"/>
              </a:rPr>
              <a:t>되묻기</a:t>
            </a:r>
          </a:p>
          <a:p>
            <a:pPr algn="ctr"/>
            <a:r>
              <a:rPr sz="950" b="0">
                <a:solidFill>
                  <a:srgbClr val="7F1D1D"/>
                </a:solidFill>
                <a:latin typeface="맑은 고딕"/>
                <a:ea typeface="맑은 고딕"/>
              </a:rPr>
              <a:t>후보 지표 2~3개를 선택지로 제시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397500" y="7277100"/>
            <a:ext cx="774700" cy="0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422900" y="7086600"/>
            <a:ext cx="546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94A3B8"/>
                </a:solidFill>
                <a:latin typeface="맑은 고딕"/>
                <a:ea typeface="맑은 고딕"/>
              </a:rPr>
              <a:t>애매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111500" y="7670800"/>
            <a:ext cx="0" cy="228600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892300" y="7715250"/>
            <a:ext cx="1143000" cy="139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맑은 고딕"/>
                <a:ea typeface="맑은 고딕"/>
              </a:rPr>
              <a:t>확정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5500" y="7899400"/>
            <a:ext cx="4572000" cy="736600"/>
          </a:xfrm>
          <a:prstGeom prst="rect">
            <a:avLst/>
          </a:prstGeom>
          <a:solidFill>
            <a:srgbClr val="EFF6FF"/>
          </a:solidFill>
          <a:ln w="1270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25400" bIns="25400"/>
          <a:lstStyle/>
          <a:p>
            <a:pPr algn="ctr"/>
            <a:r>
              <a:rPr sz="1250" b="1">
                <a:solidFill>
                  <a:srgbClr val="1E293B"/>
                </a:solidFill>
                <a:latin typeface="맑은 고딕"/>
                <a:ea typeface="맑은 고딕"/>
              </a:rPr>
              <a:t>조회 명세 생성 (LLM)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맑은 고딕"/>
                <a:ea typeface="맑은 고딕"/>
              </a:rPr>
              <a:t>지표 있음: 고른 지표의 정의 + 필요한 컬럼 + AST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맑은 고딕"/>
                <a:ea typeface="맑은 고딕"/>
              </a:rPr>
              <a:t>지표 없음: 고른 테이블의 필요한 컬럼만 + AST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978400" y="7886700"/>
            <a:ext cx="342900" cy="177800"/>
          </a:xfrm>
          <a:prstGeom prst="round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맑은 고딕"/>
                <a:ea typeface="맑은 고딕"/>
              </a:rPr>
              <a:t>변경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29100" y="7886700"/>
            <a:ext cx="355600" cy="17780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맑은 고딕"/>
                <a:ea typeface="맑은 고딕"/>
              </a:rPr>
              <a:t>LLM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111500" y="8636000"/>
            <a:ext cx="0" cy="228600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Diamond 35"/>
          <p:cNvSpPr/>
          <p:nvPr/>
        </p:nvSpPr>
        <p:spPr>
          <a:xfrm>
            <a:off x="825500" y="8864600"/>
            <a:ext cx="4572000" cy="889000"/>
          </a:xfrm>
          <a:prstGeom prst="diamond">
            <a:avLst/>
          </a:prstGeom>
          <a:solidFill>
            <a:srgbClr val="FFFBEB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5400" bIns="25400"/>
          <a:lstStyle/>
          <a:p>
            <a:pPr algn="ctr"/>
            <a:r>
              <a:rPr sz="1250" b="1">
                <a:solidFill>
                  <a:srgbClr val="1E293B"/>
                </a:solidFill>
                <a:latin typeface="맑은 고딕"/>
                <a:ea typeface="맑은 고딕"/>
              </a:rPr>
              <a:t>컴파일 &amp; 검증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맑은 고딕"/>
                <a:ea typeface="맑은 고딕"/>
              </a:rPr>
              <a:t>화이트리스트 · 지표 전개 · 날짜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94400" y="8978900"/>
            <a:ext cx="3111500" cy="6604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25400" bIns="25400"/>
          <a:lstStyle/>
          <a:p>
            <a:pPr algn="ctr"/>
            <a:r>
              <a:rPr sz="1050" b="1">
                <a:solidFill>
                  <a:srgbClr val="1E293B"/>
                </a:solidFill>
                <a:latin typeface="맑은 고딕"/>
                <a:ea typeface="맑은 고딕"/>
              </a:rPr>
              <a:t>재시도 (최대 4회)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맑은 고딕"/>
                <a:ea typeface="맑은 고딕"/>
              </a:rPr>
              <a:t>오류 메시지가 다음 시도의 프롬프트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맑은 고딕"/>
                <a:ea typeface="맑은 고딕"/>
              </a:rPr>
              <a:t>(기존 유지)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397500" y="9309100"/>
            <a:ext cx="596900" cy="0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422900" y="9118600"/>
            <a:ext cx="546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94A3B8"/>
                </a:solidFill>
                <a:latin typeface="맑은 고딕"/>
                <a:ea typeface="맑은 고딕"/>
              </a:rPr>
              <a:t>실패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3111500" y="9753600"/>
            <a:ext cx="0" cy="228600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892300" y="9798050"/>
            <a:ext cx="1143000" cy="139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맑은 고딕"/>
                <a:ea typeface="맑은 고딕"/>
              </a:rPr>
              <a:t>성공</a:t>
            </a:r>
          </a:p>
        </p:txBody>
      </p:sp>
      <p:sp>
        <p:nvSpPr>
          <p:cNvPr id="42" name="Parallelogram 41"/>
          <p:cNvSpPr/>
          <p:nvPr/>
        </p:nvSpPr>
        <p:spPr>
          <a:xfrm>
            <a:off x="825500" y="9982200"/>
            <a:ext cx="4572000" cy="584200"/>
          </a:xfrm>
          <a:prstGeom prst="parallelogram">
            <a:avLst/>
          </a:prstGeom>
          <a:solidFill>
            <a:srgbClr val="ECFDF5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9400" rIns="279400" tIns="25400" bIns="25400"/>
          <a:lstStyle/>
          <a:p>
            <a:pPr algn="ctr"/>
            <a:r>
              <a:rPr sz="1250" b="1">
                <a:solidFill>
                  <a:srgbClr val="1E293B"/>
                </a:solidFill>
                <a:latin typeface="맑은 고딕"/>
                <a:ea typeface="맑은 고딕"/>
              </a:rPr>
              <a:t>SQL 반환 + 단계 기록</a:t>
            </a:r>
          </a:p>
          <a:p>
            <a:pPr algn="ctr"/>
            <a:r>
              <a:rPr sz="950" b="0">
                <a:solidFill>
                  <a:srgbClr val="64748B"/>
                </a:solidFill>
                <a:latin typeface="맑은 고딕"/>
                <a:ea typeface="맑은 고딕"/>
              </a:rPr>
              <a:t>ask_log · ask_trace (단계별 후보·선택·이유·토큰)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965700" y="9969500"/>
            <a:ext cx="355600" cy="177800"/>
          </a:xfrm>
          <a:prstGeom prst="roundRect">
            <a:avLst/>
          </a:prstGeom>
          <a:solidFill>
            <a:srgbClr val="D96C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맑은 고딕"/>
                <a:ea typeface="맑은 고딕"/>
              </a:rPr>
              <a:t>NEW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3111500" y="10566400"/>
            <a:ext cx="0" cy="228600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825500" y="10795000"/>
            <a:ext cx="4572000" cy="355600"/>
          </a:xfrm>
          <a:prstGeom prst="ellipse">
            <a:avLst/>
          </a:prstGeom>
          <a:solidFill>
            <a:srgbClr val="E0E7FF"/>
          </a:solidFill>
          <a:ln w="1270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25400" bIns="25400"/>
          <a:lstStyle/>
          <a:p>
            <a:pPr algn="ctr"/>
            <a:r>
              <a:rPr sz="1250" b="1">
                <a:solidFill>
                  <a:srgbClr val="1E293B"/>
                </a:solidFill>
                <a:latin typeface="맑은 고딕"/>
                <a:ea typeface="맑은 고딕"/>
              </a:rPr>
              <a:t>종료</a:t>
            </a:r>
          </a:p>
        </p:txBody>
      </p:sp>
      <p:cxnSp>
        <p:nvCxnSpPr>
          <p:cNvPr id="46" name="Connector 45"/>
          <p:cNvCxnSpPr/>
          <p:nvPr/>
        </p:nvCxnSpPr>
        <p:spPr>
          <a:xfrm flipH="1">
            <a:off x="444500" y="9309100"/>
            <a:ext cx="381000" cy="0"/>
          </a:xfrm>
          <a:prstGeom prst="line">
            <a:avLst/>
          </a:prstGeom>
          <a:ln w="1397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4500" y="8267700"/>
            <a:ext cx="0" cy="1041400"/>
          </a:xfrm>
          <a:prstGeom prst="line">
            <a:avLst/>
          </a:prstGeom>
          <a:ln w="1397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444500" y="8267700"/>
            <a:ext cx="381000" cy="0"/>
          </a:xfrm>
          <a:prstGeom prst="line">
            <a:avLst/>
          </a:prstGeom>
          <a:ln w="1397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 rot="16200000">
            <a:off x="-342900" y="8699500"/>
            <a:ext cx="13716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94A3B8"/>
                </a:solidFill>
                <a:latin typeface="맑은 고딕"/>
                <a:ea typeface="맑은 고딕"/>
              </a:rPr>
              <a:t>수정 후 재시도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25500" y="11493500"/>
            <a:ext cx="8280400" cy="5334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25400" bIns="2540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16000" y="11595100"/>
            <a:ext cx="7899400" cy="355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맑은 고딕"/>
                <a:ea typeface="맑은 고딕"/>
              </a:rPr>
              <a:t>AS-IS 와 RAG 방식은 지표 전체를 한 번에 검색(TF-IDF·임베딩)한다. TO-BE 는 시스템 → 테이블 → 지표 순으로 범위를 좁히고, 각 단계의 판단을 LLM 이 한다. ② 테이블 추론에서 놓친 테이블은 뒤에서 되살릴 수 없으므로 넉넉히 고른다.</a:t>
            </a:r>
          </a:p>
        </p:txBody>
      </p:sp>
      <p:sp>
        <p:nvSpPr>
          <p:cNvPr id="52" name="Oval 51"/>
          <p:cNvSpPr/>
          <p:nvPr/>
        </p:nvSpPr>
        <p:spPr>
          <a:xfrm>
            <a:off x="825500" y="12179300"/>
            <a:ext cx="241300" cy="177800"/>
          </a:xfrm>
          <a:prstGeom prst="ellipse">
            <a:avLst/>
          </a:prstGeom>
          <a:solidFill>
            <a:srgbClr val="E0E7FF"/>
          </a:solidFill>
          <a:ln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17600" y="12179300"/>
            <a:ext cx="101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맑은 고딕"/>
                <a:ea typeface="맑은 고딕"/>
              </a:rPr>
              <a:t>시작 · 종료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197100" y="12179300"/>
            <a:ext cx="241300" cy="177800"/>
          </a:xfrm>
          <a:prstGeom prst="rect">
            <a:avLst/>
          </a:prstGeom>
          <a:solidFill>
            <a:srgbClr val="EFF6FF"/>
          </a:solidFill>
          <a:ln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89200" y="12179300"/>
            <a:ext cx="101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맑은 고딕"/>
                <a:ea typeface="맑은 고딕"/>
              </a:rPr>
              <a:t>처리</a:t>
            </a:r>
          </a:p>
        </p:txBody>
      </p:sp>
      <p:sp>
        <p:nvSpPr>
          <p:cNvPr id="56" name="Diamond 55"/>
          <p:cNvSpPr/>
          <p:nvPr/>
        </p:nvSpPr>
        <p:spPr>
          <a:xfrm>
            <a:off x="3568700" y="12179300"/>
            <a:ext cx="241300" cy="177800"/>
          </a:xfrm>
          <a:prstGeom prst="diamond">
            <a:avLst/>
          </a:prstGeom>
          <a:solidFill>
            <a:srgbClr val="FFFBEB"/>
          </a:solidFill>
          <a:ln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860800" y="12179300"/>
            <a:ext cx="101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맑은 고딕"/>
                <a:ea typeface="맑은 고딕"/>
              </a:rPr>
              <a:t>조건</a:t>
            </a:r>
          </a:p>
        </p:txBody>
      </p:sp>
      <p:sp>
        <p:nvSpPr>
          <p:cNvPr id="58" name="Parallelogram 57"/>
          <p:cNvSpPr/>
          <p:nvPr/>
        </p:nvSpPr>
        <p:spPr>
          <a:xfrm>
            <a:off x="4940300" y="12179300"/>
            <a:ext cx="241300" cy="177800"/>
          </a:xfrm>
          <a:prstGeom prst="parallelogram">
            <a:avLst/>
          </a:prstGeom>
          <a:solidFill>
            <a:srgbClr val="ECFDF5"/>
          </a:solidFill>
          <a:ln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232400" y="12179300"/>
            <a:ext cx="101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맑은 고딕"/>
                <a:ea typeface="맑은 고딕"/>
              </a:rPr>
              <a:t>데이터 · 입출력</a:t>
            </a:r>
          </a:p>
        </p:txBody>
      </p:sp>
      <p:sp>
        <p:nvSpPr>
          <p:cNvPr id="60" name="Parallelogram 59"/>
          <p:cNvSpPr/>
          <p:nvPr/>
        </p:nvSpPr>
        <p:spPr>
          <a:xfrm>
            <a:off x="6311900" y="12179300"/>
            <a:ext cx="241300" cy="177800"/>
          </a:xfrm>
          <a:prstGeom prst="parallelogram">
            <a:avLst/>
          </a:prstGeom>
          <a:solidFill>
            <a:srgbClr val="FEF2F2"/>
          </a:solidFill>
          <a:ln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604000" y="12179300"/>
            <a:ext cx="101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맑은 고딕"/>
                <a:ea typeface="맑은 고딕"/>
              </a:rPr>
              <a:t>실패 응답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785100" y="12179300"/>
            <a:ext cx="355600" cy="177800"/>
          </a:xfrm>
          <a:prstGeom prst="roundRect">
            <a:avLst/>
          </a:prstGeom>
          <a:solidFill>
            <a:srgbClr val="D96C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맑은 고딕"/>
                <a:ea typeface="맑은 고딕"/>
              </a:rPr>
              <a:t>NEW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610600" y="12179300"/>
            <a:ext cx="342900" cy="177800"/>
          </a:xfrm>
          <a:prstGeom prst="round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맑은 고딕"/>
                <a:ea typeface="맑은 고딕"/>
              </a:rPr>
              <a:t>변경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3500" y="12420600"/>
            <a:ext cx="1422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맑은 고딕"/>
                <a:ea typeface="맑은 고딕"/>
              </a:rPr>
              <a:t>TO-BE 에서 바뀐 단계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