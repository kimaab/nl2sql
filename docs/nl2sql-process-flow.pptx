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7" r:id="rId2"/>
    <p:sldId id="258" r:id="rId3"/>
  </p:sldIdLst>
  <p:sldSz cx="9144000" cy="1625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914" y="-4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34E445-81D5-428B-95EB-C0E7CE50D19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2ECC5F-CB67-4900-9651-FC445C3184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2333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60416"/>
            <a:ext cx="7772400" cy="565949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8538164"/>
            <a:ext cx="6858000" cy="392476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0846-F206-4533-A531-30BE6757C37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A604-3AB0-4A55-B211-289807100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1970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0846-F206-4533-A531-30BE6757C37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A604-3AB0-4A55-B211-289807100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045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4052716"/>
            <a:ext cx="7886700" cy="676204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10878731"/>
            <a:ext cx="7886700" cy="35559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0846-F206-4533-A531-30BE6757C37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A604-3AB0-4A55-B211-289807100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25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4327407"/>
            <a:ext cx="3886200" cy="103142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4327407"/>
            <a:ext cx="3886200" cy="103142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0846-F206-4533-A531-30BE6757C37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A604-3AB0-4A55-B211-289807100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506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865485"/>
            <a:ext cx="7886700" cy="314207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3984979"/>
            <a:ext cx="3868340" cy="19529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5937956"/>
            <a:ext cx="3868340" cy="87338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3984979"/>
            <a:ext cx="3887391" cy="19529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5937956"/>
            <a:ext cx="3887391" cy="87338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0846-F206-4533-A531-30BE6757C37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A604-3AB0-4A55-B211-289807100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086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0846-F206-4533-A531-30BE6757C37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A604-3AB0-4A55-B211-289807100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79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0846-F206-4533-A531-30BE6757C37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A604-3AB0-4A55-B211-289807100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097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083733"/>
            <a:ext cx="2949178" cy="379306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2340567"/>
            <a:ext cx="4629150" cy="115522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876800"/>
            <a:ext cx="2949178" cy="90348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0846-F206-4533-A531-30BE6757C37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A604-3AB0-4A55-B211-289807100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762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083733"/>
            <a:ext cx="2949178" cy="379306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2340567"/>
            <a:ext cx="4629150" cy="11552296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876800"/>
            <a:ext cx="2949178" cy="90348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0846-F206-4533-A531-30BE6757C37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A604-3AB0-4A55-B211-289807100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4716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0846-F206-4533-A531-30BE6757C37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A604-3AB0-4A55-B211-289807100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58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865481"/>
            <a:ext cx="1971675" cy="1377620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865481"/>
            <a:ext cx="5800725" cy="1377620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0846-F206-4533-A531-30BE6757C37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A604-3AB0-4A55-B211-289807100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371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865485"/>
            <a:ext cx="7886700" cy="3142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4327407"/>
            <a:ext cx="7886700" cy="10314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15066908"/>
            <a:ext cx="20574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A80846-F206-4533-A531-30BE6757C37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15066908"/>
            <a:ext cx="30861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15066908"/>
            <a:ext cx="20574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56A604-3AB0-4A55-B211-289807100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91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D70F8EF-EFB1-EAF7-5565-14D638882560}"/>
              </a:ext>
            </a:extLst>
          </p:cNvPr>
          <p:cNvSpPr txBox="1"/>
          <p:nvPr/>
        </p:nvSpPr>
        <p:spPr>
          <a:xfrm>
            <a:off x="527309" y="530372"/>
            <a:ext cx="1571625" cy="19915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94" b="1" dirty="0">
                <a:latin typeface="+mn-ea"/>
              </a:rPr>
              <a:t>지표 등록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D3699C-B114-D398-C3E2-EEAF318442EA}"/>
              </a:ext>
            </a:extLst>
          </p:cNvPr>
          <p:cNvSpPr/>
          <p:nvPr/>
        </p:nvSpPr>
        <p:spPr>
          <a:xfrm>
            <a:off x="527309" y="1123138"/>
            <a:ext cx="1500188" cy="557213"/>
          </a:xfrm>
          <a:prstGeom prst="rect">
            <a:avLst/>
          </a:prstGeom>
          <a:solidFill>
            <a:schemeClr val="accent6"/>
          </a:solidFill>
          <a:ln w="1651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지표 등록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5E276AF-A5AB-255D-16DC-2E8FD2A9C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21" y="2073961"/>
            <a:ext cx="3845768" cy="274569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6DB7675-2D43-2AA8-C8D9-BF413C98C843}"/>
              </a:ext>
            </a:extLst>
          </p:cNvPr>
          <p:cNvSpPr txBox="1"/>
          <p:nvPr/>
        </p:nvSpPr>
        <p:spPr>
          <a:xfrm>
            <a:off x="3019425" y="2073961"/>
            <a:ext cx="1048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ighlight>
                  <a:srgbClr val="008000"/>
                </a:highlight>
              </a:rPr>
              <a:t>Measure</a:t>
            </a:r>
            <a:endParaRPr lang="ko-KR" altLang="en-US" dirty="0">
              <a:highlight>
                <a:srgbClr val="008000"/>
              </a:highlight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06FE1EB-FD1C-8B73-90B6-7E55A1E64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457" y="2074255"/>
            <a:ext cx="3589477" cy="274539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41CEB5D-5290-C6FA-442A-89CE1F4FB9C9}"/>
              </a:ext>
            </a:extLst>
          </p:cNvPr>
          <p:cNvSpPr txBox="1"/>
          <p:nvPr/>
        </p:nvSpPr>
        <p:spPr>
          <a:xfrm>
            <a:off x="7505260" y="2073961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dirty="0" err="1">
                <a:highlight>
                  <a:srgbClr val="008000"/>
                </a:highlight>
              </a:rPr>
              <a:t>Dimension</a:t>
            </a:r>
            <a:endParaRPr lang="ko-KR" altLang="en-US" dirty="0">
              <a:highlight>
                <a:srgbClr val="008000"/>
              </a:highlight>
            </a:endParaRPr>
          </a:p>
        </p:txBody>
      </p:sp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33B8BF5A-E4C3-41C2-8273-9E3F2C54E66F}"/>
              </a:ext>
            </a:extLst>
          </p:cNvPr>
          <p:cNvSpPr/>
          <p:nvPr/>
        </p:nvSpPr>
        <p:spPr>
          <a:xfrm>
            <a:off x="1277403" y="1680351"/>
            <a:ext cx="484632" cy="369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3209B05-E605-E85C-2AE3-2A50EC40BCD9}"/>
              </a:ext>
            </a:extLst>
          </p:cNvPr>
          <p:cNvSpPr/>
          <p:nvPr/>
        </p:nvSpPr>
        <p:spPr>
          <a:xfrm>
            <a:off x="509021" y="6573043"/>
            <a:ext cx="2234179" cy="2523331"/>
          </a:xfrm>
          <a:prstGeom prst="rect">
            <a:avLst/>
          </a:prstGeom>
          <a:solidFill>
            <a:srgbClr val="FFFFFF"/>
          </a:solidFill>
          <a:ln w="16510">
            <a:solidFill>
              <a:srgbClr val="246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9AE85E-5510-1830-8011-7F6F6C502E90}"/>
              </a:ext>
            </a:extLst>
          </p:cNvPr>
          <p:cNvSpPr txBox="1"/>
          <p:nvPr/>
        </p:nvSpPr>
        <p:spPr>
          <a:xfrm>
            <a:off x="580457" y="6673056"/>
            <a:ext cx="2392337" cy="19915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94" b="1" dirty="0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질문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E94219-FD7F-5E20-B1B0-7418B6F86A41}"/>
              </a:ext>
            </a:extLst>
          </p:cNvPr>
          <p:cNvSpPr txBox="1"/>
          <p:nvPr/>
        </p:nvSpPr>
        <p:spPr>
          <a:xfrm>
            <a:off x="566171" y="7023100"/>
            <a:ext cx="2035585" cy="2941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56" dirty="0">
                <a:solidFill>
                  <a:srgbClr val="5264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“2026</a:t>
            </a:r>
            <a:r>
              <a:rPr lang="ko-KR" altLang="en-US" sz="956" dirty="0">
                <a:solidFill>
                  <a:srgbClr val="5264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56" dirty="0">
                <a:solidFill>
                  <a:srgbClr val="5264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ko-KR" altLang="en-US" sz="956" dirty="0">
                <a:solidFill>
                  <a:srgbClr val="5264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기준 </a:t>
            </a:r>
            <a:r>
              <a:rPr lang="en-US" altLang="ko-KR" sz="956" dirty="0">
                <a:solidFill>
                  <a:srgbClr val="5264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xxx </a:t>
            </a:r>
            <a:r>
              <a:rPr lang="ko-KR" altLang="en-US" sz="956" dirty="0">
                <a:solidFill>
                  <a:srgbClr val="5264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차량 차량상태 일별로</a:t>
            </a:r>
            <a:r>
              <a:rPr lang="en-US" altLang="ko-KR" sz="956" dirty="0">
                <a:solidFill>
                  <a:srgbClr val="5264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” </a:t>
            </a:r>
            <a:r>
              <a:rPr lang="ko-KR" altLang="en-US" sz="956" dirty="0">
                <a:solidFill>
                  <a:srgbClr val="5264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5AE1E14-0C16-5BCF-A341-28CA4AB6CF51}"/>
              </a:ext>
            </a:extLst>
          </p:cNvPr>
          <p:cNvSpPr/>
          <p:nvPr/>
        </p:nvSpPr>
        <p:spPr>
          <a:xfrm>
            <a:off x="509021" y="5317312"/>
            <a:ext cx="1500188" cy="557213"/>
          </a:xfrm>
          <a:prstGeom prst="rect">
            <a:avLst/>
          </a:prstGeom>
          <a:solidFill>
            <a:schemeClr val="accent6"/>
          </a:solidFill>
          <a:ln w="1651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SQL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생성 요청</a:t>
            </a:r>
          </a:p>
        </p:txBody>
      </p:sp>
      <p:sp>
        <p:nvSpPr>
          <p:cNvPr id="29" name="화살표: 아래쪽 28">
            <a:extLst>
              <a:ext uri="{FF2B5EF4-FFF2-40B4-BE49-F238E27FC236}">
                <a16:creationId xmlns:a16="http://schemas.microsoft.com/office/drawing/2014/main" id="{1D003FBE-B9C1-3FEA-8929-FD02112F99E3}"/>
              </a:ext>
            </a:extLst>
          </p:cNvPr>
          <p:cNvSpPr/>
          <p:nvPr/>
        </p:nvSpPr>
        <p:spPr>
          <a:xfrm>
            <a:off x="1287018" y="6002853"/>
            <a:ext cx="484632" cy="369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CDD6CE7-3083-D591-069D-9353D11A08E0}"/>
              </a:ext>
            </a:extLst>
          </p:cNvPr>
          <p:cNvSpPr/>
          <p:nvPr/>
        </p:nvSpPr>
        <p:spPr>
          <a:xfrm>
            <a:off x="3347472" y="6573043"/>
            <a:ext cx="2234180" cy="2523331"/>
          </a:xfrm>
          <a:prstGeom prst="rect">
            <a:avLst/>
          </a:prstGeom>
          <a:solidFill>
            <a:srgbClr val="FFFFFF"/>
          </a:solidFill>
          <a:ln w="16510">
            <a:solidFill>
              <a:srgbClr val="246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11A393-424C-BCAE-1AB8-8264EDB303A0}"/>
              </a:ext>
            </a:extLst>
          </p:cNvPr>
          <p:cNvSpPr txBox="1"/>
          <p:nvPr/>
        </p:nvSpPr>
        <p:spPr>
          <a:xfrm>
            <a:off x="3418908" y="6673056"/>
            <a:ext cx="1985938" cy="19915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94" b="1" dirty="0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토큰화 </a:t>
            </a:r>
            <a:r>
              <a:rPr lang="en-US" altLang="ko-KR" sz="1294" b="1" dirty="0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(2-gram)</a:t>
            </a:r>
            <a:endParaRPr lang="ko-KR" altLang="en-US" sz="1294" b="1" dirty="0">
              <a:solidFill>
                <a:srgbClr val="2463A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695E4CB-8EBA-415E-B978-6B981FFEBDA2}"/>
              </a:ext>
            </a:extLst>
          </p:cNvPr>
          <p:cNvSpPr txBox="1"/>
          <p:nvPr/>
        </p:nvSpPr>
        <p:spPr>
          <a:xfrm>
            <a:off x="3404621" y="7023100"/>
            <a:ext cx="1281679" cy="17650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56">
                <a:solidFill>
                  <a:srgbClr val="526477"/>
                </a:solidFill>
                <a:latin typeface="맑은 고딕" panose="020B0503020000020004" pitchFamily="50" charset="-127"/>
              </a:rPr>
              <a:t>2026,</a:t>
            </a:r>
          </a:p>
          <a:p>
            <a:r>
              <a:rPr lang="ko-KR" altLang="en-US" sz="956">
                <a:solidFill>
                  <a:srgbClr val="526477"/>
                </a:solidFill>
                <a:latin typeface="맑은 고딕" panose="020B0503020000020004" pitchFamily="50" charset="-127"/>
              </a:rPr>
              <a:t>년</a:t>
            </a:r>
            <a:r>
              <a:rPr lang="en-US" altLang="ko-KR" sz="956">
                <a:solidFill>
                  <a:srgbClr val="526477"/>
                </a:solidFill>
                <a:latin typeface="맑은 고딕" panose="020B0503020000020004" pitchFamily="50" charset="-127"/>
              </a:rPr>
              <a:t>,</a:t>
            </a:r>
          </a:p>
          <a:p>
            <a:r>
              <a:rPr lang="en-US" altLang="ko-KR" sz="956">
                <a:solidFill>
                  <a:srgbClr val="526477"/>
                </a:solidFill>
                <a:latin typeface="맑은 고딕" panose="020B0503020000020004" pitchFamily="50" charset="-127"/>
              </a:rPr>
              <a:t>7,</a:t>
            </a:r>
          </a:p>
          <a:p>
            <a:r>
              <a:rPr lang="ko-KR" altLang="en-US" sz="956">
                <a:solidFill>
                  <a:srgbClr val="526477"/>
                </a:solidFill>
                <a:latin typeface="맑은 고딕" panose="020B0503020000020004" pitchFamily="50" charset="-127"/>
              </a:rPr>
              <a:t>월</a:t>
            </a:r>
            <a:r>
              <a:rPr lang="en-US" altLang="ko-KR" sz="956">
                <a:solidFill>
                  <a:srgbClr val="526477"/>
                </a:solidFill>
                <a:latin typeface="맑은 고딕" panose="020B0503020000020004" pitchFamily="50" charset="-127"/>
              </a:rPr>
              <a:t>,</a:t>
            </a:r>
          </a:p>
          <a:p>
            <a:r>
              <a:rPr lang="ko-KR" altLang="en-US" sz="956">
                <a:solidFill>
                  <a:srgbClr val="526477"/>
                </a:solidFill>
                <a:latin typeface="맑은 고딕" panose="020B0503020000020004" pitchFamily="50" charset="-127"/>
              </a:rPr>
              <a:t>기준</a:t>
            </a:r>
            <a:r>
              <a:rPr lang="en-US" altLang="ko-KR" sz="956">
                <a:solidFill>
                  <a:srgbClr val="526477"/>
                </a:solidFill>
                <a:latin typeface="맑은 고딕" panose="020B0503020000020004" pitchFamily="50" charset="-127"/>
              </a:rPr>
              <a:t>,</a:t>
            </a:r>
          </a:p>
          <a:p>
            <a:r>
              <a:rPr lang="en-US" altLang="ko-KR" sz="956">
                <a:solidFill>
                  <a:srgbClr val="526477"/>
                </a:solidFill>
                <a:latin typeface="맑은 고딕" panose="020B0503020000020004" pitchFamily="50" charset="-127"/>
              </a:rPr>
              <a:t>xxx,</a:t>
            </a:r>
          </a:p>
          <a:p>
            <a:r>
              <a:rPr lang="ko-KR" altLang="en-US" sz="956">
                <a:solidFill>
                  <a:srgbClr val="526477"/>
                </a:solidFill>
                <a:latin typeface="맑은 고딕" panose="020B0503020000020004" pitchFamily="50" charset="-127"/>
              </a:rPr>
              <a:t>차량</a:t>
            </a:r>
            <a:r>
              <a:rPr lang="en-US" altLang="ko-KR" sz="956">
                <a:solidFill>
                  <a:srgbClr val="526477"/>
                </a:solidFill>
                <a:latin typeface="맑은 고딕" panose="020B0503020000020004" pitchFamily="50" charset="-127"/>
              </a:rPr>
              <a:t>,</a:t>
            </a:r>
          </a:p>
          <a:p>
            <a:r>
              <a:rPr lang="ko-KR" altLang="en-US" sz="956">
                <a:solidFill>
                  <a:srgbClr val="526477"/>
                </a:solidFill>
                <a:latin typeface="맑은 고딕" panose="020B0503020000020004" pitchFamily="50" charset="-127"/>
              </a:rPr>
              <a:t>차량</a:t>
            </a:r>
            <a:r>
              <a:rPr lang="en-US" altLang="ko-KR" sz="956">
                <a:solidFill>
                  <a:srgbClr val="526477"/>
                </a:solidFill>
                <a:latin typeface="맑은 고딕" panose="020B0503020000020004" pitchFamily="50" charset="-127"/>
              </a:rPr>
              <a:t>,</a:t>
            </a:r>
          </a:p>
          <a:p>
            <a:r>
              <a:rPr lang="ko-KR" altLang="en-US" sz="956">
                <a:solidFill>
                  <a:srgbClr val="526477"/>
                </a:solidFill>
                <a:latin typeface="맑은 고딕" panose="020B0503020000020004" pitchFamily="50" charset="-127"/>
              </a:rPr>
              <a:t>량상</a:t>
            </a:r>
            <a:r>
              <a:rPr lang="en-US" altLang="ko-KR" sz="956">
                <a:solidFill>
                  <a:srgbClr val="526477"/>
                </a:solidFill>
                <a:latin typeface="맑은 고딕" panose="020B0503020000020004" pitchFamily="50" charset="-127"/>
              </a:rPr>
              <a:t>,</a:t>
            </a:r>
          </a:p>
          <a:p>
            <a:r>
              <a:rPr lang="ko-KR" altLang="en-US" sz="956">
                <a:solidFill>
                  <a:srgbClr val="526477"/>
                </a:solidFill>
                <a:latin typeface="맑은 고딕" panose="020B0503020000020004" pitchFamily="50" charset="-127"/>
              </a:rPr>
              <a:t>상태</a:t>
            </a:r>
            <a:r>
              <a:rPr lang="en-US" altLang="ko-KR" sz="956">
                <a:solidFill>
                  <a:srgbClr val="526477"/>
                </a:solidFill>
                <a:latin typeface="맑은 고딕" panose="020B0503020000020004" pitchFamily="50" charset="-127"/>
              </a:rPr>
              <a:t>,</a:t>
            </a:r>
          </a:p>
          <a:p>
            <a:r>
              <a:rPr lang="ko-KR" altLang="en-US" sz="956">
                <a:solidFill>
                  <a:srgbClr val="526477"/>
                </a:solidFill>
                <a:latin typeface="맑은 고딕" panose="020B0503020000020004" pitchFamily="50" charset="-127"/>
              </a:rPr>
              <a:t>일별</a:t>
            </a:r>
            <a:r>
              <a:rPr lang="en-US" altLang="ko-KR" sz="956">
                <a:solidFill>
                  <a:srgbClr val="526477"/>
                </a:solidFill>
                <a:latin typeface="맑은 고딕" panose="020B0503020000020004" pitchFamily="50" charset="-127"/>
              </a:rPr>
              <a:t>,</a:t>
            </a:r>
          </a:p>
          <a:p>
            <a:r>
              <a:rPr lang="ko-KR" altLang="en-US" sz="956">
                <a:solidFill>
                  <a:srgbClr val="526477"/>
                </a:solidFill>
                <a:latin typeface="맑은 고딕" panose="020B0503020000020004" pitchFamily="50" charset="-127"/>
              </a:rPr>
              <a:t>별로</a:t>
            </a:r>
            <a:endParaRPr lang="ko-KR" altLang="en-US" sz="956" dirty="0">
              <a:solidFill>
                <a:srgbClr val="5264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화살표: 아래쪽 37">
            <a:extLst>
              <a:ext uri="{FF2B5EF4-FFF2-40B4-BE49-F238E27FC236}">
                <a16:creationId xmlns:a16="http://schemas.microsoft.com/office/drawing/2014/main" id="{7FD5243A-D964-545B-8567-A53A92A4AA58}"/>
              </a:ext>
            </a:extLst>
          </p:cNvPr>
          <p:cNvSpPr/>
          <p:nvPr/>
        </p:nvSpPr>
        <p:spPr>
          <a:xfrm rot="16200000">
            <a:off x="2796658" y="7650041"/>
            <a:ext cx="484632" cy="369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화살표: 아래쪽 39">
            <a:extLst>
              <a:ext uri="{FF2B5EF4-FFF2-40B4-BE49-F238E27FC236}">
                <a16:creationId xmlns:a16="http://schemas.microsoft.com/office/drawing/2014/main" id="{BE4ACBEC-A210-EE35-FD00-11E04B5D1F70}"/>
              </a:ext>
            </a:extLst>
          </p:cNvPr>
          <p:cNvSpPr/>
          <p:nvPr/>
        </p:nvSpPr>
        <p:spPr>
          <a:xfrm rot="16200000">
            <a:off x="5851056" y="7650040"/>
            <a:ext cx="484632" cy="369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AD3F59B-FA47-04E2-5A69-BE970AAB9B75}"/>
              </a:ext>
            </a:extLst>
          </p:cNvPr>
          <p:cNvSpPr/>
          <p:nvPr/>
        </p:nvSpPr>
        <p:spPr>
          <a:xfrm>
            <a:off x="3392635" y="8166100"/>
            <a:ext cx="250667" cy="188656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900E726-C9B1-1421-63AA-4E49749BCA5C}"/>
              </a:ext>
            </a:extLst>
          </p:cNvPr>
          <p:cNvSpPr/>
          <p:nvPr/>
        </p:nvSpPr>
        <p:spPr>
          <a:xfrm>
            <a:off x="3392634" y="8318500"/>
            <a:ext cx="250667" cy="188656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94F736D8-A605-9813-A3BB-869398CD6BDB}"/>
              </a:ext>
            </a:extLst>
          </p:cNvPr>
          <p:cNvGrpSpPr/>
          <p:nvPr/>
        </p:nvGrpSpPr>
        <p:grpSpPr>
          <a:xfrm>
            <a:off x="6481754" y="6573043"/>
            <a:ext cx="2234180" cy="2523331"/>
            <a:chOff x="6481754" y="6573043"/>
            <a:chExt cx="2234180" cy="2523331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41414E81-DEB2-FF14-2FE9-DB97FC6B0347}"/>
                </a:ext>
              </a:extLst>
            </p:cNvPr>
            <p:cNvSpPr/>
            <p:nvPr/>
          </p:nvSpPr>
          <p:spPr>
            <a:xfrm>
              <a:off x="6481754" y="6573043"/>
              <a:ext cx="2234180" cy="2523331"/>
            </a:xfrm>
            <a:prstGeom prst="rect">
              <a:avLst/>
            </a:prstGeom>
            <a:solidFill>
              <a:srgbClr val="FFFFFF"/>
            </a:solidFill>
            <a:ln w="16510">
              <a:solidFill>
                <a:srgbClr val="2463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F31D43F-6A8B-3693-48CE-133CEA2327FA}"/>
                </a:ext>
              </a:extLst>
            </p:cNvPr>
            <p:cNvSpPr txBox="1"/>
            <p:nvPr/>
          </p:nvSpPr>
          <p:spPr>
            <a:xfrm>
              <a:off x="6553190" y="6673056"/>
              <a:ext cx="1985938" cy="19915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 algn="ctr"/>
              <a:r>
                <a:rPr lang="en-US" altLang="ko-KR" sz="1294" b="1" dirty="0">
                  <a:solidFill>
                    <a:srgbClr val="2463A6"/>
                  </a:solidFill>
                  <a:latin typeface="맑은 고딕" panose="020B0503020000020004" pitchFamily="50" charset="-127"/>
                </a:rPr>
                <a:t>TF-IDF(Pruner</a:t>
              </a:r>
              <a:r>
                <a:rPr lang="ko-KR" altLang="en-US" sz="1294" b="1" dirty="0">
                  <a:solidFill>
                    <a:srgbClr val="2463A6"/>
                  </a:solidFill>
                  <a:latin typeface="맑은 고딕" panose="020B0503020000020004" pitchFamily="50" charset="-127"/>
                </a:rPr>
                <a:t>생성</a:t>
              </a:r>
              <a:r>
                <a:rPr lang="en-US" altLang="ko-KR" sz="1294" b="1" dirty="0">
                  <a:solidFill>
                    <a:srgbClr val="2463A6"/>
                  </a:solidFill>
                  <a:latin typeface="맑은 고딕" panose="020B0503020000020004" pitchFamily="50" charset="-127"/>
                </a:rPr>
                <a:t>)</a:t>
              </a:r>
              <a:endParaRPr lang="ko-KR" altLang="en-US" sz="1294" b="1" dirty="0">
                <a:solidFill>
                  <a:srgbClr val="2463A6"/>
                </a:solidFill>
                <a:latin typeface="맑은 고딕" panose="020B0503020000020004" pitchFamily="50" charset="-127"/>
              </a:endParaRPr>
            </a:p>
          </p:txBody>
        </p:sp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2A7CA9B3-5CCA-E7C7-D107-1D105E3C10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22322" y="7148688"/>
              <a:ext cx="2153044" cy="443702"/>
            </a:xfrm>
            <a:prstGeom prst="rect">
              <a:avLst/>
            </a:prstGeom>
            <a:ln>
              <a:solidFill>
                <a:srgbClr val="2463A6"/>
              </a:solidFill>
            </a:ln>
          </p:spPr>
        </p:pic>
        <p:pic>
          <p:nvPicPr>
            <p:cNvPr id="54" name="그림 53">
              <a:extLst>
                <a:ext uri="{FF2B5EF4-FFF2-40B4-BE49-F238E27FC236}">
                  <a16:creationId xmlns:a16="http://schemas.microsoft.com/office/drawing/2014/main" id="{844C53F4-076E-058B-3BC0-36074B701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22322" y="7661995"/>
              <a:ext cx="2153044" cy="470928"/>
            </a:xfrm>
            <a:prstGeom prst="rect">
              <a:avLst/>
            </a:prstGeom>
            <a:ln>
              <a:solidFill>
                <a:srgbClr val="2463A6"/>
              </a:solidFill>
            </a:ln>
          </p:spPr>
        </p:pic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0790DB13-B45E-C459-FC6B-A1E169EF105D}"/>
                </a:ext>
              </a:extLst>
            </p:cNvPr>
            <p:cNvSpPr/>
            <p:nvPr/>
          </p:nvSpPr>
          <p:spPr>
            <a:xfrm>
              <a:off x="8074174" y="7740378"/>
              <a:ext cx="198290" cy="70122"/>
            </a:xfrm>
            <a:prstGeom prst="rect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166D68F-8310-C0EF-7641-424AD40BC0F4}"/>
                </a:ext>
              </a:extLst>
            </p:cNvPr>
            <p:cNvSpPr txBox="1"/>
            <p:nvPr/>
          </p:nvSpPr>
          <p:spPr>
            <a:xfrm>
              <a:off x="6522322" y="8218002"/>
              <a:ext cx="2153044" cy="294183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r>
                <a:rPr lang="ko-KR" altLang="en-US" sz="956">
                  <a:solidFill>
                    <a:srgbClr val="526477"/>
                  </a:solidFill>
                  <a:latin typeface="맑은 고딕" panose="020B0503020000020004" pitchFamily="50" charset="-127"/>
                </a:rPr>
                <a:t>사용 빈도가 낮은 단어를 우선순위를 높여 단어 사전생성</a:t>
              </a:r>
              <a:endParaRPr lang="ko-KR" altLang="en-US" sz="956" dirty="0">
                <a:solidFill>
                  <a:srgbClr val="5264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6" name="화살표: 아래쪽 75">
            <a:extLst>
              <a:ext uri="{FF2B5EF4-FFF2-40B4-BE49-F238E27FC236}">
                <a16:creationId xmlns:a16="http://schemas.microsoft.com/office/drawing/2014/main" id="{F4378C4B-352C-89FA-819D-7B7285808E32}"/>
              </a:ext>
            </a:extLst>
          </p:cNvPr>
          <p:cNvSpPr/>
          <p:nvPr/>
        </p:nvSpPr>
        <p:spPr>
          <a:xfrm>
            <a:off x="7356528" y="9144913"/>
            <a:ext cx="484632" cy="369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Box search">
            <a:extLst>
              <a:ext uri="{FF2B5EF4-FFF2-40B4-BE49-F238E27FC236}">
                <a16:creationId xmlns:a16="http://schemas.microsoft.com/office/drawing/2014/main" id="{02661093-5897-43E3-3083-D2878F3DA04C}"/>
              </a:ext>
            </a:extLst>
          </p:cNvPr>
          <p:cNvSpPr/>
          <p:nvPr/>
        </p:nvSpPr>
        <p:spPr>
          <a:xfrm>
            <a:off x="6477000" y="9525000"/>
            <a:ext cx="2234180" cy="2523331"/>
          </a:xfrm>
          <a:prstGeom prst="rect">
            <a:avLst/>
          </a:prstGeom>
          <a:solidFill>
            <a:srgbClr val="FFFFFF"/>
          </a:solidFill>
          <a:ln w="16510">
            <a:solidFill>
              <a:srgbClr val="246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3" name="Title search">
            <a:extLst>
              <a:ext uri="{FF2B5EF4-FFF2-40B4-BE49-F238E27FC236}">
                <a16:creationId xmlns:a16="http://schemas.microsoft.com/office/drawing/2014/main" id="{9FBCB4FC-BEC7-AAF3-57C2-83F0D40E0924}"/>
              </a:ext>
            </a:extLst>
          </p:cNvPr>
          <p:cNvSpPr txBox="1"/>
          <p:nvPr/>
        </p:nvSpPr>
        <p:spPr>
          <a:xfrm>
            <a:off x="6540500" y="9613900"/>
            <a:ext cx="1985938" cy="19915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TF-IDF </a:t>
            </a:r>
            <a:r>
              <a:rPr lang="ko-KR" altLang="en-US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 </a:t>
            </a:r>
            <a:r>
              <a:rPr lang="en-US" altLang="ko-KR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(prune)</a:t>
            </a:r>
            <a:endParaRPr lang="ko-KR" altLang="en-US" sz="1294" b="1" dirty="0">
              <a:solidFill>
                <a:srgbClr val="2463A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Body search">
            <a:extLst>
              <a:ext uri="{FF2B5EF4-FFF2-40B4-BE49-F238E27FC236}">
                <a16:creationId xmlns:a16="http://schemas.microsoft.com/office/drawing/2014/main" id="{54A76B12-71F8-1AB0-5B4E-CB8367378253}"/>
              </a:ext>
            </a:extLst>
          </p:cNvPr>
          <p:cNvSpPr txBox="1"/>
          <p:nvPr/>
        </p:nvSpPr>
        <p:spPr>
          <a:xfrm>
            <a:off x="6527799" y="9931399"/>
            <a:ext cx="2133600" cy="205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질문의 토큰과 단어사전</a:t>
            </a:r>
            <a:r>
              <a:rPr lang="en-US" altLang="ko-KR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테이블 사전</a:t>
            </a:r>
            <a:r>
              <a:rPr lang="en-US" altLang="ko-KR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지표사전</a:t>
            </a:r>
            <a:r>
              <a:rPr lang="en-US" altLang="ko-KR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을 비교</a:t>
            </a:r>
            <a:br>
              <a:rPr lang="en-US" altLang="ko-KR" sz="900" dirty="0">
                <a:solidFill>
                  <a:srgbClr val="526477"/>
                </a:solidFill>
                <a:latin typeface="맑은 고딕" panose="020B0503020000020004" pitchFamily="50" charset="-127"/>
              </a:rPr>
            </a:br>
            <a:r>
              <a:rPr lang="en-US" altLang="ko-KR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 - (7, </a:t>
            </a:r>
            <a:r>
              <a:rPr lang="ko-KR" altLang="en-US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차량</a:t>
            </a:r>
            <a:r>
              <a:rPr lang="en-US" altLang="ko-KR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900" dirty="0" err="1">
                <a:solidFill>
                  <a:srgbClr val="526477"/>
                </a:solidFill>
                <a:latin typeface="맑은 고딕" panose="020B0503020000020004" pitchFamily="50" charset="-127"/>
              </a:rPr>
              <a:t>량상</a:t>
            </a:r>
            <a:r>
              <a:rPr lang="en-US" altLang="ko-KR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상태</a:t>
            </a:r>
            <a:r>
              <a:rPr lang="en-US" altLang="ko-KR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일별</a:t>
            </a:r>
            <a:r>
              <a:rPr lang="en-US" altLang="ko-KR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)</a:t>
            </a:r>
            <a:endParaRPr lang="ko-KR" altLang="en-US" sz="900" dirty="0">
              <a:solidFill>
                <a:srgbClr val="526477"/>
              </a:solidFill>
              <a:latin typeface="맑은 고딕" panose="020B0503020000020004" pitchFamily="50" charset="-127"/>
            </a:endParaRPr>
          </a:p>
          <a:p>
            <a:r>
              <a:rPr lang="ko-KR" altLang="en-US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무시</a:t>
            </a:r>
            <a:r>
              <a:rPr lang="en-US" altLang="ko-KR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: 2026, </a:t>
            </a:r>
            <a:r>
              <a:rPr lang="ko-KR" altLang="en-US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년</a:t>
            </a:r>
            <a:r>
              <a:rPr lang="en-US" altLang="ko-KR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월</a:t>
            </a:r>
            <a:r>
              <a:rPr lang="en-US" altLang="ko-KR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기준</a:t>
            </a:r>
            <a:r>
              <a:rPr lang="en-US" altLang="ko-KR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, xxx, </a:t>
            </a:r>
            <a:r>
              <a:rPr lang="ko-KR" altLang="en-US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별로</a:t>
            </a:r>
          </a:p>
          <a:p>
            <a:r>
              <a:rPr lang="en-US" altLang="ko-KR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사전에 없는 단어 → 기간은 </a:t>
            </a:r>
            <a:r>
              <a:rPr lang="en-US" altLang="ko-KR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LLM</a:t>
            </a:r>
            <a:r>
              <a:rPr lang="ko-KR" altLang="en-US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이 해석</a:t>
            </a:r>
            <a:r>
              <a:rPr lang="en-US" altLang="ko-KR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)</a:t>
            </a:r>
          </a:p>
          <a:p>
            <a:endParaRPr lang="en-US" altLang="ko-KR" sz="900" dirty="0">
              <a:solidFill>
                <a:srgbClr val="526477"/>
              </a:solidFill>
              <a:latin typeface="맑은 고딕" panose="020B0503020000020004" pitchFamily="50" charset="-127"/>
            </a:endParaRPr>
          </a:p>
          <a:p>
            <a:r>
              <a:rPr lang="ko-KR" altLang="en-US" sz="900" b="1" dirty="0">
                <a:solidFill>
                  <a:srgbClr val="526477"/>
                </a:solidFill>
                <a:latin typeface="맑은 고딕" panose="020B0503020000020004" pitchFamily="50" charset="-127"/>
              </a:rPr>
              <a:t>유사도 순위</a:t>
            </a:r>
          </a:p>
          <a:p>
            <a:r>
              <a:rPr lang="en-US" altLang="ko-KR" sz="900" b="1" dirty="0">
                <a:solidFill>
                  <a:srgbClr val="526477"/>
                </a:solidFill>
                <a:latin typeface="맑은 고딕" panose="020B0503020000020004" pitchFamily="50" charset="-127"/>
              </a:rPr>
              <a:t>1. </a:t>
            </a:r>
            <a:r>
              <a:rPr lang="ko-KR" altLang="en-US" sz="900" b="1" dirty="0">
                <a:solidFill>
                  <a:srgbClr val="526477"/>
                </a:solidFill>
                <a:latin typeface="맑은 고딕" panose="020B0503020000020004" pitchFamily="50" charset="-127"/>
              </a:rPr>
              <a:t>차량상태 상세정보  </a:t>
            </a:r>
            <a:r>
              <a:rPr lang="en-US" altLang="ko-KR" sz="900" b="1" dirty="0">
                <a:solidFill>
                  <a:srgbClr val="526477"/>
                </a:solidFill>
                <a:latin typeface="맑은 고딕" panose="020B0503020000020004" pitchFamily="50" charset="-127"/>
              </a:rPr>
              <a:t>0.52</a:t>
            </a:r>
          </a:p>
          <a:p>
            <a:r>
              <a:rPr lang="en-US" altLang="ko-KR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2. </a:t>
            </a:r>
            <a:r>
              <a:rPr lang="ko-KR" altLang="en-US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일별 가동시간  </a:t>
            </a:r>
            <a:r>
              <a:rPr lang="en-US" altLang="ko-KR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0.33</a:t>
            </a:r>
          </a:p>
          <a:p>
            <a:r>
              <a:rPr lang="en-US" altLang="ko-KR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3. </a:t>
            </a:r>
            <a:r>
              <a:rPr lang="en-US" altLang="ko-KR" sz="900" dirty="0" err="1">
                <a:solidFill>
                  <a:srgbClr val="526477"/>
                </a:solidFill>
                <a:latin typeface="맑은 고딕" panose="020B0503020000020004" pitchFamily="50" charset="-127"/>
              </a:rPr>
              <a:t>vehicle_info</a:t>
            </a:r>
            <a:r>
              <a:rPr lang="en-US" altLang="ko-KR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  0.26</a:t>
            </a:r>
          </a:p>
          <a:p>
            <a:r>
              <a:rPr lang="en-US" altLang="ko-KR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4. </a:t>
            </a:r>
            <a:r>
              <a:rPr lang="ko-KR" altLang="en-US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차량 기본 정보  </a:t>
            </a:r>
            <a:r>
              <a:rPr lang="en-US" altLang="ko-KR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0.18</a:t>
            </a:r>
            <a:endParaRPr lang="ko-KR" altLang="en-US" sz="900" dirty="0">
              <a:solidFill>
                <a:srgbClr val="526477"/>
              </a:solidFill>
              <a:latin typeface="맑은 고딕" panose="020B0503020000020004" pitchFamily="50" charset="-127"/>
            </a:endParaRPr>
          </a:p>
          <a:p>
            <a:endParaRPr lang="ko-KR" altLang="en-US" sz="900" dirty="0">
              <a:solidFill>
                <a:srgbClr val="526477"/>
              </a:solidFill>
              <a:latin typeface="맑은 고딕" panose="020B0503020000020004" pitchFamily="50" charset="-127"/>
            </a:endParaRPr>
          </a:p>
          <a:p>
            <a:r>
              <a:rPr lang="ko-KR" altLang="en-US" sz="900" b="1" dirty="0">
                <a:solidFill>
                  <a:srgbClr val="2463A6"/>
                </a:solidFill>
                <a:latin typeface="맑은 고딕" panose="020B0503020000020004" pitchFamily="50" charset="-127"/>
              </a:rPr>
              <a:t>▶ 단어별 매칭 상세</a:t>
            </a:r>
            <a:r>
              <a:rPr lang="en-US" altLang="ko-KR" sz="900" b="1" dirty="0">
                <a:solidFill>
                  <a:srgbClr val="2463A6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2463A6"/>
                </a:solidFill>
                <a:latin typeface="맑은 고딕" panose="020B0503020000020004" pitchFamily="50" charset="-127"/>
              </a:rPr>
              <a:t>다음 슬라이드</a:t>
            </a:r>
            <a:endParaRPr lang="ko-KR" altLang="en-US" sz="900" b="1" dirty="0">
              <a:solidFill>
                <a:srgbClr val="2463A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Box select">
            <a:extLst>
              <a:ext uri="{FF2B5EF4-FFF2-40B4-BE49-F238E27FC236}">
                <a16:creationId xmlns:a16="http://schemas.microsoft.com/office/drawing/2014/main" id="{9AF3F978-F955-2361-D9FD-B3D8EFD2445B}"/>
              </a:ext>
            </a:extLst>
          </p:cNvPr>
          <p:cNvSpPr/>
          <p:nvPr/>
        </p:nvSpPr>
        <p:spPr>
          <a:xfrm>
            <a:off x="3352800" y="9525000"/>
            <a:ext cx="2234180" cy="2523331"/>
          </a:xfrm>
          <a:prstGeom prst="rect">
            <a:avLst/>
          </a:prstGeom>
          <a:solidFill>
            <a:srgbClr val="FFFFFF"/>
          </a:solidFill>
          <a:ln w="16510">
            <a:solidFill>
              <a:srgbClr val="246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6" name="Title select">
            <a:extLst>
              <a:ext uri="{FF2B5EF4-FFF2-40B4-BE49-F238E27FC236}">
                <a16:creationId xmlns:a16="http://schemas.microsoft.com/office/drawing/2014/main" id="{63274765-C8FD-9DC2-722E-C66A77177DAE}"/>
              </a:ext>
            </a:extLst>
          </p:cNvPr>
          <p:cNvSpPr txBox="1"/>
          <p:nvPr/>
        </p:nvSpPr>
        <p:spPr>
          <a:xfrm>
            <a:off x="3416300" y="9613900"/>
            <a:ext cx="1985938" cy="19915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후보 선택 </a:t>
            </a:r>
            <a:r>
              <a:rPr lang="en-US" altLang="ko-KR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상위 </a:t>
            </a:r>
            <a:r>
              <a:rPr lang="en-US" altLang="ko-KR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294" b="1" dirty="0">
              <a:solidFill>
                <a:srgbClr val="2463A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Body select">
            <a:extLst>
              <a:ext uri="{FF2B5EF4-FFF2-40B4-BE49-F238E27FC236}">
                <a16:creationId xmlns:a16="http://schemas.microsoft.com/office/drawing/2014/main" id="{1AF16B75-450C-DA24-78C1-BFC427B4282E}"/>
              </a:ext>
            </a:extLst>
          </p:cNvPr>
          <p:cNvSpPr txBox="1"/>
          <p:nvPr/>
        </p:nvSpPr>
        <p:spPr>
          <a:xfrm>
            <a:off x="3403599" y="9931399"/>
            <a:ext cx="2133600" cy="205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 b="1">
                <a:solidFill>
                  <a:srgbClr val="526477"/>
                </a:solidFill>
                <a:latin typeface="맑은 고딕" panose="020B0503020000020004" pitchFamily="50" charset="-127"/>
              </a:rPr>
              <a:t>지표</a:t>
            </a:r>
          </a:p>
          <a:p>
            <a:r>
              <a:rPr lang="en-US" altLang="ko-KR" sz="900" b="1">
                <a:solidFill>
                  <a:srgbClr val="52647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00" b="1">
                <a:solidFill>
                  <a:srgbClr val="526477"/>
                </a:solidFill>
                <a:latin typeface="맑은 고딕" panose="020B0503020000020004" pitchFamily="50" charset="-127"/>
              </a:rPr>
              <a:t>차량상태 상세정보 </a:t>
            </a:r>
            <a:r>
              <a:rPr lang="en-US" altLang="ko-KR" sz="900" b="1">
                <a:solidFill>
                  <a:srgbClr val="526477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b="1">
                <a:solidFill>
                  <a:srgbClr val="526477"/>
                </a:solidFill>
                <a:latin typeface="맑은 고딕" panose="020B0503020000020004" pitchFamily="50" charset="-127"/>
              </a:rPr>
              <a:t>정답</a:t>
            </a:r>
            <a:r>
              <a:rPr lang="en-US" altLang="ko-KR" sz="900" b="1">
                <a:solidFill>
                  <a:srgbClr val="526477"/>
                </a:solidFill>
                <a:latin typeface="맑은 고딕" panose="020B0503020000020004" pitchFamily="50" charset="-127"/>
              </a:rPr>
              <a:t>)</a:t>
            </a:r>
          </a:p>
          <a:p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일별 가동시간</a:t>
            </a:r>
          </a:p>
          <a:p>
            <a:endParaRPr lang="ko-KR" altLang="en-US" sz="900">
              <a:solidFill>
                <a:srgbClr val="526477"/>
              </a:solidFill>
              <a:latin typeface="맑은 고딕" panose="020B0503020000020004" pitchFamily="50" charset="-127"/>
            </a:endParaRPr>
          </a:p>
          <a:p>
            <a:r>
              <a:rPr lang="ko-KR" altLang="en-US" sz="900" b="1">
                <a:solidFill>
                  <a:srgbClr val="526477"/>
                </a:solidFill>
                <a:latin typeface="맑은 고딕" panose="020B0503020000020004" pitchFamily="50" charset="-127"/>
              </a:rPr>
              <a:t>테이블</a:t>
            </a:r>
          </a:p>
          <a:p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 vehicle_info</a:t>
            </a:r>
          </a:p>
          <a:p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 bms_condition (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지표의 조인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)</a:t>
            </a:r>
          </a:p>
          <a:p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 bms_log</a:t>
            </a:r>
          </a:p>
          <a:p>
            <a:endParaRPr lang="en-US" altLang="ko-KR" sz="900">
              <a:solidFill>
                <a:srgbClr val="526477"/>
              </a:solidFill>
              <a:latin typeface="맑은 고딕" panose="020B0503020000020004" pitchFamily="50" charset="-127"/>
            </a:endParaRPr>
          </a:p>
          <a:p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나머지 테이블 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13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개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지표 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개는</a:t>
            </a:r>
          </a:p>
          <a:p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프롬프트에서 제외</a:t>
            </a:r>
            <a:endParaRPr lang="ko-KR" altLang="en-US" sz="900" dirty="0">
              <a:solidFill>
                <a:srgbClr val="5264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Box prompt">
            <a:extLst>
              <a:ext uri="{FF2B5EF4-FFF2-40B4-BE49-F238E27FC236}">
                <a16:creationId xmlns:a16="http://schemas.microsoft.com/office/drawing/2014/main" id="{99688D51-CF77-34E9-864C-3AC68EAFE3BF}"/>
              </a:ext>
            </a:extLst>
          </p:cNvPr>
          <p:cNvSpPr/>
          <p:nvPr/>
        </p:nvSpPr>
        <p:spPr>
          <a:xfrm>
            <a:off x="508000" y="9525000"/>
            <a:ext cx="2234180" cy="2523331"/>
          </a:xfrm>
          <a:prstGeom prst="rect">
            <a:avLst/>
          </a:prstGeom>
          <a:solidFill>
            <a:srgbClr val="FFFFFF"/>
          </a:solidFill>
          <a:ln w="16510">
            <a:solidFill>
              <a:srgbClr val="246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0" name="Title prompt">
            <a:extLst>
              <a:ext uri="{FF2B5EF4-FFF2-40B4-BE49-F238E27FC236}">
                <a16:creationId xmlns:a16="http://schemas.microsoft.com/office/drawing/2014/main" id="{E45918E2-4FE4-FAAD-05D2-DD02D8AFB451}"/>
              </a:ext>
            </a:extLst>
          </p:cNvPr>
          <p:cNvSpPr txBox="1"/>
          <p:nvPr/>
        </p:nvSpPr>
        <p:spPr>
          <a:xfrm>
            <a:off x="571500" y="9613900"/>
            <a:ext cx="1985938" cy="19915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프롬프트 구성</a:t>
            </a:r>
            <a:endParaRPr lang="ko-KR" altLang="en-US" sz="1294" b="1" dirty="0">
              <a:solidFill>
                <a:srgbClr val="2463A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Body prompt">
            <a:extLst>
              <a:ext uri="{FF2B5EF4-FFF2-40B4-BE49-F238E27FC236}">
                <a16:creationId xmlns:a16="http://schemas.microsoft.com/office/drawing/2014/main" id="{09FFD0AB-A10F-9052-CB8E-B29932AA86B4}"/>
              </a:ext>
            </a:extLst>
          </p:cNvPr>
          <p:cNvSpPr txBox="1"/>
          <p:nvPr/>
        </p:nvSpPr>
        <p:spPr>
          <a:xfrm>
            <a:off x="558799" y="9931399"/>
            <a:ext cx="2133600" cy="205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오늘 날짜 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(2026-10-07)</a:t>
            </a:r>
          </a:p>
          <a:p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  → '7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월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'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같은 기간 계산 기준</a:t>
            </a:r>
          </a:p>
          <a:p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허용된 메타데이터</a:t>
            </a:r>
          </a:p>
          <a:p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  후보 지표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테이블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컬럼만</a:t>
            </a:r>
          </a:p>
          <a:p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조회 명세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(AST)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작성 규칙</a:t>
            </a:r>
          </a:p>
          <a:p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지표 예시 질문 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(few-shot)</a:t>
            </a:r>
          </a:p>
          <a:p>
            <a:endParaRPr lang="en-US" altLang="ko-KR" sz="900">
              <a:solidFill>
                <a:srgbClr val="526477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→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질문과 함께 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LLM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에 전달</a:t>
            </a:r>
            <a:endParaRPr lang="ko-KR" altLang="en-US" sz="900" dirty="0">
              <a:solidFill>
                <a:srgbClr val="5264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Box llm">
            <a:extLst>
              <a:ext uri="{FF2B5EF4-FFF2-40B4-BE49-F238E27FC236}">
                <a16:creationId xmlns:a16="http://schemas.microsoft.com/office/drawing/2014/main" id="{A322EA08-223A-9072-05FA-C8198387AD9C}"/>
              </a:ext>
            </a:extLst>
          </p:cNvPr>
          <p:cNvSpPr/>
          <p:nvPr/>
        </p:nvSpPr>
        <p:spPr>
          <a:xfrm>
            <a:off x="508000" y="12471400"/>
            <a:ext cx="2234180" cy="2523331"/>
          </a:xfrm>
          <a:prstGeom prst="rect">
            <a:avLst/>
          </a:prstGeom>
          <a:solidFill>
            <a:srgbClr val="FFFFFF"/>
          </a:solidFill>
          <a:ln w="16510">
            <a:solidFill>
              <a:srgbClr val="246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7" name="Title llm">
            <a:extLst>
              <a:ext uri="{FF2B5EF4-FFF2-40B4-BE49-F238E27FC236}">
                <a16:creationId xmlns:a16="http://schemas.microsoft.com/office/drawing/2014/main" id="{1C9CFA9B-E9C6-88F6-CAC9-FE77034171D6}"/>
              </a:ext>
            </a:extLst>
          </p:cNvPr>
          <p:cNvSpPr txBox="1"/>
          <p:nvPr/>
        </p:nvSpPr>
        <p:spPr>
          <a:xfrm>
            <a:off x="571500" y="12560300"/>
            <a:ext cx="1985938" cy="19915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LLM: </a:t>
            </a:r>
            <a:r>
              <a:rPr lang="ko-KR" altLang="en-US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 명세</a:t>
            </a:r>
            <a:r>
              <a:rPr lang="en-US" altLang="ko-KR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(AST)</a:t>
            </a:r>
            <a:endParaRPr lang="ko-KR" altLang="en-US" sz="1294" b="1" dirty="0">
              <a:solidFill>
                <a:srgbClr val="2463A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Body llm">
            <a:extLst>
              <a:ext uri="{FF2B5EF4-FFF2-40B4-BE49-F238E27FC236}">
                <a16:creationId xmlns:a16="http://schemas.microsoft.com/office/drawing/2014/main" id="{E070ED1E-5D10-E87B-AC72-E91BAA374E86}"/>
              </a:ext>
            </a:extLst>
          </p:cNvPr>
          <p:cNvSpPr txBox="1"/>
          <p:nvPr/>
        </p:nvSpPr>
        <p:spPr>
          <a:xfrm>
            <a:off x="558799" y="12877799"/>
            <a:ext cx="2133600" cy="205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SQL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이 아니라 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JSON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만 생성</a:t>
            </a:r>
          </a:p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{"metric": "</a:t>
            </a:r>
            <a:r>
              <a:rPr lang="ko-KR" altLang="en-US" sz="750">
                <a:solidFill>
                  <a:srgbClr val="526477"/>
                </a:solidFill>
                <a:latin typeface="Consolas" panose="020B0609020204030204" pitchFamily="49" charset="0"/>
              </a:rPr>
              <a:t>차량상태 상세정보</a:t>
            </a:r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",</a:t>
            </a:r>
          </a:p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 "filters": [</a:t>
            </a:r>
          </a:p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  vehicle_id = 'xxx',</a:t>
            </a:r>
          </a:p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  collect_datetime ≥ 2026-07-01,</a:t>
            </a:r>
          </a:p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  collect_datetime ≤ 2026-07-31 ],</a:t>
            </a:r>
          </a:p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 "order_by": collect_datetime }</a:t>
            </a:r>
          </a:p>
          <a:p>
            <a:endParaRPr lang="en-US" altLang="ko-KR" sz="900">
              <a:solidFill>
                <a:srgbClr val="526477"/>
              </a:solidFill>
              <a:latin typeface="맑은 고딕" panose="020B0503020000020004" pitchFamily="50" charset="-127"/>
            </a:endParaRPr>
          </a:p>
          <a:p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기간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차량 조건은 이 단계에서 해석</a:t>
            </a:r>
            <a:endParaRPr lang="ko-KR" altLang="en-US" sz="900" dirty="0">
              <a:solidFill>
                <a:srgbClr val="5264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Box compile">
            <a:extLst>
              <a:ext uri="{FF2B5EF4-FFF2-40B4-BE49-F238E27FC236}">
                <a16:creationId xmlns:a16="http://schemas.microsoft.com/office/drawing/2014/main" id="{D658B87A-9769-5454-0F74-F556C7F2E395}"/>
              </a:ext>
            </a:extLst>
          </p:cNvPr>
          <p:cNvSpPr/>
          <p:nvPr/>
        </p:nvSpPr>
        <p:spPr>
          <a:xfrm>
            <a:off x="3352800" y="12471400"/>
            <a:ext cx="2234180" cy="2523331"/>
          </a:xfrm>
          <a:prstGeom prst="rect">
            <a:avLst/>
          </a:prstGeom>
          <a:solidFill>
            <a:srgbClr val="FFFFFF"/>
          </a:solidFill>
          <a:ln w="16510">
            <a:solidFill>
              <a:srgbClr val="246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25" name="Title compile">
            <a:extLst>
              <a:ext uri="{FF2B5EF4-FFF2-40B4-BE49-F238E27FC236}">
                <a16:creationId xmlns:a16="http://schemas.microsoft.com/office/drawing/2014/main" id="{52443CE3-0749-4D74-BBE3-16CEDF31D0A7}"/>
              </a:ext>
            </a:extLst>
          </p:cNvPr>
          <p:cNvSpPr txBox="1"/>
          <p:nvPr/>
        </p:nvSpPr>
        <p:spPr>
          <a:xfrm>
            <a:off x="3416300" y="12560300"/>
            <a:ext cx="1985938" cy="19915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컴파일러</a:t>
            </a:r>
            <a:r>
              <a:rPr lang="en-US" altLang="ko-KR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</a:t>
            </a:r>
            <a:r>
              <a:rPr lang="en-US" altLang="ko-KR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·SQL </a:t>
            </a:r>
            <a:r>
              <a:rPr lang="ko-KR" altLang="en-US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조립</a:t>
            </a:r>
            <a:endParaRPr lang="ko-KR" altLang="en-US" sz="1294" b="1" dirty="0">
              <a:solidFill>
                <a:srgbClr val="2463A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Body compile">
            <a:extLst>
              <a:ext uri="{FF2B5EF4-FFF2-40B4-BE49-F238E27FC236}">
                <a16:creationId xmlns:a16="http://schemas.microsoft.com/office/drawing/2014/main" id="{B9895D78-FC58-C8F2-2BB5-7FA918637557}"/>
              </a:ext>
            </a:extLst>
          </p:cNvPr>
          <p:cNvSpPr txBox="1"/>
          <p:nvPr/>
        </p:nvSpPr>
        <p:spPr>
          <a:xfrm>
            <a:off x="3403599" y="12877799"/>
            <a:ext cx="2133600" cy="205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지표 정의 펼치기</a:t>
            </a:r>
          </a:p>
          <a:p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  조회 컬럼 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12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개 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+ bms_condition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조인</a:t>
            </a:r>
          </a:p>
          <a:p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고정 필터 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질문에서 받음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'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확인</a:t>
            </a:r>
          </a:p>
          <a:p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날짜 보정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: ≤ 07-31 → &lt; 08-01</a:t>
            </a:r>
          </a:p>
          <a:p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테이블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컬럼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값 화이트리스트 검증</a:t>
            </a:r>
          </a:p>
          <a:p>
            <a:endParaRPr lang="ko-KR" altLang="en-US" sz="900">
              <a:solidFill>
                <a:srgbClr val="526477"/>
              </a:solidFill>
              <a:latin typeface="맑은 고딕" panose="020B0503020000020004" pitchFamily="50" charset="-127"/>
            </a:endParaRPr>
          </a:p>
          <a:p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실패하면 오류 메시지로 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LLM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재시도</a:t>
            </a:r>
          </a:p>
          <a:p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최대 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회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이번 질문은 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회째 성공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)</a:t>
            </a:r>
            <a:endParaRPr lang="ko-KR" altLang="en-US" sz="900" dirty="0">
              <a:solidFill>
                <a:srgbClr val="5264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Box sql">
            <a:extLst>
              <a:ext uri="{FF2B5EF4-FFF2-40B4-BE49-F238E27FC236}">
                <a16:creationId xmlns:a16="http://schemas.microsoft.com/office/drawing/2014/main" id="{2D88F127-561D-9520-17BB-784A667E939E}"/>
              </a:ext>
            </a:extLst>
          </p:cNvPr>
          <p:cNvSpPr/>
          <p:nvPr/>
        </p:nvSpPr>
        <p:spPr>
          <a:xfrm>
            <a:off x="6477000" y="12471400"/>
            <a:ext cx="2234180" cy="2523331"/>
          </a:xfrm>
          <a:prstGeom prst="rect">
            <a:avLst/>
          </a:prstGeom>
          <a:solidFill>
            <a:srgbClr val="FFFFFF"/>
          </a:solidFill>
          <a:ln w="16510">
            <a:solidFill>
              <a:srgbClr val="246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30" name="Title sql">
            <a:extLst>
              <a:ext uri="{FF2B5EF4-FFF2-40B4-BE49-F238E27FC236}">
                <a16:creationId xmlns:a16="http://schemas.microsoft.com/office/drawing/2014/main" id="{852994DB-C03A-F6F0-CA13-30DD0A444D44}"/>
              </a:ext>
            </a:extLst>
          </p:cNvPr>
          <p:cNvSpPr txBox="1"/>
          <p:nvPr/>
        </p:nvSpPr>
        <p:spPr>
          <a:xfrm>
            <a:off x="6540500" y="12560300"/>
            <a:ext cx="1985938" cy="19915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생성된 </a:t>
            </a:r>
            <a:r>
              <a:rPr lang="en-US" altLang="ko-KR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SQL</a:t>
            </a:r>
            <a:endParaRPr lang="ko-KR" altLang="en-US" sz="1294" b="1" dirty="0">
              <a:solidFill>
                <a:srgbClr val="2463A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Body sql">
            <a:extLst>
              <a:ext uri="{FF2B5EF4-FFF2-40B4-BE49-F238E27FC236}">
                <a16:creationId xmlns:a16="http://schemas.microsoft.com/office/drawing/2014/main" id="{B9124846-D7B9-6AD8-6907-558C53510C23}"/>
              </a:ext>
            </a:extLst>
          </p:cNvPr>
          <p:cNvSpPr txBox="1"/>
          <p:nvPr/>
        </p:nvSpPr>
        <p:spPr>
          <a:xfrm>
            <a:off x="6527799" y="12877799"/>
            <a:ext cx="2133600" cy="205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SELECT vehicle_id, model, …,</a:t>
            </a:r>
          </a:p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  collect_datetime, op_mode_m, …</a:t>
            </a:r>
          </a:p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FROM vehicle_info</a:t>
            </a:r>
          </a:p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INNER JOIN bms_condition</a:t>
            </a:r>
          </a:p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  ON vehicle_info.vehicle_id</a:t>
            </a:r>
          </a:p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   = bms_condition.vehicle_id</a:t>
            </a:r>
          </a:p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WHERE vehicle_id = 'xxx'</a:t>
            </a:r>
          </a:p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  AND collect_datetime &gt;= '2026-07-01'</a:t>
            </a:r>
          </a:p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  AND collect_datetime &lt;  '2026-08-01'</a:t>
            </a:r>
          </a:p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ORDER BY collect_datetime</a:t>
            </a:r>
            <a:endParaRPr lang="ko-KR" altLang="en-US" sz="750" dirty="0">
              <a:solidFill>
                <a:srgbClr val="526477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33" name="Arrow search-select">
            <a:extLst>
              <a:ext uri="{FF2B5EF4-FFF2-40B4-BE49-F238E27FC236}">
                <a16:creationId xmlns:a16="http://schemas.microsoft.com/office/drawing/2014/main" id="{072F711B-D798-3947-8E02-36E85977BAD7}"/>
              </a:ext>
            </a:extLst>
          </p:cNvPr>
          <p:cNvSpPr/>
          <p:nvPr/>
        </p:nvSpPr>
        <p:spPr>
          <a:xfrm rot="5400000">
            <a:off x="5854700" y="10591800"/>
            <a:ext cx="484632" cy="369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Arrow select-prompt">
            <a:extLst>
              <a:ext uri="{FF2B5EF4-FFF2-40B4-BE49-F238E27FC236}">
                <a16:creationId xmlns:a16="http://schemas.microsoft.com/office/drawing/2014/main" id="{21B037DB-144F-B40B-C657-FDBA32992274}"/>
              </a:ext>
            </a:extLst>
          </p:cNvPr>
          <p:cNvSpPr/>
          <p:nvPr/>
        </p:nvSpPr>
        <p:spPr>
          <a:xfrm rot="5400000">
            <a:off x="2794000" y="10591800"/>
            <a:ext cx="484632" cy="369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Arrow prompt-llm">
            <a:extLst>
              <a:ext uri="{FF2B5EF4-FFF2-40B4-BE49-F238E27FC236}">
                <a16:creationId xmlns:a16="http://schemas.microsoft.com/office/drawing/2014/main" id="{33942720-ED4A-E006-174F-FED45FCA0EC8}"/>
              </a:ext>
            </a:extLst>
          </p:cNvPr>
          <p:cNvSpPr/>
          <p:nvPr/>
        </p:nvSpPr>
        <p:spPr>
          <a:xfrm>
            <a:off x="1282700" y="12090400"/>
            <a:ext cx="484632" cy="369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Arrow llm-compile">
            <a:extLst>
              <a:ext uri="{FF2B5EF4-FFF2-40B4-BE49-F238E27FC236}">
                <a16:creationId xmlns:a16="http://schemas.microsoft.com/office/drawing/2014/main" id="{C9E9FF5C-459F-372A-13A3-38A23DE48AF0}"/>
              </a:ext>
            </a:extLst>
          </p:cNvPr>
          <p:cNvSpPr/>
          <p:nvPr/>
        </p:nvSpPr>
        <p:spPr>
          <a:xfrm rot="16200000">
            <a:off x="2794000" y="13538200"/>
            <a:ext cx="484632" cy="369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Arrow compile-sql">
            <a:extLst>
              <a:ext uri="{FF2B5EF4-FFF2-40B4-BE49-F238E27FC236}">
                <a16:creationId xmlns:a16="http://schemas.microsoft.com/office/drawing/2014/main" id="{ED43FC62-C22E-E9BF-2281-DC13836D0941}"/>
              </a:ext>
            </a:extLst>
          </p:cNvPr>
          <p:cNvSpPr/>
          <p:nvPr/>
        </p:nvSpPr>
        <p:spPr>
          <a:xfrm rot="16200000">
            <a:off x="5854700" y="13538200"/>
            <a:ext cx="484632" cy="369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898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D09644CE-41DA-9D46-D291-A28A8E070959}"/>
              </a:ext>
            </a:extLst>
          </p:cNvPr>
          <p:cNvCxnSpPr>
            <a:cxnSpLocks/>
            <a:stCxn id="14" idx="3"/>
            <a:endCxn id="34" idx="1"/>
          </p:cNvCxnSpPr>
          <p:nvPr/>
        </p:nvCxnSpPr>
        <p:spPr>
          <a:xfrm flipV="1">
            <a:off x="5524500" y="4013200"/>
            <a:ext cx="825500" cy="4216400"/>
          </a:xfrm>
          <a:prstGeom prst="straightConnector1">
            <a:avLst/>
          </a:prstGeom>
          <a:ln w="35560">
            <a:solidFill>
              <a:srgbClr val="A6A6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7FD22585-EC50-E14F-BC46-85523F2D7C1F}"/>
              </a:ext>
            </a:extLst>
          </p:cNvPr>
          <p:cNvCxnSpPr>
            <a:cxnSpLocks/>
            <a:stCxn id="13" idx="3"/>
            <a:endCxn id="37" idx="1"/>
          </p:cNvCxnSpPr>
          <p:nvPr/>
        </p:nvCxnSpPr>
        <p:spPr>
          <a:xfrm>
            <a:off x="5524500" y="7518400"/>
            <a:ext cx="825500" cy="304800"/>
          </a:xfrm>
          <a:prstGeom prst="straightConnector1">
            <a:avLst/>
          </a:prstGeom>
          <a:ln w="25400">
            <a:solidFill>
              <a:srgbClr val="A6A6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B15ECA17-7B21-922D-FF64-30DFA0ABA0E8}"/>
              </a:ext>
            </a:extLst>
          </p:cNvPr>
          <p:cNvCxnSpPr>
            <a:cxnSpLocks/>
            <a:stCxn id="13" idx="3"/>
            <a:endCxn id="33" idx="1"/>
          </p:cNvCxnSpPr>
          <p:nvPr/>
        </p:nvCxnSpPr>
        <p:spPr>
          <a:xfrm flipV="1">
            <a:off x="5524500" y="2743200"/>
            <a:ext cx="825500" cy="4775200"/>
          </a:xfrm>
          <a:prstGeom prst="straightConnector1">
            <a:avLst/>
          </a:prstGeom>
          <a:ln w="25400">
            <a:solidFill>
              <a:srgbClr val="246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BB89DD8-5C8C-E478-240B-A9FD09F2A376}"/>
              </a:ext>
            </a:extLst>
          </p:cNvPr>
          <p:cNvCxnSpPr>
            <a:cxnSpLocks/>
            <a:stCxn id="12" idx="3"/>
            <a:endCxn id="33" idx="1"/>
          </p:cNvCxnSpPr>
          <p:nvPr/>
        </p:nvCxnSpPr>
        <p:spPr>
          <a:xfrm flipV="1">
            <a:off x="5524500" y="2743200"/>
            <a:ext cx="825500" cy="4064000"/>
          </a:xfrm>
          <a:prstGeom prst="straightConnector1">
            <a:avLst/>
          </a:prstGeom>
          <a:ln w="35560">
            <a:solidFill>
              <a:srgbClr val="246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76397D9B-ABCC-E0CF-D617-5B7237AE1D7B}"/>
              </a:ext>
            </a:extLst>
          </p:cNvPr>
          <p:cNvCxnSpPr>
            <a:cxnSpLocks/>
            <a:stCxn id="11" idx="3"/>
            <a:endCxn id="37" idx="1"/>
          </p:cNvCxnSpPr>
          <p:nvPr/>
        </p:nvCxnSpPr>
        <p:spPr>
          <a:xfrm>
            <a:off x="5524500" y="5969000"/>
            <a:ext cx="825500" cy="1854200"/>
          </a:xfrm>
          <a:prstGeom prst="straightConnector1">
            <a:avLst/>
          </a:prstGeom>
          <a:ln w="17780">
            <a:solidFill>
              <a:srgbClr val="A6A6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541147AD-6568-D454-D53D-826625CC2205}"/>
              </a:ext>
            </a:extLst>
          </p:cNvPr>
          <p:cNvCxnSpPr>
            <a:cxnSpLocks/>
            <a:stCxn id="11" idx="3"/>
            <a:endCxn id="36" idx="1"/>
          </p:cNvCxnSpPr>
          <p:nvPr/>
        </p:nvCxnSpPr>
        <p:spPr>
          <a:xfrm>
            <a:off x="5524500" y="5969000"/>
            <a:ext cx="825500" cy="584200"/>
          </a:xfrm>
          <a:prstGeom prst="straightConnector1">
            <a:avLst/>
          </a:prstGeom>
          <a:ln w="17780">
            <a:solidFill>
              <a:srgbClr val="A6A6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B41517FE-25AE-8914-673A-9C5ABCEF25E3}"/>
              </a:ext>
            </a:extLst>
          </p:cNvPr>
          <p:cNvCxnSpPr>
            <a:cxnSpLocks/>
            <a:stCxn id="11" idx="3"/>
            <a:endCxn id="35" idx="1"/>
          </p:cNvCxnSpPr>
          <p:nvPr/>
        </p:nvCxnSpPr>
        <p:spPr>
          <a:xfrm flipV="1">
            <a:off x="5524500" y="5283200"/>
            <a:ext cx="825500" cy="685800"/>
          </a:xfrm>
          <a:prstGeom prst="straightConnector1">
            <a:avLst/>
          </a:prstGeom>
          <a:ln w="17780">
            <a:solidFill>
              <a:srgbClr val="A6A6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BE7A43EA-145C-1A90-BB24-A6B557D17E40}"/>
              </a:ext>
            </a:extLst>
          </p:cNvPr>
          <p:cNvCxnSpPr>
            <a:cxnSpLocks/>
            <a:stCxn id="11" idx="3"/>
            <a:endCxn id="34" idx="1"/>
          </p:cNvCxnSpPr>
          <p:nvPr/>
        </p:nvCxnSpPr>
        <p:spPr>
          <a:xfrm flipV="1">
            <a:off x="5524500" y="4013200"/>
            <a:ext cx="825500" cy="1955800"/>
          </a:xfrm>
          <a:prstGeom prst="straightConnector1">
            <a:avLst/>
          </a:prstGeom>
          <a:ln w="17780">
            <a:solidFill>
              <a:srgbClr val="A6A6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B0C8C770-DAF1-2CCC-7166-70F2AF9DD13A}"/>
              </a:ext>
            </a:extLst>
          </p:cNvPr>
          <p:cNvCxnSpPr>
            <a:cxnSpLocks/>
            <a:stCxn id="11" idx="3"/>
            <a:endCxn id="33" idx="1"/>
          </p:cNvCxnSpPr>
          <p:nvPr/>
        </p:nvCxnSpPr>
        <p:spPr>
          <a:xfrm flipV="1">
            <a:off x="5524500" y="2743200"/>
            <a:ext cx="825500" cy="3225800"/>
          </a:xfrm>
          <a:prstGeom prst="straightConnector1">
            <a:avLst/>
          </a:prstGeom>
          <a:ln w="17780">
            <a:solidFill>
              <a:srgbClr val="246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A4F10146-184E-F0D4-9E5B-7161E8F4A064}"/>
              </a:ext>
            </a:extLst>
          </p:cNvPr>
          <p:cNvCxnSpPr>
            <a:cxnSpLocks/>
            <a:stCxn id="10" idx="3"/>
            <a:endCxn id="37" idx="1"/>
          </p:cNvCxnSpPr>
          <p:nvPr/>
        </p:nvCxnSpPr>
        <p:spPr>
          <a:xfrm>
            <a:off x="5524500" y="3454400"/>
            <a:ext cx="825500" cy="4368800"/>
          </a:xfrm>
          <a:prstGeom prst="straightConnector1">
            <a:avLst/>
          </a:prstGeom>
          <a:ln w="27940">
            <a:solidFill>
              <a:srgbClr val="A6A6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F346BDBF-80DC-51AB-C23C-1073031E0C3C}"/>
              </a:ext>
            </a:extLst>
          </p:cNvPr>
          <p:cNvCxnSpPr>
            <a:cxnSpLocks/>
            <a:stCxn id="30" idx="3"/>
            <a:endCxn id="14" idx="1"/>
          </p:cNvCxnSpPr>
          <p:nvPr/>
        </p:nvCxnSpPr>
        <p:spPr>
          <a:xfrm>
            <a:off x="2159000" y="7886700"/>
            <a:ext cx="1206500" cy="342900"/>
          </a:xfrm>
          <a:prstGeom prst="straightConnector1">
            <a:avLst/>
          </a:prstGeom>
          <a:ln w="35560">
            <a:solidFill>
              <a:srgbClr val="246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3CA1A852-6823-60BA-F2A9-23FE09D217A7}"/>
              </a:ext>
            </a:extLst>
          </p:cNvPr>
          <p:cNvCxnSpPr>
            <a:cxnSpLocks/>
            <a:stCxn id="28" idx="3"/>
            <a:endCxn id="13" idx="1"/>
          </p:cNvCxnSpPr>
          <p:nvPr/>
        </p:nvCxnSpPr>
        <p:spPr>
          <a:xfrm>
            <a:off x="2159000" y="7327900"/>
            <a:ext cx="1206500" cy="190500"/>
          </a:xfrm>
          <a:prstGeom prst="straightConnector1">
            <a:avLst/>
          </a:prstGeom>
          <a:ln w="25400">
            <a:solidFill>
              <a:srgbClr val="246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A4125931-8110-E530-9E27-592AB990B43A}"/>
              </a:ext>
            </a:extLst>
          </p:cNvPr>
          <p:cNvCxnSpPr>
            <a:cxnSpLocks/>
            <a:stCxn id="26" idx="3"/>
            <a:endCxn id="12" idx="1"/>
          </p:cNvCxnSpPr>
          <p:nvPr/>
        </p:nvCxnSpPr>
        <p:spPr>
          <a:xfrm>
            <a:off x="2159000" y="6769100"/>
            <a:ext cx="1206500" cy="38100"/>
          </a:xfrm>
          <a:prstGeom prst="straightConnector1">
            <a:avLst/>
          </a:prstGeom>
          <a:ln w="35560">
            <a:solidFill>
              <a:srgbClr val="246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B67580C7-AB88-6957-1744-08B3C85F99AD}"/>
              </a:ext>
            </a:extLst>
          </p:cNvPr>
          <p:cNvCxnSpPr>
            <a:cxnSpLocks/>
            <a:stCxn id="24" idx="3"/>
            <a:endCxn id="11" idx="1"/>
          </p:cNvCxnSpPr>
          <p:nvPr/>
        </p:nvCxnSpPr>
        <p:spPr>
          <a:xfrm flipV="1">
            <a:off x="2159000" y="5969000"/>
            <a:ext cx="1206500" cy="241300"/>
          </a:xfrm>
          <a:prstGeom prst="straightConnector1">
            <a:avLst/>
          </a:prstGeom>
          <a:ln w="17780">
            <a:solidFill>
              <a:srgbClr val="246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E33D358-A8DD-AC13-E4FF-BF4DB68B983A}"/>
              </a:ext>
            </a:extLst>
          </p:cNvPr>
          <p:cNvCxnSpPr>
            <a:cxnSpLocks/>
            <a:stCxn id="22" idx="3"/>
            <a:endCxn id="11" idx="1"/>
          </p:cNvCxnSpPr>
          <p:nvPr/>
        </p:nvCxnSpPr>
        <p:spPr>
          <a:xfrm>
            <a:off x="2159000" y="5651500"/>
            <a:ext cx="1206500" cy="317500"/>
          </a:xfrm>
          <a:prstGeom prst="straightConnector1">
            <a:avLst/>
          </a:prstGeom>
          <a:ln w="17780">
            <a:solidFill>
              <a:srgbClr val="246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4008E6A4-C72B-4183-6918-769AF2D81A13}"/>
              </a:ext>
            </a:extLst>
          </p:cNvPr>
          <p:cNvCxnSpPr>
            <a:cxnSpLocks/>
            <a:stCxn id="17" idx="3"/>
            <a:endCxn id="10" idx="1"/>
          </p:cNvCxnSpPr>
          <p:nvPr/>
        </p:nvCxnSpPr>
        <p:spPr>
          <a:xfrm>
            <a:off x="2159000" y="3416300"/>
            <a:ext cx="1206500" cy="38100"/>
          </a:xfrm>
          <a:prstGeom prst="straightConnector1">
            <a:avLst/>
          </a:prstGeom>
          <a:ln w="27940">
            <a:solidFill>
              <a:srgbClr val="246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09C33A-9884-89BA-18E9-CDD1DA97B64D}"/>
              </a:ext>
            </a:extLst>
          </p:cNvPr>
          <p:cNvSpPr txBox="1"/>
          <p:nvPr/>
        </p:nvSpPr>
        <p:spPr>
          <a:xfrm>
            <a:off x="533400" y="457200"/>
            <a:ext cx="812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2000" b="1">
                <a:solidFill>
                  <a:srgbClr val="1F2937"/>
                </a:solidFill>
                <a:latin typeface="맑은 고딕" panose="020B0503020000020004" pitchFamily="50" charset="-127"/>
              </a:rPr>
              <a:t>TF-IDF </a:t>
            </a:r>
            <a:r>
              <a:rPr lang="ko-KR" altLang="en-US" sz="2000" b="1">
                <a:solidFill>
                  <a:srgbClr val="1F2937"/>
                </a:solidFill>
                <a:latin typeface="맑은 고딕" panose="020B0503020000020004" pitchFamily="50" charset="-127"/>
              </a:rPr>
              <a:t>매칭 상세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2A4D2C-44D5-3A69-4F44-CC6B6606A808}"/>
              </a:ext>
            </a:extLst>
          </p:cNvPr>
          <p:cNvSpPr txBox="1"/>
          <p:nvPr/>
        </p:nvSpPr>
        <p:spPr>
          <a:xfrm>
            <a:off x="533400" y="914400"/>
            <a:ext cx="812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000">
                <a:solidFill>
                  <a:srgbClr val="526477"/>
                </a:solidFill>
                <a:latin typeface="맑은 고딕" panose="020B0503020000020004" pitchFamily="50" charset="-127"/>
              </a:rPr>
              <a:t>질문 </a:t>
            </a:r>
            <a:r>
              <a:rPr lang="en-US" altLang="ko-KR" sz="1000">
                <a:solidFill>
                  <a:srgbClr val="526477"/>
                </a:solidFill>
                <a:latin typeface="맑은 고딕" panose="020B0503020000020004" pitchFamily="50" charset="-127"/>
              </a:rPr>
              <a:t>"2026</a:t>
            </a:r>
            <a:r>
              <a:rPr lang="ko-KR" altLang="en-US" sz="1000">
                <a:solidFill>
                  <a:srgbClr val="526477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000">
                <a:solidFill>
                  <a:srgbClr val="526477"/>
                </a:solidFill>
                <a:latin typeface="맑은 고딕" panose="020B0503020000020004" pitchFamily="50" charset="-127"/>
              </a:rPr>
              <a:t>7</a:t>
            </a:r>
            <a:r>
              <a:rPr lang="ko-KR" altLang="en-US" sz="1000">
                <a:solidFill>
                  <a:srgbClr val="526477"/>
                </a:solidFill>
                <a:latin typeface="맑은 고딕" panose="020B0503020000020004" pitchFamily="50" charset="-127"/>
              </a:rPr>
              <a:t>월 기준 </a:t>
            </a:r>
            <a:r>
              <a:rPr lang="en-US" altLang="ko-KR" sz="1000">
                <a:solidFill>
                  <a:srgbClr val="526477"/>
                </a:solidFill>
                <a:latin typeface="맑은 고딕" panose="020B0503020000020004" pitchFamily="50" charset="-127"/>
              </a:rPr>
              <a:t>xxx </a:t>
            </a:r>
            <a:r>
              <a:rPr lang="ko-KR" altLang="en-US" sz="1000">
                <a:solidFill>
                  <a:srgbClr val="526477"/>
                </a:solidFill>
                <a:latin typeface="맑은 고딕" panose="020B0503020000020004" pitchFamily="50" charset="-127"/>
              </a:rPr>
              <a:t>차량 차량상태 일별로</a:t>
            </a:r>
            <a:r>
              <a:rPr lang="en-US" altLang="ko-KR" sz="1000">
                <a:solidFill>
                  <a:srgbClr val="526477"/>
                </a:solidFill>
                <a:latin typeface="맑은 고딕" panose="020B0503020000020004" pitchFamily="50" charset="-127"/>
              </a:rPr>
              <a:t>" — </a:t>
            </a:r>
            <a:r>
              <a:rPr lang="ko-KR" altLang="en-US" sz="1000">
                <a:solidFill>
                  <a:srgbClr val="526477"/>
                </a:solidFill>
                <a:latin typeface="맑은 고딕" panose="020B0503020000020004" pitchFamily="50" charset="-127"/>
              </a:rPr>
              <a:t>질문 토큰은 단어 사전에 있을 때만 이어지고</a:t>
            </a:r>
            <a:r>
              <a:rPr lang="en-US" altLang="ko-KR" sz="1000">
                <a:solidFill>
                  <a:srgbClr val="52647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>
                <a:solidFill>
                  <a:srgbClr val="526477"/>
                </a:solidFill>
                <a:latin typeface="맑은 고딕" panose="020B0503020000020004" pitchFamily="50" charset="-127"/>
              </a:rPr>
              <a:t>그 단어를 가진 문서의 점수가 오른다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9E3C5C-4860-C568-308A-9C2E35F24A9C}"/>
              </a:ext>
            </a:extLst>
          </p:cNvPr>
          <p:cNvSpPr txBox="1"/>
          <p:nvPr/>
        </p:nvSpPr>
        <p:spPr>
          <a:xfrm>
            <a:off x="508000" y="1587500"/>
            <a:ext cx="1651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ko-KR" altLang="en-US" sz="1200" b="1">
                <a:solidFill>
                  <a:srgbClr val="2463A6"/>
                </a:solidFill>
                <a:latin typeface="맑은 고딕" panose="020B0503020000020004" pitchFamily="50" charset="-127"/>
              </a:rPr>
              <a:t>질문 토큰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A94746-8D22-8795-124A-D0CF286DD0B0}"/>
              </a:ext>
            </a:extLst>
          </p:cNvPr>
          <p:cNvSpPr txBox="1"/>
          <p:nvPr/>
        </p:nvSpPr>
        <p:spPr>
          <a:xfrm>
            <a:off x="3365500" y="1587500"/>
            <a:ext cx="2159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ko-KR" altLang="en-US" sz="1200" b="1">
                <a:solidFill>
                  <a:srgbClr val="2463A6"/>
                </a:solidFill>
                <a:latin typeface="맑은 고딕" panose="020B0503020000020004" pitchFamily="50" charset="-127"/>
              </a:rPr>
              <a:t>단어 사전 </a:t>
            </a:r>
            <a:r>
              <a:rPr lang="en-US" altLang="ko-KR" sz="1200" b="1">
                <a:solidFill>
                  <a:srgbClr val="2463A6"/>
                </a:solidFill>
                <a:latin typeface="맑은 고딕" panose="020B0503020000020004" pitchFamily="50" charset="-127"/>
              </a:rPr>
              <a:t>(IDF)</a:t>
            </a:r>
            <a:endParaRPr lang="ko-KR" altLang="en-US" sz="1200" b="1">
              <a:solidFill>
                <a:srgbClr val="2463A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AF5823-22E6-99C7-B65E-24383EC2DE0A}"/>
              </a:ext>
            </a:extLst>
          </p:cNvPr>
          <p:cNvSpPr txBox="1"/>
          <p:nvPr/>
        </p:nvSpPr>
        <p:spPr>
          <a:xfrm>
            <a:off x="6350000" y="1587500"/>
            <a:ext cx="23495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ko-KR" altLang="en-US" sz="1200" b="1">
                <a:solidFill>
                  <a:srgbClr val="2463A6"/>
                </a:solidFill>
                <a:latin typeface="맑은 고딕" panose="020B0503020000020004" pitchFamily="50" charset="-127"/>
              </a:rPr>
              <a:t>후보 문서 </a:t>
            </a:r>
            <a:r>
              <a:rPr lang="en-US" altLang="ko-KR" sz="1200" b="1">
                <a:solidFill>
                  <a:srgbClr val="2463A6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200" b="1">
                <a:solidFill>
                  <a:srgbClr val="2463A6"/>
                </a:solidFill>
                <a:latin typeface="맑은 고딕" panose="020B0503020000020004" pitchFamily="50" charset="-127"/>
              </a:rPr>
              <a:t>지표</a:t>
            </a:r>
            <a:r>
              <a:rPr lang="en-US" altLang="ko-KR" sz="1200" b="1">
                <a:solidFill>
                  <a:srgbClr val="2463A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2463A6"/>
                </a:solidFill>
                <a:latin typeface="맑은 고딕" panose="020B0503020000020004" pitchFamily="50" charset="-127"/>
              </a:rPr>
              <a:t>테이블</a:t>
            </a:r>
            <a:r>
              <a:rPr lang="en-US" altLang="ko-KR" sz="1200" b="1">
                <a:solidFill>
                  <a:srgbClr val="2463A6"/>
                </a:solidFill>
                <a:latin typeface="맑은 고딕" panose="020B0503020000020004" pitchFamily="50" charset="-127"/>
              </a:rPr>
              <a:t>)</a:t>
            </a:r>
            <a:endParaRPr lang="ko-KR" altLang="en-US" sz="1200" b="1">
              <a:solidFill>
                <a:srgbClr val="2463A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B7B419-7A30-96EC-C0B3-6F6F9FA1F4DF}"/>
              </a:ext>
            </a:extLst>
          </p:cNvPr>
          <p:cNvSpPr txBox="1"/>
          <p:nvPr/>
        </p:nvSpPr>
        <p:spPr>
          <a:xfrm>
            <a:off x="3365500" y="1841500"/>
            <a:ext cx="2159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ko-KR" altLang="en-US" sz="800">
                <a:solidFill>
                  <a:srgbClr val="A6A6A6"/>
                </a:solidFill>
                <a:latin typeface="맑은 고딕" panose="020B0503020000020004" pitchFamily="50" charset="-127"/>
              </a:rPr>
              <a:t>사전 </a:t>
            </a:r>
            <a:r>
              <a:rPr lang="en-US" altLang="ko-KR" sz="800">
                <a:solidFill>
                  <a:srgbClr val="A6A6A6"/>
                </a:solidFill>
                <a:latin typeface="맑은 고딕" panose="020B0503020000020004" pitchFamily="50" charset="-127"/>
              </a:rPr>
              <a:t>361</a:t>
            </a:r>
            <a:r>
              <a:rPr lang="ko-KR" altLang="en-US" sz="800">
                <a:solidFill>
                  <a:srgbClr val="A6A6A6"/>
                </a:solidFill>
                <a:latin typeface="맑은 고딕" panose="020B0503020000020004" pitchFamily="50" charset="-127"/>
              </a:rPr>
              <a:t>개 단어 중 질문과 겹친 </a:t>
            </a:r>
            <a:r>
              <a:rPr lang="en-US" altLang="ko-KR" sz="800">
                <a:solidFill>
                  <a:srgbClr val="A6A6A6"/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800">
                <a:solidFill>
                  <a:srgbClr val="A6A6A6"/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10" name="Dict 7">
            <a:extLst>
              <a:ext uri="{FF2B5EF4-FFF2-40B4-BE49-F238E27FC236}">
                <a16:creationId xmlns:a16="http://schemas.microsoft.com/office/drawing/2014/main" id="{45404A6C-B638-90C0-7189-404F6A2ECFFF}"/>
              </a:ext>
            </a:extLst>
          </p:cNvPr>
          <p:cNvSpPr/>
          <p:nvPr/>
        </p:nvSpPr>
        <p:spPr>
          <a:xfrm>
            <a:off x="3365500" y="3213100"/>
            <a:ext cx="2159000" cy="482600"/>
          </a:xfrm>
          <a:prstGeom prst="roundRect">
            <a:avLst>
              <a:gd name="adj" fmla="val 15000"/>
            </a:avLst>
          </a:prstGeom>
          <a:solidFill>
            <a:srgbClr val="E8F0FA"/>
          </a:solidFill>
          <a:ln w="12700">
            <a:solidFill>
              <a:srgbClr val="246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76200" bIns="38100" rtlCol="0" anchor="ctr"/>
          <a:lstStyle/>
          <a:p>
            <a:r>
              <a:rPr lang="en-US" altLang="ko-KR" sz="1000" b="1">
                <a:solidFill>
                  <a:srgbClr val="1F2937"/>
                </a:solidFill>
                <a:latin typeface="맑은 고딕" panose="020B0503020000020004" pitchFamily="50" charset="-127"/>
              </a:rPr>
              <a:t>7   IDF 2.75</a:t>
            </a:r>
          </a:p>
          <a:p>
            <a:r>
              <a:rPr lang="ko-KR" altLang="en-US" sz="800">
                <a:solidFill>
                  <a:srgbClr val="526477"/>
                </a:solidFill>
                <a:latin typeface="맑은 고딕" panose="020B0503020000020004" pitchFamily="50" charset="-127"/>
              </a:rPr>
              <a:t>문서 </a:t>
            </a:r>
            <a:r>
              <a:rPr lang="en-US" altLang="ko-KR" sz="800">
                <a:solidFill>
                  <a:srgbClr val="526477"/>
                </a:solidFill>
                <a:latin typeface="맑은 고딕" panose="020B0503020000020004" pitchFamily="50" charset="-127"/>
              </a:rPr>
              <a:t>3/22</a:t>
            </a:r>
            <a:endParaRPr lang="ko-KR" altLang="en-US" sz="800">
              <a:solidFill>
                <a:srgbClr val="5264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Dict 차량">
            <a:extLst>
              <a:ext uri="{FF2B5EF4-FFF2-40B4-BE49-F238E27FC236}">
                <a16:creationId xmlns:a16="http://schemas.microsoft.com/office/drawing/2014/main" id="{BD750821-49FC-8A47-95AA-0A8BC4827BEC}"/>
              </a:ext>
            </a:extLst>
          </p:cNvPr>
          <p:cNvSpPr/>
          <p:nvPr/>
        </p:nvSpPr>
        <p:spPr>
          <a:xfrm>
            <a:off x="3365500" y="5727700"/>
            <a:ext cx="2159000" cy="482600"/>
          </a:xfrm>
          <a:prstGeom prst="roundRect">
            <a:avLst>
              <a:gd name="adj" fmla="val 15000"/>
            </a:avLst>
          </a:prstGeom>
          <a:solidFill>
            <a:srgbClr val="E8F0FA"/>
          </a:solidFill>
          <a:ln w="12700">
            <a:solidFill>
              <a:srgbClr val="246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76200" bIns="38100" rtlCol="0" anchor="ctr"/>
          <a:lstStyle/>
          <a:p>
            <a:r>
              <a:rPr lang="ko-KR" altLang="en-US" sz="1000" b="1">
                <a:solidFill>
                  <a:srgbClr val="1F2937"/>
                </a:solidFill>
                <a:latin typeface="맑은 고딕" panose="020B0503020000020004" pitchFamily="50" charset="-127"/>
              </a:rPr>
              <a:t>차량   </a:t>
            </a:r>
            <a:r>
              <a:rPr lang="en-US" altLang="ko-KR" sz="1000" b="1">
                <a:solidFill>
                  <a:srgbClr val="1F2937"/>
                </a:solidFill>
                <a:latin typeface="맑은 고딕" panose="020B0503020000020004" pitchFamily="50" charset="-127"/>
              </a:rPr>
              <a:t>IDF 1.74</a:t>
            </a:r>
          </a:p>
          <a:p>
            <a:r>
              <a:rPr lang="ko-KR" altLang="en-US" sz="800">
                <a:solidFill>
                  <a:srgbClr val="526477"/>
                </a:solidFill>
                <a:latin typeface="맑은 고딕" panose="020B0503020000020004" pitchFamily="50" charset="-127"/>
              </a:rPr>
              <a:t>문서 </a:t>
            </a:r>
            <a:r>
              <a:rPr lang="en-US" altLang="ko-KR" sz="800">
                <a:solidFill>
                  <a:srgbClr val="526477"/>
                </a:solidFill>
                <a:latin typeface="맑은 고딕" panose="020B0503020000020004" pitchFamily="50" charset="-127"/>
              </a:rPr>
              <a:t>10/22</a:t>
            </a:r>
            <a:endParaRPr lang="ko-KR" altLang="en-US" sz="800">
              <a:solidFill>
                <a:srgbClr val="5264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Dict 량상">
            <a:extLst>
              <a:ext uri="{FF2B5EF4-FFF2-40B4-BE49-F238E27FC236}">
                <a16:creationId xmlns:a16="http://schemas.microsoft.com/office/drawing/2014/main" id="{BD2B000F-A6CE-2653-8BEA-84C7746081F3}"/>
              </a:ext>
            </a:extLst>
          </p:cNvPr>
          <p:cNvSpPr/>
          <p:nvPr/>
        </p:nvSpPr>
        <p:spPr>
          <a:xfrm>
            <a:off x="3365500" y="6565900"/>
            <a:ext cx="2159000" cy="482600"/>
          </a:xfrm>
          <a:prstGeom prst="roundRect">
            <a:avLst>
              <a:gd name="adj" fmla="val 15000"/>
            </a:avLst>
          </a:prstGeom>
          <a:solidFill>
            <a:srgbClr val="E8F0FA"/>
          </a:solidFill>
          <a:ln w="12700">
            <a:solidFill>
              <a:srgbClr val="246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76200" bIns="38100" rtlCol="0" anchor="ctr"/>
          <a:lstStyle/>
          <a:p>
            <a:r>
              <a:rPr lang="ko-KR" altLang="en-US" sz="1000" b="1">
                <a:solidFill>
                  <a:srgbClr val="1F2937"/>
                </a:solidFill>
                <a:latin typeface="맑은 고딕" panose="020B0503020000020004" pitchFamily="50" charset="-127"/>
              </a:rPr>
              <a:t>량상   </a:t>
            </a:r>
            <a:r>
              <a:rPr lang="en-US" altLang="ko-KR" sz="1000" b="1">
                <a:solidFill>
                  <a:srgbClr val="1F2937"/>
                </a:solidFill>
                <a:latin typeface="맑은 고딕" panose="020B0503020000020004" pitchFamily="50" charset="-127"/>
              </a:rPr>
              <a:t>IDF 3.44</a:t>
            </a:r>
          </a:p>
          <a:p>
            <a:r>
              <a:rPr lang="ko-KR" altLang="en-US" sz="800">
                <a:solidFill>
                  <a:srgbClr val="526477"/>
                </a:solidFill>
                <a:latin typeface="맑은 고딕" panose="020B0503020000020004" pitchFamily="50" charset="-127"/>
              </a:rPr>
              <a:t>문서 </a:t>
            </a:r>
            <a:r>
              <a:rPr lang="en-US" altLang="ko-KR" sz="800">
                <a:solidFill>
                  <a:srgbClr val="526477"/>
                </a:solidFill>
                <a:latin typeface="맑은 고딕" panose="020B0503020000020004" pitchFamily="50" charset="-127"/>
              </a:rPr>
              <a:t>1/22</a:t>
            </a:r>
            <a:endParaRPr lang="ko-KR" altLang="en-US" sz="800">
              <a:solidFill>
                <a:srgbClr val="5264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Dict 상태">
            <a:extLst>
              <a:ext uri="{FF2B5EF4-FFF2-40B4-BE49-F238E27FC236}">
                <a16:creationId xmlns:a16="http://schemas.microsoft.com/office/drawing/2014/main" id="{40FA5BC6-C486-37B8-26B8-593F1D36F1ED}"/>
              </a:ext>
            </a:extLst>
          </p:cNvPr>
          <p:cNvSpPr/>
          <p:nvPr/>
        </p:nvSpPr>
        <p:spPr>
          <a:xfrm>
            <a:off x="3365500" y="7277100"/>
            <a:ext cx="2159000" cy="482600"/>
          </a:xfrm>
          <a:prstGeom prst="roundRect">
            <a:avLst>
              <a:gd name="adj" fmla="val 15000"/>
            </a:avLst>
          </a:prstGeom>
          <a:solidFill>
            <a:srgbClr val="E8F0FA"/>
          </a:solidFill>
          <a:ln w="12700">
            <a:solidFill>
              <a:srgbClr val="246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76200" bIns="38100" rtlCol="0" anchor="ctr"/>
          <a:lstStyle/>
          <a:p>
            <a:r>
              <a:rPr lang="ko-KR" altLang="en-US" sz="1000" b="1">
                <a:solidFill>
                  <a:srgbClr val="1F2937"/>
                </a:solidFill>
                <a:latin typeface="맑은 고딕" panose="020B0503020000020004" pitchFamily="50" charset="-127"/>
              </a:rPr>
              <a:t>상태   </a:t>
            </a:r>
            <a:r>
              <a:rPr lang="en-US" altLang="ko-KR" sz="1000" b="1">
                <a:solidFill>
                  <a:srgbClr val="1F2937"/>
                </a:solidFill>
                <a:latin typeface="맑은 고딕" panose="020B0503020000020004" pitchFamily="50" charset="-127"/>
              </a:rPr>
              <a:t>IDF 2.53</a:t>
            </a:r>
          </a:p>
          <a:p>
            <a:r>
              <a:rPr lang="ko-KR" altLang="en-US" sz="800">
                <a:solidFill>
                  <a:srgbClr val="526477"/>
                </a:solidFill>
                <a:latin typeface="맑은 고딕" panose="020B0503020000020004" pitchFamily="50" charset="-127"/>
              </a:rPr>
              <a:t>문서 </a:t>
            </a:r>
            <a:r>
              <a:rPr lang="en-US" altLang="ko-KR" sz="800">
                <a:solidFill>
                  <a:srgbClr val="526477"/>
                </a:solidFill>
                <a:latin typeface="맑은 고딕" panose="020B0503020000020004" pitchFamily="50" charset="-127"/>
              </a:rPr>
              <a:t>4/22</a:t>
            </a:r>
            <a:endParaRPr lang="ko-KR" altLang="en-US" sz="800">
              <a:solidFill>
                <a:srgbClr val="5264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Dict 일별">
            <a:extLst>
              <a:ext uri="{FF2B5EF4-FFF2-40B4-BE49-F238E27FC236}">
                <a16:creationId xmlns:a16="http://schemas.microsoft.com/office/drawing/2014/main" id="{DE5DC207-3EDA-47FF-7D69-A83FBDB95C4D}"/>
              </a:ext>
            </a:extLst>
          </p:cNvPr>
          <p:cNvSpPr/>
          <p:nvPr/>
        </p:nvSpPr>
        <p:spPr>
          <a:xfrm>
            <a:off x="3365500" y="7988300"/>
            <a:ext cx="2159000" cy="482600"/>
          </a:xfrm>
          <a:prstGeom prst="roundRect">
            <a:avLst>
              <a:gd name="adj" fmla="val 15000"/>
            </a:avLst>
          </a:prstGeom>
          <a:solidFill>
            <a:srgbClr val="E8F0FA"/>
          </a:solidFill>
          <a:ln w="12700">
            <a:solidFill>
              <a:srgbClr val="246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76200" bIns="38100" rtlCol="0" anchor="ctr"/>
          <a:lstStyle/>
          <a:p>
            <a:r>
              <a:rPr lang="ko-KR" altLang="en-US" sz="1000" b="1">
                <a:solidFill>
                  <a:srgbClr val="1F2937"/>
                </a:solidFill>
                <a:latin typeface="맑은 고딕" panose="020B0503020000020004" pitchFamily="50" charset="-127"/>
              </a:rPr>
              <a:t>일별   </a:t>
            </a:r>
            <a:r>
              <a:rPr lang="en-US" altLang="ko-KR" sz="1000" b="1">
                <a:solidFill>
                  <a:srgbClr val="1F2937"/>
                </a:solidFill>
                <a:latin typeface="맑은 고딕" panose="020B0503020000020004" pitchFamily="50" charset="-127"/>
              </a:rPr>
              <a:t>IDF 3.44</a:t>
            </a:r>
          </a:p>
          <a:p>
            <a:r>
              <a:rPr lang="ko-KR" altLang="en-US" sz="800">
                <a:solidFill>
                  <a:srgbClr val="526477"/>
                </a:solidFill>
                <a:latin typeface="맑은 고딕" panose="020B0503020000020004" pitchFamily="50" charset="-127"/>
              </a:rPr>
              <a:t>문서 </a:t>
            </a:r>
            <a:r>
              <a:rPr lang="en-US" altLang="ko-KR" sz="800">
                <a:solidFill>
                  <a:srgbClr val="526477"/>
                </a:solidFill>
                <a:latin typeface="맑은 고딕" panose="020B0503020000020004" pitchFamily="50" charset="-127"/>
              </a:rPr>
              <a:t>1/22</a:t>
            </a:r>
            <a:endParaRPr lang="ko-KR" altLang="en-US" sz="800">
              <a:solidFill>
                <a:srgbClr val="5264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Token 2026">
            <a:extLst>
              <a:ext uri="{FF2B5EF4-FFF2-40B4-BE49-F238E27FC236}">
                <a16:creationId xmlns:a16="http://schemas.microsoft.com/office/drawing/2014/main" id="{587F0FC1-02D0-3BD8-EE06-6231D60B0D36}"/>
              </a:ext>
            </a:extLst>
          </p:cNvPr>
          <p:cNvSpPr/>
          <p:nvPr/>
        </p:nvSpPr>
        <p:spPr>
          <a:xfrm>
            <a:off x="508000" y="2095500"/>
            <a:ext cx="1651000" cy="4064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9525">
            <a:solidFill>
              <a:srgbClr val="A6A6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76200" bIns="38100" rtlCol="0" anchor="ctr"/>
          <a:lstStyle/>
          <a:p>
            <a:r>
              <a:rPr lang="en-US" altLang="ko-KR" sz="1000">
                <a:solidFill>
                  <a:srgbClr val="A6A6A6"/>
                </a:solidFill>
                <a:latin typeface="맑은 고딕" panose="020B0503020000020004" pitchFamily="50" charset="-127"/>
              </a:rPr>
              <a:t>2026   ✕ </a:t>
            </a:r>
            <a:r>
              <a:rPr lang="ko-KR" altLang="en-US" sz="1000">
                <a:solidFill>
                  <a:srgbClr val="A6A6A6"/>
                </a:solidFill>
                <a:latin typeface="맑은 고딕" panose="020B0503020000020004" pitchFamily="50" charset="-127"/>
              </a:rPr>
              <a:t>사전에 없음</a:t>
            </a:r>
          </a:p>
        </p:txBody>
      </p:sp>
      <p:sp>
        <p:nvSpPr>
          <p:cNvPr id="16" name="Token 년">
            <a:extLst>
              <a:ext uri="{FF2B5EF4-FFF2-40B4-BE49-F238E27FC236}">
                <a16:creationId xmlns:a16="http://schemas.microsoft.com/office/drawing/2014/main" id="{83A2434C-402C-FC43-6BA9-7FA4F58E6D6F}"/>
              </a:ext>
            </a:extLst>
          </p:cNvPr>
          <p:cNvSpPr/>
          <p:nvPr/>
        </p:nvSpPr>
        <p:spPr>
          <a:xfrm>
            <a:off x="508000" y="2654300"/>
            <a:ext cx="1651000" cy="4064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9525">
            <a:solidFill>
              <a:srgbClr val="A6A6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76200" bIns="38100" rtlCol="0" anchor="ctr"/>
          <a:lstStyle/>
          <a:p>
            <a:r>
              <a:rPr lang="ko-KR" altLang="en-US" sz="1000">
                <a:solidFill>
                  <a:srgbClr val="A6A6A6"/>
                </a:solidFill>
                <a:latin typeface="맑은 고딕" panose="020B0503020000020004" pitchFamily="50" charset="-127"/>
              </a:rPr>
              <a:t>년   ✕ 사전에 없음</a:t>
            </a:r>
          </a:p>
        </p:txBody>
      </p:sp>
      <p:sp>
        <p:nvSpPr>
          <p:cNvPr id="17" name="Token 7">
            <a:extLst>
              <a:ext uri="{FF2B5EF4-FFF2-40B4-BE49-F238E27FC236}">
                <a16:creationId xmlns:a16="http://schemas.microsoft.com/office/drawing/2014/main" id="{F93F6DCA-D78D-4384-B929-916048396E57}"/>
              </a:ext>
            </a:extLst>
          </p:cNvPr>
          <p:cNvSpPr/>
          <p:nvPr/>
        </p:nvSpPr>
        <p:spPr>
          <a:xfrm>
            <a:off x="508000" y="3213100"/>
            <a:ext cx="1651000" cy="406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46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76200" bIns="38100" rtlCol="0" anchor="ctr"/>
          <a:lstStyle/>
          <a:p>
            <a:r>
              <a:rPr lang="en-US" altLang="ko-KR" sz="1100" b="1">
                <a:solidFill>
                  <a:srgbClr val="1F2937"/>
                </a:solidFill>
                <a:latin typeface="맑은 고딕" panose="020B0503020000020004" pitchFamily="50" charset="-127"/>
              </a:rPr>
              <a:t>7</a:t>
            </a:r>
            <a:endParaRPr lang="ko-KR" altLang="en-US" sz="1100" b="1">
              <a:solidFill>
                <a:srgbClr val="1F293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Token 월">
            <a:extLst>
              <a:ext uri="{FF2B5EF4-FFF2-40B4-BE49-F238E27FC236}">
                <a16:creationId xmlns:a16="http://schemas.microsoft.com/office/drawing/2014/main" id="{D0F9F7C7-5F24-4CD5-8472-3988C5BDF02D}"/>
              </a:ext>
            </a:extLst>
          </p:cNvPr>
          <p:cNvSpPr/>
          <p:nvPr/>
        </p:nvSpPr>
        <p:spPr>
          <a:xfrm>
            <a:off x="508000" y="3771900"/>
            <a:ext cx="1651000" cy="4064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9525">
            <a:solidFill>
              <a:srgbClr val="A6A6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76200" bIns="38100" rtlCol="0" anchor="ctr"/>
          <a:lstStyle/>
          <a:p>
            <a:r>
              <a:rPr lang="ko-KR" altLang="en-US" sz="1000">
                <a:solidFill>
                  <a:srgbClr val="A6A6A6"/>
                </a:solidFill>
                <a:latin typeface="맑은 고딕" panose="020B0503020000020004" pitchFamily="50" charset="-127"/>
              </a:rPr>
              <a:t>월   ✕ 사전에 없음</a:t>
            </a:r>
          </a:p>
        </p:txBody>
      </p:sp>
      <p:sp>
        <p:nvSpPr>
          <p:cNvPr id="20" name="Token 기준">
            <a:extLst>
              <a:ext uri="{FF2B5EF4-FFF2-40B4-BE49-F238E27FC236}">
                <a16:creationId xmlns:a16="http://schemas.microsoft.com/office/drawing/2014/main" id="{ABCBE9AE-2E12-D855-0C34-9C00F9AE34AA}"/>
              </a:ext>
            </a:extLst>
          </p:cNvPr>
          <p:cNvSpPr/>
          <p:nvPr/>
        </p:nvSpPr>
        <p:spPr>
          <a:xfrm>
            <a:off x="508000" y="4330700"/>
            <a:ext cx="1651000" cy="4064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9525">
            <a:solidFill>
              <a:srgbClr val="A6A6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76200" bIns="38100" rtlCol="0" anchor="ctr"/>
          <a:lstStyle/>
          <a:p>
            <a:r>
              <a:rPr lang="ko-KR" altLang="en-US" sz="1000">
                <a:solidFill>
                  <a:srgbClr val="A6A6A6"/>
                </a:solidFill>
                <a:latin typeface="맑은 고딕" panose="020B0503020000020004" pitchFamily="50" charset="-127"/>
              </a:rPr>
              <a:t>기준   ✕ 사전에 없음</a:t>
            </a:r>
          </a:p>
        </p:txBody>
      </p:sp>
      <p:sp>
        <p:nvSpPr>
          <p:cNvPr id="21" name="Token xxx">
            <a:extLst>
              <a:ext uri="{FF2B5EF4-FFF2-40B4-BE49-F238E27FC236}">
                <a16:creationId xmlns:a16="http://schemas.microsoft.com/office/drawing/2014/main" id="{4F7BF0C4-34C3-B43A-D1E3-E69451D2AB27}"/>
              </a:ext>
            </a:extLst>
          </p:cNvPr>
          <p:cNvSpPr/>
          <p:nvPr/>
        </p:nvSpPr>
        <p:spPr>
          <a:xfrm>
            <a:off x="508000" y="4889500"/>
            <a:ext cx="1651000" cy="4064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9525">
            <a:solidFill>
              <a:srgbClr val="A6A6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76200" bIns="38100" rtlCol="0" anchor="ctr"/>
          <a:lstStyle/>
          <a:p>
            <a:r>
              <a:rPr lang="en-US" altLang="ko-KR" sz="1000">
                <a:solidFill>
                  <a:srgbClr val="A6A6A6"/>
                </a:solidFill>
                <a:latin typeface="맑은 고딕" panose="020B0503020000020004" pitchFamily="50" charset="-127"/>
              </a:rPr>
              <a:t>xxx   ✕ </a:t>
            </a:r>
            <a:r>
              <a:rPr lang="ko-KR" altLang="en-US" sz="1000">
                <a:solidFill>
                  <a:srgbClr val="A6A6A6"/>
                </a:solidFill>
                <a:latin typeface="맑은 고딕" panose="020B0503020000020004" pitchFamily="50" charset="-127"/>
              </a:rPr>
              <a:t>사전에 없음</a:t>
            </a:r>
          </a:p>
        </p:txBody>
      </p:sp>
      <p:sp>
        <p:nvSpPr>
          <p:cNvPr id="22" name="Token 차량">
            <a:extLst>
              <a:ext uri="{FF2B5EF4-FFF2-40B4-BE49-F238E27FC236}">
                <a16:creationId xmlns:a16="http://schemas.microsoft.com/office/drawing/2014/main" id="{F357E553-1ADB-11DD-5A55-7448D5C404C8}"/>
              </a:ext>
            </a:extLst>
          </p:cNvPr>
          <p:cNvSpPr/>
          <p:nvPr/>
        </p:nvSpPr>
        <p:spPr>
          <a:xfrm>
            <a:off x="508000" y="5448300"/>
            <a:ext cx="1651000" cy="406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46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76200" bIns="38100" rtlCol="0" anchor="ctr"/>
          <a:lstStyle/>
          <a:p>
            <a:r>
              <a:rPr lang="ko-KR" altLang="en-US" sz="1100" b="1">
                <a:solidFill>
                  <a:srgbClr val="1F2937"/>
                </a:solidFill>
                <a:latin typeface="맑은 고딕" panose="020B0503020000020004" pitchFamily="50" charset="-127"/>
              </a:rPr>
              <a:t>차량</a:t>
            </a:r>
          </a:p>
        </p:txBody>
      </p:sp>
      <p:sp>
        <p:nvSpPr>
          <p:cNvPr id="24" name="Token 차량">
            <a:extLst>
              <a:ext uri="{FF2B5EF4-FFF2-40B4-BE49-F238E27FC236}">
                <a16:creationId xmlns:a16="http://schemas.microsoft.com/office/drawing/2014/main" id="{31660146-B596-CDFC-D076-D7D7ECB9027B}"/>
              </a:ext>
            </a:extLst>
          </p:cNvPr>
          <p:cNvSpPr/>
          <p:nvPr/>
        </p:nvSpPr>
        <p:spPr>
          <a:xfrm>
            <a:off x="508000" y="6007100"/>
            <a:ext cx="1651000" cy="406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46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76200" bIns="38100" rtlCol="0" anchor="ctr"/>
          <a:lstStyle/>
          <a:p>
            <a:r>
              <a:rPr lang="ko-KR" altLang="en-US" sz="1100" b="1">
                <a:solidFill>
                  <a:srgbClr val="1F2937"/>
                </a:solidFill>
                <a:latin typeface="맑은 고딕" panose="020B0503020000020004" pitchFamily="50" charset="-127"/>
              </a:rPr>
              <a:t>차량</a:t>
            </a:r>
          </a:p>
        </p:txBody>
      </p:sp>
      <p:sp>
        <p:nvSpPr>
          <p:cNvPr id="26" name="Token 량상">
            <a:extLst>
              <a:ext uri="{FF2B5EF4-FFF2-40B4-BE49-F238E27FC236}">
                <a16:creationId xmlns:a16="http://schemas.microsoft.com/office/drawing/2014/main" id="{BEB29DDB-03B0-84C7-8537-18020F7F3319}"/>
              </a:ext>
            </a:extLst>
          </p:cNvPr>
          <p:cNvSpPr/>
          <p:nvPr/>
        </p:nvSpPr>
        <p:spPr>
          <a:xfrm>
            <a:off x="508000" y="6565900"/>
            <a:ext cx="1651000" cy="406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46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76200" bIns="38100" rtlCol="0" anchor="ctr"/>
          <a:lstStyle/>
          <a:p>
            <a:r>
              <a:rPr lang="ko-KR" altLang="en-US" sz="1100" b="1">
                <a:solidFill>
                  <a:srgbClr val="1F2937"/>
                </a:solidFill>
                <a:latin typeface="맑은 고딕" panose="020B0503020000020004" pitchFamily="50" charset="-127"/>
              </a:rPr>
              <a:t>량상</a:t>
            </a:r>
          </a:p>
        </p:txBody>
      </p:sp>
      <p:sp>
        <p:nvSpPr>
          <p:cNvPr id="28" name="Token 상태">
            <a:extLst>
              <a:ext uri="{FF2B5EF4-FFF2-40B4-BE49-F238E27FC236}">
                <a16:creationId xmlns:a16="http://schemas.microsoft.com/office/drawing/2014/main" id="{4E41E8F8-2FD8-A6D8-FA2E-9558195122BC}"/>
              </a:ext>
            </a:extLst>
          </p:cNvPr>
          <p:cNvSpPr/>
          <p:nvPr/>
        </p:nvSpPr>
        <p:spPr>
          <a:xfrm>
            <a:off x="508000" y="7124700"/>
            <a:ext cx="1651000" cy="406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46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76200" bIns="38100" rtlCol="0" anchor="ctr"/>
          <a:lstStyle/>
          <a:p>
            <a:r>
              <a:rPr lang="ko-KR" altLang="en-US" sz="1100" b="1">
                <a:solidFill>
                  <a:srgbClr val="1F2937"/>
                </a:solidFill>
                <a:latin typeface="맑은 고딕" panose="020B0503020000020004" pitchFamily="50" charset="-127"/>
              </a:rPr>
              <a:t>상태</a:t>
            </a:r>
          </a:p>
        </p:txBody>
      </p:sp>
      <p:sp>
        <p:nvSpPr>
          <p:cNvPr id="30" name="Token 일별">
            <a:extLst>
              <a:ext uri="{FF2B5EF4-FFF2-40B4-BE49-F238E27FC236}">
                <a16:creationId xmlns:a16="http://schemas.microsoft.com/office/drawing/2014/main" id="{956CA9AE-812C-3C34-0472-7BCC7AB60AA5}"/>
              </a:ext>
            </a:extLst>
          </p:cNvPr>
          <p:cNvSpPr/>
          <p:nvPr/>
        </p:nvSpPr>
        <p:spPr>
          <a:xfrm>
            <a:off x="508000" y="7683500"/>
            <a:ext cx="1651000" cy="406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46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76200" bIns="38100" rtlCol="0" anchor="ctr"/>
          <a:lstStyle/>
          <a:p>
            <a:r>
              <a:rPr lang="ko-KR" altLang="en-US" sz="1100" b="1">
                <a:solidFill>
                  <a:srgbClr val="1F2937"/>
                </a:solidFill>
                <a:latin typeface="맑은 고딕" panose="020B0503020000020004" pitchFamily="50" charset="-127"/>
              </a:rPr>
              <a:t>일별</a:t>
            </a:r>
          </a:p>
        </p:txBody>
      </p:sp>
      <p:sp>
        <p:nvSpPr>
          <p:cNvPr id="32" name="Token 별로">
            <a:extLst>
              <a:ext uri="{FF2B5EF4-FFF2-40B4-BE49-F238E27FC236}">
                <a16:creationId xmlns:a16="http://schemas.microsoft.com/office/drawing/2014/main" id="{90370C04-C7A3-3871-7BEA-5CDEE26458B4}"/>
              </a:ext>
            </a:extLst>
          </p:cNvPr>
          <p:cNvSpPr/>
          <p:nvPr/>
        </p:nvSpPr>
        <p:spPr>
          <a:xfrm>
            <a:off x="508000" y="8242300"/>
            <a:ext cx="1651000" cy="4064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9525">
            <a:solidFill>
              <a:srgbClr val="A6A6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76200" bIns="38100" rtlCol="0" anchor="ctr"/>
          <a:lstStyle/>
          <a:p>
            <a:r>
              <a:rPr lang="ko-KR" altLang="en-US" sz="1000">
                <a:solidFill>
                  <a:srgbClr val="A6A6A6"/>
                </a:solidFill>
                <a:latin typeface="맑은 고딕" panose="020B0503020000020004" pitchFamily="50" charset="-127"/>
              </a:rPr>
              <a:t>별로   ✕ 사전에 없음</a:t>
            </a:r>
          </a:p>
        </p:txBody>
      </p:sp>
      <p:sp>
        <p:nvSpPr>
          <p:cNvPr id="33" name="Doc 차량상태 상세정보">
            <a:extLst>
              <a:ext uri="{FF2B5EF4-FFF2-40B4-BE49-F238E27FC236}">
                <a16:creationId xmlns:a16="http://schemas.microsoft.com/office/drawing/2014/main" id="{9588F829-94C9-6BA1-0DCF-9F0260AFACF3}"/>
              </a:ext>
            </a:extLst>
          </p:cNvPr>
          <p:cNvSpPr/>
          <p:nvPr/>
        </p:nvSpPr>
        <p:spPr>
          <a:xfrm>
            <a:off x="6350000" y="2222500"/>
            <a:ext cx="2349500" cy="1041400"/>
          </a:xfrm>
          <a:prstGeom prst="roundRect">
            <a:avLst>
              <a:gd name="adj" fmla="val 15000"/>
            </a:avLst>
          </a:prstGeom>
          <a:solidFill>
            <a:srgbClr val="E8F0FA"/>
          </a:solidFill>
          <a:ln w="28575">
            <a:solidFill>
              <a:srgbClr val="246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76200" bIns="38100" rtlCol="0" anchor="ctr"/>
          <a:lstStyle/>
          <a:p>
            <a:r>
              <a:rPr lang="ko-KR" altLang="en-US" sz="1000" b="1" dirty="0">
                <a:solidFill>
                  <a:srgbClr val="1F2937"/>
                </a:solidFill>
                <a:latin typeface="맑은 고딕" panose="020B0503020000020004" pitchFamily="50" charset="-127"/>
              </a:rPr>
              <a:t>차량상태 상세정보  </a:t>
            </a:r>
            <a:r>
              <a:rPr lang="en-US" altLang="ko-KR" sz="1000" b="1" dirty="0">
                <a:solidFill>
                  <a:srgbClr val="1F2937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000" b="1" dirty="0">
                <a:solidFill>
                  <a:srgbClr val="1F2937"/>
                </a:solidFill>
                <a:latin typeface="맑은 고딕" panose="020B0503020000020004" pitchFamily="50" charset="-127"/>
              </a:rPr>
              <a:t>지표</a:t>
            </a:r>
            <a:r>
              <a:rPr lang="en-US" altLang="ko-KR" sz="1000" b="1" dirty="0">
                <a:solidFill>
                  <a:srgbClr val="1F2937"/>
                </a:solidFill>
                <a:latin typeface="맑은 고딕" panose="020B0503020000020004" pitchFamily="50" charset="-127"/>
              </a:rPr>
              <a:t>]</a:t>
            </a:r>
          </a:p>
          <a:p>
            <a:r>
              <a:rPr lang="ko-KR" altLang="en-US" sz="1200" b="1" dirty="0">
                <a:solidFill>
                  <a:srgbClr val="2463A6"/>
                </a:solidFill>
                <a:latin typeface="맑은 고딕" panose="020B0503020000020004" pitchFamily="50" charset="-127"/>
              </a:rPr>
              <a:t>점수 </a:t>
            </a:r>
            <a:r>
              <a:rPr lang="en-US" altLang="ko-KR" sz="1200" b="1" dirty="0">
                <a:solidFill>
                  <a:srgbClr val="2463A6"/>
                </a:solidFill>
                <a:latin typeface="맑은 고딕" panose="020B0503020000020004" pitchFamily="50" charset="-127"/>
              </a:rPr>
              <a:t>0.52</a:t>
            </a:r>
          </a:p>
          <a:p>
            <a:r>
              <a:rPr lang="ko-KR" altLang="en-US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겹친 단어</a:t>
            </a:r>
            <a:r>
              <a:rPr lang="en-US" altLang="ko-KR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차량 </a:t>
            </a:r>
            <a:r>
              <a:rPr lang="en-US" altLang="ko-KR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00" dirty="0" err="1">
                <a:solidFill>
                  <a:srgbClr val="526477"/>
                </a:solidFill>
                <a:latin typeface="맑은 고딕" panose="020B0503020000020004" pitchFamily="50" charset="-127"/>
              </a:rPr>
              <a:t>량상</a:t>
            </a:r>
            <a:r>
              <a:rPr lang="ko-KR" altLang="en-US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00" dirty="0">
                <a:solidFill>
                  <a:srgbClr val="526477"/>
                </a:solidFill>
                <a:latin typeface="맑은 고딕" panose="020B0503020000020004" pitchFamily="50" charset="-127"/>
              </a:rPr>
              <a:t>상태</a:t>
            </a:r>
          </a:p>
          <a:p>
            <a:r>
              <a:rPr lang="ko-KR" altLang="en-US" sz="800" dirty="0">
                <a:solidFill>
                  <a:srgbClr val="2E7D32"/>
                </a:solidFill>
                <a:latin typeface="맑은 고딕" panose="020B0503020000020004" pitchFamily="50" charset="-127"/>
              </a:rPr>
              <a:t>✔ 프롬프트에 실림</a:t>
            </a:r>
          </a:p>
        </p:txBody>
      </p:sp>
      <p:sp>
        <p:nvSpPr>
          <p:cNvPr id="34" name="Doc 일별 가동시간">
            <a:extLst>
              <a:ext uri="{FF2B5EF4-FFF2-40B4-BE49-F238E27FC236}">
                <a16:creationId xmlns:a16="http://schemas.microsoft.com/office/drawing/2014/main" id="{FF3BCD15-5B9A-4110-B1F4-65107F9D0F25}"/>
              </a:ext>
            </a:extLst>
          </p:cNvPr>
          <p:cNvSpPr/>
          <p:nvPr/>
        </p:nvSpPr>
        <p:spPr>
          <a:xfrm>
            <a:off x="6350000" y="3492500"/>
            <a:ext cx="2349500" cy="1041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5264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76200" bIns="38100" rtlCol="0" anchor="ctr"/>
          <a:lstStyle/>
          <a:p>
            <a:r>
              <a:rPr lang="ko-KR" altLang="en-US" sz="1000" b="1">
                <a:solidFill>
                  <a:srgbClr val="1F2937"/>
                </a:solidFill>
                <a:latin typeface="맑은 고딕" panose="020B0503020000020004" pitchFamily="50" charset="-127"/>
              </a:rPr>
              <a:t>일별 가동시간  </a:t>
            </a:r>
            <a:r>
              <a:rPr lang="en-US" altLang="ko-KR" sz="1000" b="1">
                <a:solidFill>
                  <a:srgbClr val="1F2937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000" b="1">
                <a:solidFill>
                  <a:srgbClr val="1F2937"/>
                </a:solidFill>
                <a:latin typeface="맑은 고딕" panose="020B0503020000020004" pitchFamily="50" charset="-127"/>
              </a:rPr>
              <a:t>지표</a:t>
            </a:r>
            <a:r>
              <a:rPr lang="en-US" altLang="ko-KR" sz="1000" b="1">
                <a:solidFill>
                  <a:srgbClr val="1F2937"/>
                </a:solidFill>
                <a:latin typeface="맑은 고딕" panose="020B0503020000020004" pitchFamily="50" charset="-127"/>
              </a:rPr>
              <a:t>]</a:t>
            </a:r>
          </a:p>
          <a:p>
            <a:r>
              <a:rPr lang="ko-KR" altLang="en-US" sz="1200" b="1">
                <a:solidFill>
                  <a:srgbClr val="2463A6"/>
                </a:solidFill>
                <a:latin typeface="맑은 고딕" panose="020B0503020000020004" pitchFamily="50" charset="-127"/>
              </a:rPr>
              <a:t>점수 </a:t>
            </a:r>
            <a:r>
              <a:rPr lang="en-US" altLang="ko-KR" sz="1200" b="1">
                <a:solidFill>
                  <a:srgbClr val="2463A6"/>
                </a:solidFill>
                <a:latin typeface="맑은 고딕" panose="020B0503020000020004" pitchFamily="50" charset="-127"/>
              </a:rPr>
              <a:t>0.33</a:t>
            </a:r>
          </a:p>
          <a:p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겹친 단어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차량 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일별</a:t>
            </a:r>
          </a:p>
          <a:p>
            <a:r>
              <a:rPr lang="ko-KR" altLang="en-US" sz="800">
                <a:solidFill>
                  <a:srgbClr val="2E7D32"/>
                </a:solidFill>
                <a:latin typeface="맑은 고딕" panose="020B0503020000020004" pitchFamily="50" charset="-127"/>
              </a:rPr>
              <a:t>✔ 프롬프트에 실림</a:t>
            </a:r>
          </a:p>
        </p:txBody>
      </p:sp>
      <p:sp>
        <p:nvSpPr>
          <p:cNvPr id="35" name="Doc vehicle_info">
            <a:extLst>
              <a:ext uri="{FF2B5EF4-FFF2-40B4-BE49-F238E27FC236}">
                <a16:creationId xmlns:a16="http://schemas.microsoft.com/office/drawing/2014/main" id="{B5B6185E-87FA-F6DD-0E7E-529BACA89C98}"/>
              </a:ext>
            </a:extLst>
          </p:cNvPr>
          <p:cNvSpPr/>
          <p:nvPr/>
        </p:nvSpPr>
        <p:spPr>
          <a:xfrm>
            <a:off x="6350000" y="4762500"/>
            <a:ext cx="2349500" cy="1041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5264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76200" bIns="38100" rtlCol="0" anchor="ctr"/>
          <a:lstStyle/>
          <a:p>
            <a:r>
              <a:rPr lang="en-US" altLang="ko-KR" sz="1000" b="1">
                <a:solidFill>
                  <a:srgbClr val="1F2937"/>
                </a:solidFill>
                <a:latin typeface="맑은 고딕" panose="020B0503020000020004" pitchFamily="50" charset="-127"/>
              </a:rPr>
              <a:t>vehicle_info  [</a:t>
            </a:r>
            <a:r>
              <a:rPr lang="ko-KR" altLang="en-US" sz="1000" b="1">
                <a:solidFill>
                  <a:srgbClr val="1F2937"/>
                </a:solidFill>
                <a:latin typeface="맑은 고딕" panose="020B0503020000020004" pitchFamily="50" charset="-127"/>
              </a:rPr>
              <a:t>테이블</a:t>
            </a:r>
            <a:r>
              <a:rPr lang="en-US" altLang="ko-KR" sz="1000" b="1">
                <a:solidFill>
                  <a:srgbClr val="1F2937"/>
                </a:solidFill>
                <a:latin typeface="맑은 고딕" panose="020B0503020000020004" pitchFamily="50" charset="-127"/>
              </a:rPr>
              <a:t>]</a:t>
            </a:r>
          </a:p>
          <a:p>
            <a:r>
              <a:rPr lang="ko-KR" altLang="en-US" sz="1200" b="1">
                <a:solidFill>
                  <a:srgbClr val="2463A6"/>
                </a:solidFill>
                <a:latin typeface="맑은 고딕" panose="020B0503020000020004" pitchFamily="50" charset="-127"/>
              </a:rPr>
              <a:t>점수 </a:t>
            </a:r>
            <a:r>
              <a:rPr lang="en-US" altLang="ko-KR" sz="1200" b="1">
                <a:solidFill>
                  <a:srgbClr val="2463A6"/>
                </a:solidFill>
                <a:latin typeface="맑은 고딕" panose="020B0503020000020004" pitchFamily="50" charset="-127"/>
              </a:rPr>
              <a:t>0.26</a:t>
            </a:r>
          </a:p>
          <a:p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겹친 단어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차량</a:t>
            </a:r>
          </a:p>
          <a:p>
            <a:r>
              <a:rPr lang="ko-KR" altLang="en-US" sz="800">
                <a:solidFill>
                  <a:srgbClr val="2E7D32"/>
                </a:solidFill>
                <a:latin typeface="맑은 고딕" panose="020B0503020000020004" pitchFamily="50" charset="-127"/>
              </a:rPr>
              <a:t>✔ 프롬프트에 실림</a:t>
            </a:r>
          </a:p>
        </p:txBody>
      </p:sp>
      <p:sp>
        <p:nvSpPr>
          <p:cNvPr id="36" name="Doc 차량 기본 정보">
            <a:extLst>
              <a:ext uri="{FF2B5EF4-FFF2-40B4-BE49-F238E27FC236}">
                <a16:creationId xmlns:a16="http://schemas.microsoft.com/office/drawing/2014/main" id="{592739AE-9010-D93F-02AC-5FFFBC9DDA87}"/>
              </a:ext>
            </a:extLst>
          </p:cNvPr>
          <p:cNvSpPr/>
          <p:nvPr/>
        </p:nvSpPr>
        <p:spPr>
          <a:xfrm>
            <a:off x="6350000" y="6032500"/>
            <a:ext cx="2349500" cy="1041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5264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76200" bIns="38100" rtlCol="0" anchor="ctr"/>
          <a:lstStyle/>
          <a:p>
            <a:r>
              <a:rPr lang="ko-KR" altLang="en-US" sz="1000" b="1">
                <a:solidFill>
                  <a:srgbClr val="1F2937"/>
                </a:solidFill>
                <a:latin typeface="맑은 고딕" panose="020B0503020000020004" pitchFamily="50" charset="-127"/>
              </a:rPr>
              <a:t>차량 기본 정보  </a:t>
            </a:r>
            <a:r>
              <a:rPr lang="en-US" altLang="ko-KR" sz="1000" b="1">
                <a:solidFill>
                  <a:srgbClr val="1F2937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000" b="1">
                <a:solidFill>
                  <a:srgbClr val="1F2937"/>
                </a:solidFill>
                <a:latin typeface="맑은 고딕" panose="020B0503020000020004" pitchFamily="50" charset="-127"/>
              </a:rPr>
              <a:t>지표</a:t>
            </a:r>
            <a:r>
              <a:rPr lang="en-US" altLang="ko-KR" sz="1000" b="1">
                <a:solidFill>
                  <a:srgbClr val="1F2937"/>
                </a:solidFill>
                <a:latin typeface="맑은 고딕" panose="020B0503020000020004" pitchFamily="50" charset="-127"/>
              </a:rPr>
              <a:t>]</a:t>
            </a:r>
          </a:p>
          <a:p>
            <a:r>
              <a:rPr lang="ko-KR" altLang="en-US" sz="1200" b="1">
                <a:solidFill>
                  <a:srgbClr val="2463A6"/>
                </a:solidFill>
                <a:latin typeface="맑은 고딕" panose="020B0503020000020004" pitchFamily="50" charset="-127"/>
              </a:rPr>
              <a:t>점수 </a:t>
            </a:r>
            <a:r>
              <a:rPr lang="en-US" altLang="ko-KR" sz="1200" b="1">
                <a:solidFill>
                  <a:srgbClr val="2463A6"/>
                </a:solidFill>
                <a:latin typeface="맑은 고딕" panose="020B0503020000020004" pitchFamily="50" charset="-127"/>
              </a:rPr>
              <a:t>0.18</a:t>
            </a:r>
          </a:p>
          <a:p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겹친 단어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차량</a:t>
            </a:r>
          </a:p>
          <a:p>
            <a:r>
              <a:rPr lang="ko-KR" altLang="en-US" sz="800">
                <a:solidFill>
                  <a:srgbClr val="A6A6A6"/>
                </a:solidFill>
                <a:latin typeface="맑은 고딕" panose="020B0503020000020004" pitchFamily="50" charset="-127"/>
              </a:rPr>
              <a:t>제외 </a:t>
            </a:r>
            <a:r>
              <a:rPr lang="en-US" altLang="ko-KR" sz="800">
                <a:solidFill>
                  <a:srgbClr val="A6A6A6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>
                <a:solidFill>
                  <a:srgbClr val="A6A6A6"/>
                </a:solidFill>
                <a:latin typeface="맑은 고딕" panose="020B0503020000020004" pitchFamily="50" charset="-127"/>
              </a:rPr>
              <a:t>상위 </a:t>
            </a:r>
            <a:r>
              <a:rPr lang="en-US" altLang="ko-KR" sz="800">
                <a:solidFill>
                  <a:srgbClr val="A6A6A6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800">
                <a:solidFill>
                  <a:srgbClr val="A6A6A6"/>
                </a:solidFill>
                <a:latin typeface="맑은 고딕" panose="020B0503020000020004" pitchFamily="50" charset="-127"/>
              </a:rPr>
              <a:t>개 밖</a:t>
            </a:r>
            <a:r>
              <a:rPr lang="en-US" altLang="ko-KR" sz="800">
                <a:solidFill>
                  <a:srgbClr val="A6A6A6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>
              <a:solidFill>
                <a:srgbClr val="A6A6A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7" name="Doc bms_log">
            <a:extLst>
              <a:ext uri="{FF2B5EF4-FFF2-40B4-BE49-F238E27FC236}">
                <a16:creationId xmlns:a16="http://schemas.microsoft.com/office/drawing/2014/main" id="{82F43279-E98D-12F8-4319-D7215A5B6E4D}"/>
              </a:ext>
            </a:extLst>
          </p:cNvPr>
          <p:cNvSpPr/>
          <p:nvPr/>
        </p:nvSpPr>
        <p:spPr>
          <a:xfrm>
            <a:off x="6350000" y="7302500"/>
            <a:ext cx="2349500" cy="1041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5264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76200" bIns="38100" rtlCol="0" anchor="ctr"/>
          <a:lstStyle/>
          <a:p>
            <a:r>
              <a:rPr lang="en-US" altLang="ko-KR" sz="1000" b="1">
                <a:solidFill>
                  <a:srgbClr val="1F2937"/>
                </a:solidFill>
                <a:latin typeface="맑은 고딕" panose="020B0503020000020004" pitchFamily="50" charset="-127"/>
              </a:rPr>
              <a:t>bms_log  [</a:t>
            </a:r>
            <a:r>
              <a:rPr lang="ko-KR" altLang="en-US" sz="1000" b="1">
                <a:solidFill>
                  <a:srgbClr val="1F2937"/>
                </a:solidFill>
                <a:latin typeface="맑은 고딕" panose="020B0503020000020004" pitchFamily="50" charset="-127"/>
              </a:rPr>
              <a:t>테이블</a:t>
            </a:r>
            <a:r>
              <a:rPr lang="en-US" altLang="ko-KR" sz="1000" b="1">
                <a:solidFill>
                  <a:srgbClr val="1F2937"/>
                </a:solidFill>
                <a:latin typeface="맑은 고딕" panose="020B0503020000020004" pitchFamily="50" charset="-127"/>
              </a:rPr>
              <a:t>]</a:t>
            </a:r>
          </a:p>
          <a:p>
            <a:r>
              <a:rPr lang="ko-KR" altLang="en-US" sz="1200" b="1">
                <a:solidFill>
                  <a:srgbClr val="2463A6"/>
                </a:solidFill>
                <a:latin typeface="맑은 고딕" panose="020B0503020000020004" pitchFamily="50" charset="-127"/>
              </a:rPr>
              <a:t>점수 </a:t>
            </a:r>
            <a:r>
              <a:rPr lang="en-US" altLang="ko-KR" sz="1200" b="1">
                <a:solidFill>
                  <a:srgbClr val="2463A6"/>
                </a:solidFill>
                <a:latin typeface="맑은 고딕" panose="020B0503020000020004" pitchFamily="50" charset="-127"/>
              </a:rPr>
              <a:t>0.10</a:t>
            </a:r>
          </a:p>
          <a:p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겹친 단어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: 7 ·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차량 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상태</a:t>
            </a:r>
          </a:p>
          <a:p>
            <a:r>
              <a:rPr lang="ko-KR" altLang="en-US" sz="800">
                <a:solidFill>
                  <a:srgbClr val="A6A6A6"/>
                </a:solidFill>
                <a:latin typeface="맑은 고딕" panose="020B0503020000020004" pitchFamily="50" charset="-127"/>
              </a:rPr>
              <a:t>제외 </a:t>
            </a:r>
            <a:r>
              <a:rPr lang="en-US" altLang="ko-KR" sz="800">
                <a:solidFill>
                  <a:srgbClr val="A6A6A6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>
                <a:solidFill>
                  <a:srgbClr val="A6A6A6"/>
                </a:solidFill>
                <a:latin typeface="맑은 고딕" panose="020B0503020000020004" pitchFamily="50" charset="-127"/>
              </a:rPr>
              <a:t>상위 </a:t>
            </a:r>
            <a:r>
              <a:rPr lang="en-US" altLang="ko-KR" sz="800">
                <a:solidFill>
                  <a:srgbClr val="A6A6A6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800">
                <a:solidFill>
                  <a:srgbClr val="A6A6A6"/>
                </a:solidFill>
                <a:latin typeface="맑은 고딕" panose="020B0503020000020004" pitchFamily="50" charset="-127"/>
              </a:rPr>
              <a:t>개 밖</a:t>
            </a:r>
            <a:r>
              <a:rPr lang="en-US" altLang="ko-KR" sz="800">
                <a:solidFill>
                  <a:srgbClr val="A6A6A6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>
              <a:solidFill>
                <a:srgbClr val="A6A6A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2346B0E-72D4-C69D-AD54-6AB364E57010}"/>
              </a:ext>
            </a:extLst>
          </p:cNvPr>
          <p:cNvSpPr txBox="1"/>
          <p:nvPr/>
        </p:nvSpPr>
        <p:spPr>
          <a:xfrm>
            <a:off x="508000" y="9080500"/>
            <a:ext cx="81915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선 굵기 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= IDF (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드문 단어일수록 굵다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) ·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파란 선 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정답 지표로 가는 매칭 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회색 ✕ 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사전에 없어 무시된 토큰 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위 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개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(✔)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가 프롬프트에 실림</a:t>
            </a:r>
          </a:p>
        </p:txBody>
      </p:sp>
      <p:sp>
        <p:nvSpPr>
          <p:cNvPr id="49" name="Notes">
            <a:extLst>
              <a:ext uri="{FF2B5EF4-FFF2-40B4-BE49-F238E27FC236}">
                <a16:creationId xmlns:a16="http://schemas.microsoft.com/office/drawing/2014/main" id="{98988C46-B3FD-021D-9E12-43B6A91E6E60}"/>
              </a:ext>
            </a:extLst>
          </p:cNvPr>
          <p:cNvSpPr/>
          <p:nvPr/>
        </p:nvSpPr>
        <p:spPr>
          <a:xfrm>
            <a:off x="508000" y="9652000"/>
            <a:ext cx="8191500" cy="14224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9525">
            <a:solidFill>
              <a:srgbClr val="A6A6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76200" bIns="38100" rtlCol="0" anchor="t"/>
          <a:lstStyle/>
          <a:p>
            <a:pPr>
              <a:spcAft>
                <a:spcPts val="600"/>
              </a:spcAft>
            </a:pPr>
            <a:r>
              <a:rPr lang="en-US" altLang="ko-KR" sz="1000">
                <a:solidFill>
                  <a:srgbClr val="1F293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00">
                <a:solidFill>
                  <a:srgbClr val="1F2937"/>
                </a:solidFill>
                <a:latin typeface="맑은 고딕" panose="020B0503020000020004" pitchFamily="50" charset="-127"/>
              </a:rPr>
              <a:t>량상 </a:t>
            </a:r>
            <a:r>
              <a:rPr lang="en-US" altLang="ko-KR" sz="1000">
                <a:solidFill>
                  <a:srgbClr val="1F293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00">
                <a:solidFill>
                  <a:srgbClr val="1F2937"/>
                </a:solidFill>
                <a:latin typeface="맑은 고딕" panose="020B0503020000020004" pitchFamily="50" charset="-127"/>
              </a:rPr>
              <a:t>일별 </a:t>
            </a:r>
            <a:r>
              <a:rPr lang="en-US" altLang="ko-KR" sz="1000">
                <a:solidFill>
                  <a:srgbClr val="1F2937"/>
                </a:solidFill>
                <a:latin typeface="맑은 고딕" panose="020B0503020000020004" pitchFamily="50" charset="-127"/>
              </a:rPr>
              <a:t>(IDF 3.44): 22</a:t>
            </a:r>
            <a:r>
              <a:rPr lang="ko-KR" altLang="en-US" sz="1000">
                <a:solidFill>
                  <a:srgbClr val="1F2937"/>
                </a:solidFill>
                <a:latin typeface="맑은 고딕" panose="020B0503020000020004" pitchFamily="50" charset="-127"/>
              </a:rPr>
              <a:t>개 문서 중 </a:t>
            </a:r>
            <a:r>
              <a:rPr lang="en-US" altLang="ko-KR" sz="1000">
                <a:solidFill>
                  <a:srgbClr val="1F2937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000">
                <a:solidFill>
                  <a:srgbClr val="1F2937"/>
                </a:solidFill>
                <a:latin typeface="맑은 고딕" panose="020B0503020000020004" pitchFamily="50" charset="-127"/>
              </a:rPr>
              <a:t>개에만 있어 가장 강한 단서 </a:t>
            </a:r>
            <a:r>
              <a:rPr lang="en-US" altLang="ko-KR" sz="1000">
                <a:solidFill>
                  <a:srgbClr val="1F2937"/>
                </a:solidFill>
                <a:latin typeface="맑은 고딕" panose="020B0503020000020004" pitchFamily="50" charset="-127"/>
              </a:rPr>
              <a:t>— '</a:t>
            </a:r>
            <a:r>
              <a:rPr lang="ko-KR" altLang="en-US" sz="1000">
                <a:solidFill>
                  <a:srgbClr val="1F2937"/>
                </a:solidFill>
                <a:latin typeface="맑은 고딕" panose="020B0503020000020004" pitchFamily="50" charset="-127"/>
              </a:rPr>
              <a:t>차량상태</a:t>
            </a:r>
            <a:r>
              <a:rPr lang="en-US" altLang="ko-KR" sz="1000">
                <a:solidFill>
                  <a:srgbClr val="1F2937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000">
                <a:solidFill>
                  <a:srgbClr val="1F2937"/>
                </a:solidFill>
                <a:latin typeface="맑은 고딕" panose="020B0503020000020004" pitchFamily="50" charset="-127"/>
              </a:rPr>
              <a:t>의 </a:t>
            </a:r>
            <a:r>
              <a:rPr lang="en-US" altLang="ko-KR" sz="1000">
                <a:solidFill>
                  <a:srgbClr val="1F2937"/>
                </a:solidFill>
                <a:latin typeface="맑은 고딕" panose="020B0503020000020004" pitchFamily="50" charset="-127"/>
              </a:rPr>
              <a:t>2-gram '</a:t>
            </a:r>
            <a:r>
              <a:rPr lang="ko-KR" altLang="en-US" sz="1000">
                <a:solidFill>
                  <a:srgbClr val="1F2937"/>
                </a:solidFill>
                <a:latin typeface="맑은 고딕" panose="020B0503020000020004" pitchFamily="50" charset="-127"/>
              </a:rPr>
              <a:t>량상</a:t>
            </a:r>
            <a:r>
              <a:rPr lang="en-US" altLang="ko-KR" sz="1000">
                <a:solidFill>
                  <a:srgbClr val="1F2937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000">
                <a:solidFill>
                  <a:srgbClr val="1F2937"/>
                </a:solidFill>
                <a:latin typeface="맑은 고딕" panose="020B0503020000020004" pitchFamily="50" charset="-127"/>
              </a:rPr>
              <a:t>이 정답 지표를 가른다</a:t>
            </a:r>
          </a:p>
          <a:p>
            <a:pPr>
              <a:spcAft>
                <a:spcPts val="600"/>
              </a:spcAft>
            </a:pPr>
            <a:r>
              <a:rPr lang="en-US" altLang="ko-KR" sz="1000">
                <a:solidFill>
                  <a:srgbClr val="1F293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00">
                <a:solidFill>
                  <a:srgbClr val="1F2937"/>
                </a:solidFill>
                <a:latin typeface="맑은 고딕" panose="020B0503020000020004" pitchFamily="50" charset="-127"/>
              </a:rPr>
              <a:t>차량 </a:t>
            </a:r>
            <a:r>
              <a:rPr lang="en-US" altLang="ko-KR" sz="1000">
                <a:solidFill>
                  <a:srgbClr val="1F2937"/>
                </a:solidFill>
                <a:latin typeface="맑은 고딕" panose="020B0503020000020004" pitchFamily="50" charset="-127"/>
              </a:rPr>
              <a:t>(IDF 1.74): 10</a:t>
            </a:r>
            <a:r>
              <a:rPr lang="ko-KR" altLang="en-US" sz="1000">
                <a:solidFill>
                  <a:srgbClr val="1F2937"/>
                </a:solidFill>
                <a:latin typeface="맑은 고딕" panose="020B0503020000020004" pitchFamily="50" charset="-127"/>
              </a:rPr>
              <a:t>개 문서에 있어 변별력이 낮다 </a:t>
            </a:r>
            <a:r>
              <a:rPr lang="en-US" altLang="ko-KR" sz="1000">
                <a:solidFill>
                  <a:srgbClr val="1F2937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000">
                <a:solidFill>
                  <a:srgbClr val="1F2937"/>
                </a:solidFill>
                <a:latin typeface="맑은 고딕" panose="020B0503020000020004" pitchFamily="50" charset="-127"/>
              </a:rPr>
              <a:t>거의 모든 후보에 조금씩 점수를 준다</a:t>
            </a:r>
          </a:p>
          <a:p>
            <a:pPr>
              <a:spcAft>
                <a:spcPts val="600"/>
              </a:spcAft>
            </a:pPr>
            <a:r>
              <a:rPr lang="en-US" altLang="ko-KR" sz="1000">
                <a:solidFill>
                  <a:srgbClr val="1F293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00">
                <a:solidFill>
                  <a:srgbClr val="1F2937"/>
                </a:solidFill>
                <a:latin typeface="맑은 고딕" panose="020B0503020000020004" pitchFamily="50" charset="-127"/>
              </a:rPr>
              <a:t>점수 </a:t>
            </a:r>
            <a:r>
              <a:rPr lang="en-US" altLang="ko-KR" sz="1000">
                <a:solidFill>
                  <a:srgbClr val="1F2937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000">
                <a:solidFill>
                  <a:srgbClr val="1F2937"/>
                </a:solidFill>
                <a:latin typeface="맑은 고딕" panose="020B0503020000020004" pitchFamily="50" charset="-127"/>
              </a:rPr>
              <a:t>코사인 유사도</a:t>
            </a:r>
            <a:r>
              <a:rPr lang="en-US" altLang="ko-KR" sz="1000">
                <a:solidFill>
                  <a:srgbClr val="1F2937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000">
                <a:solidFill>
                  <a:srgbClr val="1F2937"/>
                </a:solidFill>
                <a:latin typeface="맑은 고딕" panose="020B0503020000020004" pitchFamily="50" charset="-127"/>
              </a:rPr>
              <a:t>질문과 문서가 공유한 단어의 </a:t>
            </a:r>
            <a:r>
              <a:rPr lang="en-US" altLang="ko-KR" sz="1000">
                <a:solidFill>
                  <a:srgbClr val="1F2937"/>
                </a:solidFill>
                <a:latin typeface="맑은 고딕" panose="020B0503020000020004" pitchFamily="50" charset="-127"/>
              </a:rPr>
              <a:t>TF×IDF </a:t>
            </a:r>
            <a:r>
              <a:rPr lang="ko-KR" altLang="en-US" sz="1000">
                <a:solidFill>
                  <a:srgbClr val="1F2937"/>
                </a:solidFill>
                <a:latin typeface="맑은 고딕" panose="020B0503020000020004" pitchFamily="50" charset="-127"/>
              </a:rPr>
              <a:t>가중치를 곱해 더하고</a:t>
            </a:r>
            <a:r>
              <a:rPr lang="en-US" altLang="ko-KR" sz="1000">
                <a:solidFill>
                  <a:srgbClr val="1F29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>
                <a:solidFill>
                  <a:srgbClr val="1F2937"/>
                </a:solidFill>
                <a:latin typeface="맑은 고딕" panose="020B0503020000020004" pitchFamily="50" charset="-127"/>
              </a:rPr>
              <a:t>두 벡터 길이로 나눈 값 </a:t>
            </a:r>
            <a:r>
              <a:rPr lang="en-US" altLang="ko-KR" sz="1000">
                <a:solidFill>
                  <a:srgbClr val="1F2937"/>
                </a:solidFill>
                <a:latin typeface="맑은 고딕" panose="020B0503020000020004" pitchFamily="50" charset="-127"/>
              </a:rPr>
              <a:t>(0~1)</a:t>
            </a:r>
          </a:p>
          <a:p>
            <a:pPr>
              <a:spcAft>
                <a:spcPts val="600"/>
              </a:spcAft>
            </a:pPr>
            <a:r>
              <a:rPr lang="en-US" altLang="ko-KR" sz="1000">
                <a:solidFill>
                  <a:srgbClr val="1F2937"/>
                </a:solidFill>
                <a:latin typeface="맑은 고딕" panose="020B0503020000020004" pitchFamily="50" charset="-127"/>
              </a:rPr>
              <a:t>· 2026 · </a:t>
            </a:r>
            <a:r>
              <a:rPr lang="ko-KR" altLang="en-US" sz="1000">
                <a:solidFill>
                  <a:srgbClr val="1F2937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000">
                <a:solidFill>
                  <a:srgbClr val="1F293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00">
                <a:solidFill>
                  <a:srgbClr val="1F2937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000">
                <a:solidFill>
                  <a:srgbClr val="1F293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00">
                <a:solidFill>
                  <a:srgbClr val="1F2937"/>
                </a:solidFill>
                <a:latin typeface="맑은 고딕" panose="020B0503020000020004" pitchFamily="50" charset="-127"/>
              </a:rPr>
              <a:t>기준 </a:t>
            </a:r>
            <a:r>
              <a:rPr lang="en-US" altLang="ko-KR" sz="1000">
                <a:solidFill>
                  <a:srgbClr val="1F2937"/>
                </a:solidFill>
                <a:latin typeface="맑은 고딕" panose="020B0503020000020004" pitchFamily="50" charset="-127"/>
              </a:rPr>
              <a:t>· xxx · </a:t>
            </a:r>
            <a:r>
              <a:rPr lang="ko-KR" altLang="en-US" sz="1000">
                <a:solidFill>
                  <a:srgbClr val="1F2937"/>
                </a:solidFill>
                <a:latin typeface="맑은 고딕" panose="020B0503020000020004" pitchFamily="50" charset="-127"/>
              </a:rPr>
              <a:t>별로는 사전에 없어 버려진다 → 기간</a:t>
            </a:r>
            <a:r>
              <a:rPr lang="en-US" altLang="ko-KR" sz="1000">
                <a:solidFill>
                  <a:srgbClr val="1F2937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1F2937"/>
                </a:solidFill>
                <a:latin typeface="맑은 고딕" panose="020B0503020000020004" pitchFamily="50" charset="-127"/>
              </a:rPr>
              <a:t>차량 조건은 다음 단계에서 </a:t>
            </a:r>
            <a:r>
              <a:rPr lang="en-US" altLang="ko-KR" sz="1000">
                <a:solidFill>
                  <a:srgbClr val="1F2937"/>
                </a:solidFill>
                <a:latin typeface="맑은 고딕" panose="020B0503020000020004" pitchFamily="50" charset="-127"/>
              </a:rPr>
              <a:t>LLM</a:t>
            </a:r>
            <a:r>
              <a:rPr lang="ko-KR" altLang="en-US" sz="1000">
                <a:solidFill>
                  <a:srgbClr val="1F2937"/>
                </a:solidFill>
                <a:latin typeface="맑은 고딕" panose="020B0503020000020004" pitchFamily="50" charset="-127"/>
              </a:rPr>
              <a:t>이 해석</a:t>
            </a:r>
          </a:p>
        </p:txBody>
      </p:sp>
    </p:spTree>
    <p:extLst>
      <p:ext uri="{BB962C8B-B14F-4D97-AF65-F5344CB8AC3E}">
        <p14:creationId xmlns:p14="http://schemas.microsoft.com/office/powerpoint/2010/main" val="3978323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7EDDA4F-1E78-4849-9FAD-E2D604074217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a2431799-ada3-4017-b0b5-c73a94221e3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952</TotalTime>
  <Words>774</Words>
  <Application>Microsoft Office PowerPoint</Application>
  <PresentationFormat>사용자 지정</PresentationFormat>
  <Paragraphs>138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맑은 고딕</vt:lpstr>
      <vt:lpstr>Aptos</vt:lpstr>
      <vt:lpstr>Aptos Display</vt:lpstr>
      <vt:lpstr>Arial</vt:lpstr>
      <vt:lpstr>Consolas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배 도윤</dc:creator>
  <cp:lastModifiedBy>배 도윤</cp:lastModifiedBy>
  <cp:revision>18</cp:revision>
  <dcterms:created xsi:type="dcterms:W3CDTF">2026-10-06T09:15:38Z</dcterms:created>
  <dcterms:modified xsi:type="dcterms:W3CDTF">2026-10-07T01:35:30Z</dcterms:modified>
</cp:coreProperties>
</file>