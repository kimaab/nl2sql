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2" r:id="rId2"/>
    <p:sldId id="267" r:id="rId3"/>
    <p:sldId id="268" r:id="rId4"/>
    <p:sldId id="269" r:id="rId5"/>
    <p:sldId id="270" r:id="rId6"/>
    <p:sldId id="257" r:id="rId7"/>
    <p:sldId id="263" r:id="rId8"/>
    <p:sldId id="264" r:id="rId9"/>
    <p:sldId id="265" r:id="rId10"/>
    <p:sldId id="258" r:id="rId11"/>
    <p:sldId id="259" r:id="rId12"/>
    <p:sldId id="260" r:id="rId13"/>
    <p:sldId id="266" r:id="rId14"/>
    <p:sldId id="256" r:id="rId15"/>
    <p:sldId id="261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한 장 요약" id="{A4B89A2E-4433-F010-8094-377DE0DCE9A0}">
          <p14:sldIdLst>
            <p14:sldId id="262"/>
            <p14:sldId id="267"/>
            <p14:sldId id="268"/>
            <p14:sldId id="269"/>
            <p14:sldId id="270"/>
            <p14:sldId id="257"/>
            <p14:sldId id="263"/>
            <p14:sldId id="264"/>
            <p14:sldId id="265"/>
            <p14:sldId id="258"/>
            <p14:sldId id="259"/>
            <p14:sldId id="260"/>
            <p14:sldId id="266"/>
            <p14:sldId id="256"/>
            <p14:sldId id="261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4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63C93-7C24-4F67-AA46-F0784619BFAA}" v="75" dt="2026-10-12T02:34:18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배 도윤" userId="e7ca0f43-4130-4257-a33a-44cac10fdf12" providerId="ADAL" clId="{4F67E1AB-6DBD-4789-B0DF-A1D27D9AE678}"/>
    <pc:docChg chg="undo custSel addSld modSld sldOrd modSection">
      <pc:chgData name="배 도윤" userId="e7ca0f43-4130-4257-a33a-44cac10fdf12" providerId="ADAL" clId="{4F67E1AB-6DBD-4789-B0DF-A1D27D9AE678}" dt="2026-10-12T02:35:04.066" v="961" actId="1076"/>
      <pc:docMkLst>
        <pc:docMk/>
      </pc:docMkLst>
      <pc:sldChg chg="modSp mod ord">
        <pc:chgData name="배 도윤" userId="e7ca0f43-4130-4257-a33a-44cac10fdf12" providerId="ADAL" clId="{4F67E1AB-6DBD-4789-B0DF-A1D27D9AE678}" dt="2026-10-12T02:31:06.085" v="848"/>
        <pc:sldMkLst>
          <pc:docMk/>
          <pc:sldMk cId="0" sldId="256"/>
        </pc:sldMkLst>
        <pc:spChg chg="mod">
          <ac:chgData name="배 도윤" userId="e7ca0f43-4130-4257-a33a-44cac10fdf12" providerId="ADAL" clId="{4F67E1AB-6DBD-4789-B0DF-A1D27D9AE678}" dt="2026-10-12T01:41:08.896" v="16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배 도윤" userId="e7ca0f43-4130-4257-a33a-44cac10fdf12" providerId="ADAL" clId="{4F67E1AB-6DBD-4789-B0DF-A1D27D9AE678}" dt="2026-10-12T00:28:02.641" v="1" actId="20577"/>
          <ac:spMkLst>
            <pc:docMk/>
            <pc:sldMk cId="0" sldId="256"/>
            <ac:spMk id="21" creationId="{00000000-0000-0000-0000-000000000000}"/>
          </ac:spMkLst>
        </pc:spChg>
      </pc:sldChg>
      <pc:sldChg chg="addSp modSp new mod">
        <pc:chgData name="배 도윤" userId="e7ca0f43-4130-4257-a33a-44cac10fdf12" providerId="ADAL" clId="{4F67E1AB-6DBD-4789-B0DF-A1D27D9AE678}" dt="2026-10-12T02:24:53.891" v="100"/>
        <pc:sldMkLst>
          <pc:docMk/>
          <pc:sldMk cId="1214235287" sldId="257"/>
        </pc:sldMkLst>
        <pc:graphicFrameChg chg="add mod modGraphic">
          <ac:chgData name="배 도윤" userId="e7ca0f43-4130-4257-a33a-44cac10fdf12" providerId="ADAL" clId="{4F67E1AB-6DBD-4789-B0DF-A1D27D9AE678}" dt="2026-10-12T02:24:53.891" v="100"/>
          <ac:graphicFrameMkLst>
            <pc:docMk/>
            <pc:sldMk cId="1214235287" sldId="257"/>
            <ac:graphicFrameMk id="4" creationId="{27C8DDFD-B224-D03D-95FE-870AF084DE57}"/>
          </ac:graphicFrameMkLst>
        </pc:graphicFrameChg>
      </pc:sldChg>
      <pc:sldChg chg="addSp modSp new mod">
        <pc:chgData name="배 도윤" userId="e7ca0f43-4130-4257-a33a-44cac10fdf12" providerId="ADAL" clId="{4F67E1AB-6DBD-4789-B0DF-A1D27D9AE678}" dt="2026-10-12T02:29:21.020" v="846" actId="1076"/>
        <pc:sldMkLst>
          <pc:docMk/>
          <pc:sldMk cId="2914080971" sldId="258"/>
        </pc:sldMkLst>
        <pc:spChg chg="mod">
          <ac:chgData name="배 도윤" userId="e7ca0f43-4130-4257-a33a-44cac10fdf12" providerId="ADAL" clId="{4F67E1AB-6DBD-4789-B0DF-A1D27D9AE678}" dt="2026-10-12T02:25:08.656" v="149"/>
          <ac:spMkLst>
            <pc:docMk/>
            <pc:sldMk cId="2914080971" sldId="258"/>
            <ac:spMk id="3" creationId="{35557A53-08F6-6414-D1F9-E66A298CE29F}"/>
          </ac:spMkLst>
        </pc:spChg>
        <pc:spChg chg="add mod">
          <ac:chgData name="배 도윤" userId="e7ca0f43-4130-4257-a33a-44cac10fdf12" providerId="ADAL" clId="{4F67E1AB-6DBD-4789-B0DF-A1D27D9AE678}" dt="2026-10-12T02:29:21.020" v="846" actId="1076"/>
          <ac:spMkLst>
            <pc:docMk/>
            <pc:sldMk cId="2914080971" sldId="258"/>
            <ac:spMk id="4" creationId="{9AF180C3-2FDB-CE1D-A7D1-0CD28B80F779}"/>
          </ac:spMkLst>
        </pc:spChg>
      </pc:sldChg>
      <pc:sldChg chg="addSp modSp new mod">
        <pc:chgData name="배 도윤" userId="e7ca0f43-4130-4257-a33a-44cac10fdf12" providerId="ADAL" clId="{4F67E1AB-6DBD-4789-B0DF-A1D27D9AE678}" dt="2026-10-12T02:26:39.092" v="586"/>
        <pc:sldMkLst>
          <pc:docMk/>
          <pc:sldMk cId="683203794" sldId="259"/>
        </pc:sldMkLst>
        <pc:spChg chg="add mod">
          <ac:chgData name="배 도윤" userId="e7ca0f43-4130-4257-a33a-44cac10fdf12" providerId="ADAL" clId="{4F67E1AB-6DBD-4789-B0DF-A1D27D9AE678}" dt="2026-10-12T02:26:27.677" v="552"/>
          <ac:spMkLst>
            <pc:docMk/>
            <pc:sldMk cId="683203794" sldId="259"/>
            <ac:spMk id="8" creationId="{FD0B525C-BD72-41CF-FC48-1E0ACFF4FC6B}"/>
          </ac:spMkLst>
        </pc:spChg>
        <pc:spChg chg="add mod">
          <ac:chgData name="배 도윤" userId="e7ca0f43-4130-4257-a33a-44cac10fdf12" providerId="ADAL" clId="{4F67E1AB-6DBD-4789-B0DF-A1D27D9AE678}" dt="2026-10-12T02:26:39.092" v="586"/>
          <ac:spMkLst>
            <pc:docMk/>
            <pc:sldMk cId="683203794" sldId="259"/>
            <ac:spMk id="10" creationId="{F2327FAD-F120-608C-96C7-44CC91F32AE4}"/>
          </ac:spMkLst>
        </pc:spChg>
        <pc:graphicFrameChg chg="add modGraphic">
          <ac:chgData name="배 도윤" userId="e7ca0f43-4130-4257-a33a-44cac10fdf12" providerId="ADAL" clId="{4F67E1AB-6DBD-4789-B0DF-A1D27D9AE678}" dt="2026-10-12T02:26:15.291" v="523" actId="14100"/>
          <ac:graphicFrameMkLst>
            <pc:docMk/>
            <pc:sldMk cId="683203794" sldId="259"/>
            <ac:graphicFrameMk id="5" creationId="{C13D77C8-6C46-CC4E-E0FF-8AF6689D1024}"/>
          </ac:graphicFrameMkLst>
        </pc:graphicFrameChg>
        <pc:graphicFrameChg chg="add mod">
          <ac:chgData name="배 도윤" userId="e7ca0f43-4130-4257-a33a-44cac10fdf12" providerId="ADAL" clId="{4F67E1AB-6DBD-4789-B0DF-A1D27D9AE678}" dt="2026-10-12T02:26:19.015" v="525" actId="1076"/>
          <ac:graphicFrameMkLst>
            <pc:docMk/>
            <pc:sldMk cId="683203794" sldId="259"/>
            <ac:graphicFrameMk id="7" creationId="{241A9AB5-5E89-55B1-1AD5-B67C24BCB815}"/>
          </ac:graphicFrameMkLst>
        </pc:graphicFrameChg>
      </pc:sldChg>
      <pc:sldChg chg="addSp modSp new mod">
        <pc:chgData name="배 도윤" userId="e7ca0f43-4130-4257-a33a-44cac10fdf12" providerId="ADAL" clId="{4F67E1AB-6DBD-4789-B0DF-A1D27D9AE678}" dt="2026-10-12T02:27:37.899" v="718" actId="20577"/>
        <pc:sldMkLst>
          <pc:docMk/>
          <pc:sldMk cId="638393710" sldId="260"/>
        </pc:sldMkLst>
        <pc:spChg chg="mod">
          <ac:chgData name="배 도윤" userId="e7ca0f43-4130-4257-a33a-44cac10fdf12" providerId="ADAL" clId="{4F67E1AB-6DBD-4789-B0DF-A1D27D9AE678}" dt="2026-10-12T02:26:46.789" v="608"/>
          <ac:spMkLst>
            <pc:docMk/>
            <pc:sldMk cId="638393710" sldId="260"/>
            <ac:spMk id="3" creationId="{54094B4B-8632-B9E4-6566-E997151A3F88}"/>
          </ac:spMkLst>
        </pc:spChg>
        <pc:spChg chg="add mod">
          <ac:chgData name="배 도윤" userId="e7ca0f43-4130-4257-a33a-44cac10fdf12" providerId="ADAL" clId="{4F67E1AB-6DBD-4789-B0DF-A1D27D9AE678}" dt="2026-10-12T02:27:05.013" v="642"/>
          <ac:spMkLst>
            <pc:docMk/>
            <pc:sldMk cId="638393710" sldId="260"/>
            <ac:spMk id="6" creationId="{B90B6819-EA98-BC4B-E9A3-0F1ED9BE1075}"/>
          </ac:spMkLst>
        </pc:spChg>
        <pc:spChg chg="add mod">
          <ac:chgData name="배 도윤" userId="e7ca0f43-4130-4257-a33a-44cac10fdf12" providerId="ADAL" clId="{4F67E1AB-6DBD-4789-B0DF-A1D27D9AE678}" dt="2026-10-12T02:27:30.785" v="699"/>
          <ac:spMkLst>
            <pc:docMk/>
            <pc:sldMk cId="638393710" sldId="260"/>
            <ac:spMk id="7" creationId="{52AFDD84-F97F-53FE-2760-94E419951745}"/>
          </ac:spMkLst>
        </pc:spChg>
        <pc:spChg chg="add mod">
          <ac:chgData name="배 도윤" userId="e7ca0f43-4130-4257-a33a-44cac10fdf12" providerId="ADAL" clId="{4F67E1AB-6DBD-4789-B0DF-A1D27D9AE678}" dt="2026-10-12T02:27:37.899" v="718" actId="20577"/>
          <ac:spMkLst>
            <pc:docMk/>
            <pc:sldMk cId="638393710" sldId="260"/>
            <ac:spMk id="9" creationId="{2371A0EE-47C9-D1D3-68C3-A52313117546}"/>
          </ac:spMkLst>
        </pc:spChg>
        <pc:graphicFrameChg chg="add mod">
          <ac:chgData name="배 도윤" userId="e7ca0f43-4130-4257-a33a-44cac10fdf12" providerId="ADAL" clId="{4F67E1AB-6DBD-4789-B0DF-A1D27D9AE678}" dt="2026-10-12T02:26:52.674" v="610" actId="1076"/>
          <ac:graphicFrameMkLst>
            <pc:docMk/>
            <pc:sldMk cId="638393710" sldId="260"/>
            <ac:graphicFrameMk id="5" creationId="{20868D0F-C81A-2761-2C7A-ACCE00E55164}"/>
          </ac:graphicFrameMkLst>
        </pc:graphicFrameChg>
      </pc:sldChg>
      <pc:sldChg chg="addSp modSp new mod">
        <pc:chgData name="배 도윤" userId="e7ca0f43-4130-4257-a33a-44cac10fdf12" providerId="ADAL" clId="{4F67E1AB-6DBD-4789-B0DF-A1D27D9AE678}" dt="2026-10-12T02:29:09.328" v="844" actId="14100"/>
        <pc:sldMkLst>
          <pc:docMk/>
          <pc:sldMk cId="1174095467" sldId="261"/>
        </pc:sldMkLst>
        <pc:spChg chg="add mod">
          <ac:chgData name="배 도윤" userId="e7ca0f43-4130-4257-a33a-44cac10fdf12" providerId="ADAL" clId="{4F67E1AB-6DBD-4789-B0DF-A1D27D9AE678}" dt="2026-10-12T02:27:54.475" v="744"/>
          <ac:spMkLst>
            <pc:docMk/>
            <pc:sldMk cId="1174095467" sldId="261"/>
            <ac:spMk id="4" creationId="{1617E78A-1D04-4970-1265-BF04A67A69AA}"/>
          </ac:spMkLst>
        </pc:spChg>
        <pc:spChg chg="add mod">
          <ac:chgData name="배 도윤" userId="e7ca0f43-4130-4257-a33a-44cac10fdf12" providerId="ADAL" clId="{4F67E1AB-6DBD-4789-B0DF-A1D27D9AE678}" dt="2026-10-12T02:28:02.642" v="770"/>
          <ac:spMkLst>
            <pc:docMk/>
            <pc:sldMk cId="1174095467" sldId="261"/>
            <ac:spMk id="6" creationId="{02D65C6C-5474-2481-3E8F-2266C8182BF4}"/>
          </ac:spMkLst>
        </pc:spChg>
        <pc:spChg chg="add mod">
          <ac:chgData name="배 도윤" userId="e7ca0f43-4130-4257-a33a-44cac10fdf12" providerId="ADAL" clId="{4F67E1AB-6DBD-4789-B0DF-A1D27D9AE678}" dt="2026-10-12T02:28:54.986" v="821" actId="1076"/>
          <ac:spMkLst>
            <pc:docMk/>
            <pc:sldMk cId="1174095467" sldId="261"/>
            <ac:spMk id="8" creationId="{6EC7963A-5288-07B2-186D-08584CD9D684}"/>
          </ac:spMkLst>
        </pc:spChg>
        <pc:spChg chg="add mod">
          <ac:chgData name="배 도윤" userId="e7ca0f43-4130-4257-a33a-44cac10fdf12" providerId="ADAL" clId="{4F67E1AB-6DBD-4789-B0DF-A1D27D9AE678}" dt="2026-10-12T02:29:06.594" v="843"/>
          <ac:spMkLst>
            <pc:docMk/>
            <pc:sldMk cId="1174095467" sldId="261"/>
            <ac:spMk id="11" creationId="{149C92D6-1B44-5F2B-66DD-D859D2FF73AE}"/>
          </ac:spMkLst>
        </pc:spChg>
        <pc:cxnChg chg="add mod">
          <ac:chgData name="배 도윤" userId="e7ca0f43-4130-4257-a33a-44cac10fdf12" providerId="ADAL" clId="{4F67E1AB-6DBD-4789-B0DF-A1D27D9AE678}" dt="2026-10-12T02:29:09.328" v="844" actId="14100"/>
          <ac:cxnSpMkLst>
            <pc:docMk/>
            <pc:sldMk cId="1174095467" sldId="261"/>
            <ac:cxnSpMk id="10" creationId="{800642EF-EDDE-C2C8-0D98-CD4F6618E5B8}"/>
          </ac:cxnSpMkLst>
        </pc:cxnChg>
      </pc:sldChg>
      <pc:sldChg chg="addSp modSp new mod ord">
        <pc:chgData name="배 도윤" userId="e7ca0f43-4130-4257-a33a-44cac10fdf12" providerId="ADAL" clId="{4F67E1AB-6DBD-4789-B0DF-A1D27D9AE678}" dt="2026-10-12T02:35:04.066" v="961" actId="1076"/>
        <pc:sldMkLst>
          <pc:docMk/>
          <pc:sldMk cId="3423089067" sldId="262"/>
        </pc:sldMkLst>
        <pc:spChg chg="add mod">
          <ac:chgData name="배 도윤" userId="e7ca0f43-4130-4257-a33a-44cac10fdf12" providerId="ADAL" clId="{4F67E1AB-6DBD-4789-B0DF-A1D27D9AE678}" dt="2026-10-12T02:35:04.066" v="961" actId="1076"/>
          <ac:spMkLst>
            <pc:docMk/>
            <pc:sldMk cId="3423089067" sldId="262"/>
            <ac:spMk id="4" creationId="{91CB6FA5-65B7-36FF-1B8C-2623516AC481}"/>
          </ac:spMkLst>
        </pc:spChg>
        <pc:spChg chg="add mod">
          <ac:chgData name="배 도윤" userId="e7ca0f43-4130-4257-a33a-44cac10fdf12" providerId="ADAL" clId="{4F67E1AB-6DBD-4789-B0DF-A1D27D9AE678}" dt="2026-10-12T02:35:04.066" v="961" actId="1076"/>
          <ac:spMkLst>
            <pc:docMk/>
            <pc:sldMk cId="3423089067" sldId="262"/>
            <ac:spMk id="5" creationId="{6284F398-BF3E-D90D-310C-B4302C85296D}"/>
          </ac:spMkLst>
        </pc:spChg>
        <pc:spChg chg="add mod">
          <ac:chgData name="배 도윤" userId="e7ca0f43-4130-4257-a33a-44cac10fdf12" providerId="ADAL" clId="{4F67E1AB-6DBD-4789-B0DF-A1D27D9AE678}" dt="2026-10-12T02:35:04.066" v="961" actId="1076"/>
          <ac:spMkLst>
            <pc:docMk/>
            <pc:sldMk cId="3423089067" sldId="262"/>
            <ac:spMk id="7" creationId="{AA8473E8-BFE9-2B4E-6C65-B86DD791CDE8}"/>
          </ac:spMkLst>
        </pc:spChg>
        <pc:spChg chg="add mod">
          <ac:chgData name="배 도윤" userId="e7ca0f43-4130-4257-a33a-44cac10fdf12" providerId="ADAL" clId="{4F67E1AB-6DBD-4789-B0DF-A1D27D9AE678}" dt="2026-10-12T02:35:04.066" v="961" actId="1076"/>
          <ac:spMkLst>
            <pc:docMk/>
            <pc:sldMk cId="3423089067" sldId="262"/>
            <ac:spMk id="9" creationId="{1DF3FBFC-3FB2-3790-9942-99B473D9FBC0}"/>
          </ac:spMkLst>
        </pc:spChg>
        <pc:spChg chg="add mod">
          <ac:chgData name="배 도윤" userId="e7ca0f43-4130-4257-a33a-44cac10fdf12" providerId="ADAL" clId="{4F67E1AB-6DBD-4789-B0DF-A1D27D9AE678}" dt="2026-10-12T02:35:04.066" v="961" actId="1076"/>
          <ac:spMkLst>
            <pc:docMk/>
            <pc:sldMk cId="3423089067" sldId="262"/>
            <ac:spMk id="11" creationId="{8B0958BF-5A66-7737-1641-B51EB34D4F04}"/>
          </ac:spMkLst>
        </pc:spChg>
        <pc:cxnChg chg="add mod">
          <ac:chgData name="배 도윤" userId="e7ca0f43-4130-4257-a33a-44cac10fdf12" providerId="ADAL" clId="{4F67E1AB-6DBD-4789-B0DF-A1D27D9AE678}" dt="2026-10-12T02:35:04.066" v="961" actId="1076"/>
          <ac:cxnSpMkLst>
            <pc:docMk/>
            <pc:sldMk cId="3423089067" sldId="262"/>
            <ac:cxnSpMk id="13" creationId="{B50999A6-E9F6-ED90-305F-DF6544D098C2}"/>
          </ac:cxnSpMkLst>
        </pc:cxnChg>
        <pc:cxnChg chg="add mod">
          <ac:chgData name="배 도윤" userId="e7ca0f43-4130-4257-a33a-44cac10fdf12" providerId="ADAL" clId="{4F67E1AB-6DBD-4789-B0DF-A1D27D9AE678}" dt="2026-10-12T02:35:04.066" v="961" actId="1076"/>
          <ac:cxnSpMkLst>
            <pc:docMk/>
            <pc:sldMk cId="3423089067" sldId="262"/>
            <ac:cxnSpMk id="15" creationId="{C949C5B3-11F3-55F9-5037-66E86CB2BFCC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92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흐름 문서를 한 장으로 요약했습니다. 15단계를 4묶음으로 나눴고, 아래에 만들어진 SQL과 아쉬운 점을 붙였습니다.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제목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accent5"/>
                </a:solidFill>
              </a:rPr>
              <a:t>부제목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순서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구분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슬라이드 제목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한 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365760" y="182880"/>
            <a:ext cx="114300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000" b="1" dirty="0">
                <a:solidFill>
                  <a:schemeClr val="accent1"/>
                </a:solidFill>
              </a:rPr>
              <a:t>구분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402336"/>
            <a:ext cx="114300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제목</a:t>
            </a: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BECE2-858A-D2B0-10B3-B81CB83DE134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개요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72F523-0971-2AE7-2EE6-3F792BF8D644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데이터플랫폼 안의 NL2SQL 엔진</a:t>
            </a:r>
          </a:p>
        </p:txBody>
      </p:sp>
      <p:sp>
        <p:nvSpPr>
          <p:cNvPr id="101" name="요약"/>
          <p:cNvSpPr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r>
              <a:rPr lang="ko-KR" altLang="en-US" sz="1300" b="1" dirty="0">
                <a:solidFill>
                  <a:schemeClr val="accent1"/>
                </a:solidFill>
              </a:rPr>
              <a:t>분석 시스템에서 만든 결과 테이블</a:t>
            </a:r>
            <a:r>
              <a:rPr lang="ko-KR" altLang="en-US" sz="1300" dirty="0"/>
              <a:t>을 메타정보와 </a:t>
            </a:r>
            <a:r>
              <a:rPr lang="ko-KR" altLang="en-US" sz="1300" dirty="0" err="1"/>
              <a:t>LLM으로</a:t>
            </a:r>
            <a:r>
              <a:rPr lang="ko-KR" altLang="en-US" sz="1300" dirty="0"/>
              <a:t> 분석해, </a:t>
            </a:r>
            <a:r>
              <a:rPr lang="ko-KR" altLang="en-US" sz="1300" b="1" dirty="0">
                <a:solidFill>
                  <a:schemeClr val="accent1"/>
                </a:solidFill>
              </a:rPr>
              <a:t>자연어 질문을 </a:t>
            </a:r>
            <a:r>
              <a:rPr lang="ko-KR" altLang="en-US" sz="1300" b="1" dirty="0" err="1">
                <a:solidFill>
                  <a:schemeClr val="accent1"/>
                </a:solidFill>
              </a:rPr>
              <a:t>SQL로</a:t>
            </a:r>
            <a:r>
              <a:rPr lang="ko-KR" altLang="en-US" sz="1300" dirty="0"/>
              <a:t> 변환해 </a:t>
            </a:r>
            <a:r>
              <a:rPr lang="ko-KR" altLang="en-US" sz="1300" b="1" dirty="0">
                <a:solidFill>
                  <a:schemeClr val="accent1"/>
                </a:solidFill>
              </a:rPr>
              <a:t>UI 분석 페이지</a:t>
            </a:r>
            <a:r>
              <a:rPr lang="ko-KR" altLang="en-US" sz="1300" dirty="0"/>
              <a:t>에 제공합니다</a:t>
            </a:r>
          </a:p>
        </p:txBody>
      </p:sp>
      <p:sp>
        <p:nvSpPr>
          <p:cNvPr id="102" name="플랫폼"/>
          <p:cNvSpPr/>
          <p:nvPr/>
        </p:nvSpPr>
        <p:spPr>
          <a:xfrm>
            <a:off x="365760" y="1463040"/>
            <a:ext cx="2651760" cy="242316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txBody>
          <a:bodyPr wrap="square" lIns="137160" tIns="91440" rIns="137160" bIns="91440" rtlCol="0" anchor="t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accent1"/>
                </a:solidFill>
              </a:rPr>
              <a:t>데이터플랫폼</a:t>
            </a:r>
          </a:p>
          <a:p>
            <a:pPr algn="l"/>
            <a:r>
              <a:rPr lang="ko-KR" altLang="en-US" sz="800" b="0">
                <a:solidFill>
                  <a:schemeClr val="tx1"/>
                </a:solidFill>
              </a:rPr>
              <a:t>분석 시스템</a:t>
            </a:r>
            <a:endParaRPr lang="ko-KR" altLang="en-US" sz="800" b="0" dirty="0">
              <a:solidFill>
                <a:schemeClr val="tx1"/>
              </a:solidFill>
            </a:endParaRPr>
          </a:p>
        </p:txBody>
      </p:sp>
      <p:sp>
        <p:nvSpPr>
          <p:cNvPr id="103" name="플랫폼 1"/>
          <p:cNvSpPr/>
          <p:nvPr/>
        </p:nvSpPr>
        <p:spPr>
          <a:xfrm>
            <a:off x="548640" y="2011680"/>
            <a:ext cx="2286000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ETL</a:t>
            </a:r>
            <a:r>
              <a:rPr lang="ko-KR" altLang="en-US" sz="850" b="0" dirty="0">
                <a:solidFill>
                  <a:schemeClr val="tx1"/>
                </a:solidFill>
              </a:rPr>
              <a:t>   데이터 적재</a:t>
            </a:r>
          </a:p>
        </p:txBody>
      </p:sp>
      <p:cxnSp>
        <p:nvCxnSpPr>
          <p:cNvPr id="104" name="플랫폼 화살표 1"/>
          <p:cNvCxnSpPr/>
          <p:nvPr/>
        </p:nvCxnSpPr>
        <p:spPr>
          <a:xfrm>
            <a:off x="1691640" y="2377440"/>
            <a:ext cx="0" cy="1097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05" name="플랫폼 2"/>
          <p:cNvSpPr/>
          <p:nvPr/>
        </p:nvSpPr>
        <p:spPr>
          <a:xfrm>
            <a:off x="548640" y="2487168"/>
            <a:ext cx="2286000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Kafka</a:t>
            </a:r>
            <a:r>
              <a:rPr lang="ko-KR" altLang="en-US" sz="850" b="0" dirty="0">
                <a:solidFill>
                  <a:schemeClr val="tx1"/>
                </a:solidFill>
              </a:rPr>
              <a:t>   토픽에 적재</a:t>
            </a:r>
          </a:p>
        </p:txBody>
      </p:sp>
      <p:cxnSp>
        <p:nvCxnSpPr>
          <p:cNvPr id="106" name="플랫폼 화살표 2"/>
          <p:cNvCxnSpPr/>
          <p:nvPr/>
        </p:nvCxnSpPr>
        <p:spPr>
          <a:xfrm>
            <a:off x="1691640" y="2852928"/>
            <a:ext cx="0" cy="1097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07" name="플랫폼 3"/>
          <p:cNvSpPr/>
          <p:nvPr/>
        </p:nvSpPr>
        <p:spPr>
          <a:xfrm>
            <a:off x="548640" y="2962656"/>
            <a:ext cx="2286000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토픽 분석</a:t>
            </a:r>
            <a:r>
              <a:rPr lang="ko-KR" altLang="en-US" sz="850" b="0" dirty="0">
                <a:solidFill>
                  <a:schemeClr val="tx1"/>
                </a:solidFill>
              </a:rPr>
              <a:t>   각 언어로 분석</a:t>
            </a:r>
          </a:p>
        </p:txBody>
      </p:sp>
      <p:cxnSp>
        <p:nvCxnSpPr>
          <p:cNvPr id="108" name="플랫폼 화살표 3"/>
          <p:cNvCxnSpPr/>
          <p:nvPr/>
        </p:nvCxnSpPr>
        <p:spPr>
          <a:xfrm>
            <a:off x="1691640" y="3328416"/>
            <a:ext cx="0" cy="1097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09" name="플랫폼 4"/>
          <p:cNvSpPr/>
          <p:nvPr/>
        </p:nvSpPr>
        <p:spPr>
          <a:xfrm>
            <a:off x="548640" y="3438144"/>
            <a:ext cx="22860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결과 테이블</a:t>
            </a:r>
            <a:r>
              <a:rPr lang="ko-KR" altLang="en-US" sz="850" b="0" dirty="0">
                <a:solidFill>
                  <a:schemeClr val="tx1"/>
                </a:solidFill>
              </a:rPr>
              <a:t>   + 리니지</a:t>
            </a:r>
          </a:p>
        </p:txBody>
      </p:sp>
      <p:sp>
        <p:nvSpPr>
          <p:cNvPr id="110" name="엔진"/>
          <p:cNvSpPr/>
          <p:nvPr/>
        </p:nvSpPr>
        <p:spPr>
          <a:xfrm>
            <a:off x="3429000" y="1463040"/>
            <a:ext cx="5349240" cy="24231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txBody>
          <a:bodyPr wrap="square" lIns="182880" tIns="91440" rIns="182880" bIns="91440" rtlCol="0" anchor="t">
            <a:normAutofit/>
          </a:bodyPr>
          <a:lstStyle/>
          <a:p>
            <a:pPr algn="l"/>
            <a:r>
              <a:rPr lang="ko-KR" altLang="en-US" sz="1400" b="1" dirty="0">
                <a:solidFill>
                  <a:schemeClr val="tx1"/>
                </a:solidFill>
              </a:rPr>
              <a:t>NL2SQL 엔진</a:t>
            </a:r>
            <a:r>
              <a:rPr lang="ko-KR" altLang="en-US" sz="900" b="1" dirty="0">
                <a:solidFill>
                  <a:schemeClr val="accent3"/>
                </a:solidFill>
              </a:rPr>
              <a:t>   이 문서의 범위</a:t>
            </a:r>
          </a:p>
        </p:txBody>
      </p:sp>
      <p:cxnSp>
        <p:nvCxnSpPr>
          <p:cNvPr id="111" name="플랫폼 → 엔진"/>
          <p:cNvCxnSpPr/>
          <p:nvPr/>
        </p:nvCxnSpPr>
        <p:spPr>
          <a:xfrm>
            <a:off x="2834640" y="3621024"/>
            <a:ext cx="594359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</p:cxnSp>
      <p:sp>
        <p:nvSpPr>
          <p:cNvPr id="112" name="플랫폼 → 엔진 글"/>
          <p:cNvSpPr/>
          <p:nvPr/>
        </p:nvSpPr>
        <p:spPr>
          <a:xfrm>
            <a:off x="2852928" y="3346704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800" b="1" dirty="0">
                <a:solidFill>
                  <a:schemeClr val="accent1"/>
                </a:solidFill>
              </a:rPr>
              <a:t>테이블</a:t>
            </a:r>
          </a:p>
        </p:txBody>
      </p:sp>
      <p:sp>
        <p:nvSpPr>
          <p:cNvPr id="113" name="엔진 ①"/>
          <p:cNvSpPr/>
          <p:nvPr/>
        </p:nvSpPr>
        <p:spPr>
          <a:xfrm>
            <a:off x="3611880" y="1965960"/>
            <a:ext cx="1508760" cy="173736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txBody>
          <a:bodyPr wrap="square" lIns="73152" tIns="109728" rIns="73152" bIns="109728" rtlCol="0" anchor="ctr">
            <a:norm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100" b="1" dirty="0">
                <a:solidFill>
                  <a:schemeClr val="accent3"/>
                </a:solidFill>
              </a:rPr>
              <a:t>① </a:t>
            </a:r>
            <a:r>
              <a:rPr lang="ko-KR" altLang="en-US" sz="1100" b="1" dirty="0">
                <a:solidFill>
                  <a:schemeClr val="tx1"/>
                </a:solidFill>
              </a:rPr>
              <a:t>메타정보 구조화</a:t>
            </a:r>
          </a:p>
          <a:p>
            <a:pPr algn="ctr">
              <a:spcBef>
                <a:spcPts val="300"/>
              </a:spcBef>
            </a:pPr>
            <a:r>
              <a:rPr lang="ko-KR" altLang="en-US" sz="800" b="1" dirty="0">
                <a:solidFill>
                  <a:schemeClr val="accent1"/>
                </a:solidFill>
              </a:rPr>
              <a:t>사람 + 동기화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테이블과 컬럼 정보 적재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계산 필요, UTC 표시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지표를 SQL로 등록</a:t>
            </a:r>
          </a:p>
        </p:txBody>
      </p:sp>
      <p:sp>
        <p:nvSpPr>
          <p:cNvPr id="114" name="엔진 ②"/>
          <p:cNvSpPr/>
          <p:nvPr/>
        </p:nvSpPr>
        <p:spPr>
          <a:xfrm>
            <a:off x="5394960" y="1965960"/>
            <a:ext cx="1508760" cy="173736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txBody>
          <a:bodyPr wrap="square" lIns="73152" tIns="109728" rIns="73152" bIns="109728" rtlCol="0" anchor="ctr">
            <a:norm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100" b="1" dirty="0">
                <a:solidFill>
                  <a:schemeClr val="accent3"/>
                </a:solidFill>
              </a:rPr>
              <a:t>② </a:t>
            </a:r>
            <a:r>
              <a:rPr lang="ko-KR" altLang="en-US" sz="1100" b="1" dirty="0">
                <a:solidFill>
                  <a:schemeClr val="tx1"/>
                </a:solidFill>
              </a:rPr>
              <a:t>LLM 판단</a:t>
            </a:r>
          </a:p>
          <a:p>
            <a:pPr algn="ctr">
              <a:spcBef>
                <a:spcPts val="300"/>
              </a:spcBef>
            </a:pPr>
            <a:r>
              <a:rPr lang="ko-KR" altLang="en-US" sz="800" b="1" dirty="0">
                <a:solidFill>
                  <a:schemeClr val="accent1"/>
                </a:solidFill>
              </a:rPr>
              <a:t>LLM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테이블과 지표 선택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조회 명세(JSON) 작성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애매하면 되묻기</a:t>
            </a:r>
          </a:p>
        </p:txBody>
      </p:sp>
      <p:cxnSp>
        <p:nvCxnSpPr>
          <p:cNvPr id="115" name="엔진 화살표 1"/>
          <p:cNvCxnSpPr/>
          <p:nvPr/>
        </p:nvCxnSpPr>
        <p:spPr>
          <a:xfrm>
            <a:off x="5120640" y="2834639"/>
            <a:ext cx="274319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</p:cxnSp>
      <p:sp>
        <p:nvSpPr>
          <p:cNvPr id="116" name="엔진 ③"/>
          <p:cNvSpPr/>
          <p:nvPr/>
        </p:nvSpPr>
        <p:spPr>
          <a:xfrm>
            <a:off x="7178040" y="1965960"/>
            <a:ext cx="1508760" cy="173736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txBody>
          <a:bodyPr wrap="square" lIns="73152" tIns="109728" rIns="73152" bIns="109728" rtlCol="0" anchor="ctr">
            <a:norm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100" b="1" dirty="0">
                <a:solidFill>
                  <a:schemeClr val="accent3"/>
                </a:solidFill>
              </a:rPr>
              <a:t>③ </a:t>
            </a:r>
            <a:r>
              <a:rPr lang="ko-KR" altLang="en-US" sz="1100" b="1" dirty="0">
                <a:solidFill>
                  <a:schemeClr val="tx1"/>
                </a:solidFill>
              </a:rPr>
              <a:t>SQL 컴파일러</a:t>
            </a:r>
          </a:p>
          <a:p>
            <a:pPr algn="ctr">
              <a:spcBef>
                <a:spcPts val="300"/>
              </a:spcBef>
            </a:pPr>
            <a:r>
              <a:rPr lang="ko-KR" altLang="en-US" sz="800" b="1" dirty="0">
                <a:solidFill>
                  <a:schemeClr val="accent1"/>
                </a:solidFill>
              </a:rPr>
              <a:t>규칙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이름과 함수 검증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UTC 보정, DB별 문법</a:t>
            </a:r>
          </a:p>
          <a:p>
            <a:pPr algn="ctr">
              <a:spcBef>
                <a:spcPts val="300"/>
              </a:spcBef>
            </a:pPr>
            <a:r>
              <a:rPr lang="ko-KR" altLang="en-US" sz="850" b="0" dirty="0">
                <a:solidFill>
                  <a:schemeClr val="tx1"/>
                </a:solidFill>
              </a:rPr>
              <a:t>실패하면 재시도</a:t>
            </a:r>
          </a:p>
        </p:txBody>
      </p:sp>
      <p:cxnSp>
        <p:nvCxnSpPr>
          <p:cNvPr id="117" name="엔진 화살표 2"/>
          <p:cNvCxnSpPr/>
          <p:nvPr/>
        </p:nvCxnSpPr>
        <p:spPr>
          <a:xfrm>
            <a:off x="6903720" y="2834639"/>
            <a:ext cx="274319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</p:cxnSp>
      <p:cxnSp>
        <p:nvCxnSpPr>
          <p:cNvPr id="118" name="엔진 → UI"/>
          <p:cNvCxnSpPr/>
          <p:nvPr/>
        </p:nvCxnSpPr>
        <p:spPr>
          <a:xfrm>
            <a:off x="8778240" y="2674620"/>
            <a:ext cx="411480" cy="0"/>
          </a:xfrm>
          <a:prstGeom prst="straightConnector1">
            <a:avLst/>
          </a:prstGeom>
          <a:ln w="31750">
            <a:solidFill>
              <a:schemeClr val="accent3"/>
            </a:solidFill>
            <a:tailEnd type="triangle"/>
          </a:ln>
        </p:spPr>
      </p:cxnSp>
      <p:sp>
        <p:nvSpPr>
          <p:cNvPr id="119" name="엔진 → UI 글"/>
          <p:cNvSpPr/>
          <p:nvPr/>
        </p:nvSpPr>
        <p:spPr>
          <a:xfrm>
            <a:off x="8778240" y="238201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900" b="1" dirty="0">
                <a:solidFill>
                  <a:schemeClr val="accent3"/>
                </a:solidFill>
              </a:rPr>
              <a:t>SQL</a:t>
            </a:r>
          </a:p>
        </p:txBody>
      </p:sp>
      <p:sp>
        <p:nvSpPr>
          <p:cNvPr id="120" name="UI"/>
          <p:cNvSpPr/>
          <p:nvPr/>
        </p:nvSpPr>
        <p:spPr>
          <a:xfrm>
            <a:off x="9189720" y="1463040"/>
            <a:ext cx="2633471" cy="242316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37160" tIns="91440" rIns="137160" bIns="91440" rtlCol="0" anchor="ctr">
            <a:normAutofit/>
          </a:bodyPr>
          <a:lstStyle/>
          <a:p>
            <a:pPr algn="ctr">
              <a:spcBef>
                <a:spcPts val="400"/>
              </a:spcBef>
            </a:pPr>
            <a:r>
              <a:rPr lang="ko-KR" altLang="en-US" sz="1400" b="1" dirty="0">
                <a:solidFill>
                  <a:schemeClr val="lt1"/>
                </a:solidFill>
              </a:rPr>
              <a:t>UI 분석 페이지</a:t>
            </a:r>
          </a:p>
          <a:p>
            <a:pPr algn="ctr">
              <a:spcBef>
                <a:spcPts val="400"/>
              </a:spcBef>
            </a:pPr>
            <a:r>
              <a:rPr lang="ko-KR" altLang="en-US" sz="1000" b="0" dirty="0">
                <a:solidFill>
                  <a:schemeClr val="lt1"/>
                </a:solidFill>
              </a:rPr>
              <a:t>생성한 SQL로</a:t>
            </a:r>
          </a:p>
          <a:p>
            <a:pPr algn="ctr">
              <a:spcBef>
                <a:spcPts val="400"/>
              </a:spcBef>
            </a:pPr>
            <a:r>
              <a:rPr lang="ko-KR" altLang="en-US" sz="1000" b="0" dirty="0">
                <a:solidFill>
                  <a:schemeClr val="lt1"/>
                </a:solidFill>
              </a:rPr>
              <a:t>분석 화면 구성</a:t>
            </a:r>
          </a:p>
          <a:p>
            <a:pPr algn="ctr">
              <a:spcBef>
                <a:spcPts val="400"/>
              </a:spcBef>
            </a:pPr>
            <a:r>
              <a:rPr lang="ko-KR" altLang="en-US" sz="900" b="1" dirty="0">
                <a:solidFill>
                  <a:schemeClr val="accent4"/>
                </a:solidFill>
              </a:rPr>
              <a:t>목표</a:t>
            </a:r>
          </a:p>
          <a:p>
            <a:pPr algn="ctr">
              <a:spcBef>
                <a:spcPts val="400"/>
              </a:spcBef>
            </a:pPr>
            <a:r>
              <a:rPr lang="ko-KR" altLang="en-US" sz="800" b="0" dirty="0">
                <a:solidFill>
                  <a:schemeClr val="accent4"/>
                </a:solidFill>
              </a:rPr>
              <a:t>SQL 실행과 결과 조회는 TO-BE</a:t>
            </a:r>
          </a:p>
        </p:txBody>
      </p:sp>
      <p:sp>
        <p:nvSpPr>
          <p:cNvPr id="121" name="특징 제목"/>
          <p:cNvSpPr/>
          <p:nvPr/>
        </p:nvSpPr>
        <p:spPr>
          <a:xfrm>
            <a:off x="365760" y="4160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ko-KR" altLang="en-US" sz="1100" b="1" dirty="0">
                <a:solidFill>
                  <a:schemeClr val="accent1"/>
                </a:solidFill>
              </a:rPr>
              <a:t>특징</a:t>
            </a:r>
          </a:p>
        </p:txBody>
      </p:sp>
      <p:sp>
        <p:nvSpPr>
          <p:cNvPr id="131" name="목차"/>
          <p:cNvSpPr/>
          <p:nvPr/>
        </p:nvSpPr>
        <p:spPr>
          <a:xfrm>
            <a:off x="365760" y="5715000"/>
            <a:ext cx="11457432" cy="41148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txBody>
          <a:bodyPr wrap="square" lIns="182880" tIns="36576" rIns="182880" bIns="36576" rtlCol="0" anchor="ctr">
            <a:normAutofit/>
          </a:bodyPr>
          <a:lstStyle/>
          <a:p>
            <a:pPr algn="l"/>
            <a:r>
              <a:rPr lang="ko-KR" altLang="en-US" sz="900" b="1" dirty="0">
                <a:solidFill>
                  <a:schemeClr val="accent1"/>
                </a:solidFill>
              </a:rPr>
              <a:t>목차    </a:t>
            </a:r>
            <a:r>
              <a:rPr lang="ko-KR" altLang="en-US" sz="850" b="1" dirty="0">
                <a:solidFill>
                  <a:schemeClr val="accent3"/>
                </a:solidFill>
              </a:rPr>
              <a:t>1장 </a:t>
            </a:r>
            <a:r>
              <a:rPr lang="ko-KR" altLang="en-US" sz="850" b="0" dirty="0">
                <a:solidFill>
                  <a:schemeClr val="tx1"/>
                </a:solidFill>
              </a:rPr>
              <a:t>메타 DB 테이블 정의서      </a:t>
            </a:r>
            <a:r>
              <a:rPr lang="ko-KR" altLang="en-US" sz="850" b="1" dirty="0">
                <a:solidFill>
                  <a:schemeClr val="accent3"/>
                </a:solidFill>
              </a:rPr>
              <a:t>2장 </a:t>
            </a:r>
            <a:r>
              <a:rPr lang="ko-KR" altLang="en-US" sz="850" b="0" dirty="0">
                <a:solidFill>
                  <a:schemeClr val="tx1"/>
                </a:solidFill>
              </a:rPr>
              <a:t>메타정보 구조화 설계      </a:t>
            </a:r>
            <a:r>
              <a:rPr lang="ko-KR" altLang="en-US" sz="850" b="1" dirty="0">
                <a:solidFill>
                  <a:schemeClr val="accent3"/>
                </a:solidFill>
              </a:rPr>
              <a:t>3장 </a:t>
            </a:r>
            <a:r>
              <a:rPr lang="ko-KR" altLang="en-US" sz="850" b="0" dirty="0">
                <a:solidFill>
                  <a:schemeClr val="tx1"/>
                </a:solidFill>
              </a:rPr>
              <a:t>구조화 결과      </a:t>
            </a:r>
            <a:r>
              <a:rPr lang="ko-KR" altLang="en-US" sz="850" b="1" dirty="0">
                <a:solidFill>
                  <a:schemeClr val="accent3"/>
                </a:solidFill>
              </a:rPr>
              <a:t>4장 </a:t>
            </a:r>
            <a:r>
              <a:rPr lang="ko-KR" altLang="en-US" sz="850" b="0" dirty="0">
                <a:solidFill>
                  <a:schemeClr val="tx1"/>
                </a:solidFill>
              </a:rPr>
              <a:t>메타정보 활용      </a:t>
            </a:r>
            <a:r>
              <a:rPr lang="ko-KR" altLang="en-US" sz="850" b="1" dirty="0">
                <a:solidFill>
                  <a:schemeClr val="accent3"/>
                </a:solidFill>
              </a:rPr>
              <a:t>5장 </a:t>
            </a:r>
            <a:r>
              <a:rPr lang="ko-KR" altLang="en-US" sz="850" b="0" dirty="0">
                <a:solidFill>
                  <a:schemeClr val="tx1"/>
                </a:solidFill>
              </a:rPr>
              <a:t>질문이 SQL이 되는 흐름      </a:t>
            </a:r>
            <a:r>
              <a:rPr lang="ko-KR" altLang="en-US" sz="850" b="1" dirty="0">
                <a:solidFill>
                  <a:schemeClr val="accent3"/>
                </a:solidFill>
              </a:rPr>
              <a:t>6장 </a:t>
            </a:r>
            <a:r>
              <a:rPr lang="ko-KR" altLang="en-US" sz="850" b="0" dirty="0">
                <a:solidFill>
                  <a:schemeClr val="tx1"/>
                </a:solidFill>
              </a:rPr>
              <a:t>LLM 결과 파싱 및 쿼리 전송      </a:t>
            </a:r>
          </a:p>
        </p:txBody>
      </p:sp>
      <p:sp>
        <p:nvSpPr>
          <p:cNvPr id="5" name="특징 1">
            <a:extLst>
              <a:ext uri="{FF2B5EF4-FFF2-40B4-BE49-F238E27FC236}">
                <a16:creationId xmlns:a16="http://schemas.microsoft.com/office/drawing/2014/main" id="{1416CCD1-4E98-5E80-91CA-2E3C3ABE86F5}"/>
              </a:ext>
            </a:extLst>
          </p:cNvPr>
          <p:cNvSpPr/>
          <p:nvPr/>
        </p:nvSpPr>
        <p:spPr>
          <a:xfrm>
            <a:off x="365760" y="4480559"/>
            <a:ext cx="3703320" cy="9601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7" name="특징 1 번호">
            <a:extLst>
              <a:ext uri="{FF2B5EF4-FFF2-40B4-BE49-F238E27FC236}">
                <a16:creationId xmlns:a16="http://schemas.microsoft.com/office/drawing/2014/main" id="{5714A2E3-DD12-2650-4DE4-754F756AF4DE}"/>
              </a:ext>
            </a:extLst>
          </p:cNvPr>
          <p:cNvSpPr/>
          <p:nvPr/>
        </p:nvSpPr>
        <p:spPr>
          <a:xfrm>
            <a:off x="548640" y="4709159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chemeClr val="lt1"/>
                </a:solidFill>
              </a:rPr>
              <a:t>1</a:t>
            </a:r>
          </a:p>
        </p:txBody>
      </p:sp>
      <p:sp>
        <p:nvSpPr>
          <p:cNvPr id="9" name="특징 1 글">
            <a:extLst>
              <a:ext uri="{FF2B5EF4-FFF2-40B4-BE49-F238E27FC236}">
                <a16:creationId xmlns:a16="http://schemas.microsoft.com/office/drawing/2014/main" id="{800E7469-E111-B691-BD44-EC17CA1B553C}"/>
              </a:ext>
            </a:extLst>
          </p:cNvPr>
          <p:cNvSpPr/>
          <p:nvPr/>
        </p:nvSpPr>
        <p:spPr>
          <a:xfrm>
            <a:off x="1234440" y="4590288"/>
            <a:ext cx="2697479" cy="740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ko-KR" altLang="en-US" sz="1300" b="1" dirty="0">
                <a:solidFill>
                  <a:schemeClr val="tx1"/>
                </a:solidFill>
              </a:rPr>
              <a:t>구조적 오류 방지 </a:t>
            </a:r>
          </a:p>
          <a:p>
            <a:pPr algn="l"/>
            <a:r>
              <a:rPr lang="ko-KR" altLang="en-US" sz="900" b="0" dirty="0">
                <a:solidFill>
                  <a:schemeClr val="tx1"/>
                </a:solidFill>
              </a:rPr>
              <a:t>등록되지 않은 테이블·컬럼·함수는</a:t>
            </a:r>
          </a:p>
          <a:p>
            <a:pPr algn="l"/>
            <a:r>
              <a:rPr lang="ko-KR" altLang="en-US" sz="900" b="0" dirty="0">
                <a:solidFill>
                  <a:schemeClr val="tx1"/>
                </a:solidFill>
              </a:rPr>
              <a:t>컴파일러 검증으로 SQL 생성 단계에서 차단</a:t>
            </a:r>
          </a:p>
        </p:txBody>
      </p:sp>
      <p:sp>
        <p:nvSpPr>
          <p:cNvPr id="11" name="특징 2">
            <a:extLst>
              <a:ext uri="{FF2B5EF4-FFF2-40B4-BE49-F238E27FC236}">
                <a16:creationId xmlns:a16="http://schemas.microsoft.com/office/drawing/2014/main" id="{CC037075-9521-2BC1-556A-1FC96F0112D5}"/>
              </a:ext>
            </a:extLst>
          </p:cNvPr>
          <p:cNvSpPr/>
          <p:nvPr/>
        </p:nvSpPr>
        <p:spPr>
          <a:xfrm>
            <a:off x="4242816" y="4480559"/>
            <a:ext cx="3703320" cy="9601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3" name="특징 2 번호">
            <a:extLst>
              <a:ext uri="{FF2B5EF4-FFF2-40B4-BE49-F238E27FC236}">
                <a16:creationId xmlns:a16="http://schemas.microsoft.com/office/drawing/2014/main" id="{6FEF277F-1BF4-7C1C-4039-FB622152BCAC}"/>
              </a:ext>
            </a:extLst>
          </p:cNvPr>
          <p:cNvSpPr/>
          <p:nvPr/>
        </p:nvSpPr>
        <p:spPr>
          <a:xfrm>
            <a:off x="4425696" y="4709159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chemeClr val="lt1"/>
                </a:solidFill>
              </a:rPr>
              <a:t>2</a:t>
            </a:r>
          </a:p>
        </p:txBody>
      </p:sp>
      <p:sp>
        <p:nvSpPr>
          <p:cNvPr id="15" name="특징 2 글">
            <a:extLst>
              <a:ext uri="{FF2B5EF4-FFF2-40B4-BE49-F238E27FC236}">
                <a16:creationId xmlns:a16="http://schemas.microsoft.com/office/drawing/2014/main" id="{687DA04F-20A7-3317-42CB-EEE16B83465E}"/>
              </a:ext>
            </a:extLst>
          </p:cNvPr>
          <p:cNvSpPr/>
          <p:nvPr/>
        </p:nvSpPr>
        <p:spPr>
          <a:xfrm>
            <a:off x="5111496" y="4590288"/>
            <a:ext cx="2697479" cy="740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ko-KR" altLang="en-US" sz="1300" b="1" dirty="0">
                <a:solidFill>
                  <a:schemeClr val="tx1"/>
                </a:solidFill>
              </a:rPr>
              <a:t>시스템 복잡도 증가 최소화</a:t>
            </a:r>
          </a:p>
          <a:p>
            <a:pPr algn="l"/>
            <a:r>
              <a:rPr lang="ko-KR" altLang="en-US" sz="900" b="0" dirty="0" err="1">
                <a:solidFill>
                  <a:schemeClr val="tx1"/>
                </a:solidFill>
              </a:rPr>
              <a:t>임베딩</a:t>
            </a:r>
            <a:r>
              <a:rPr lang="en-US" altLang="ko-KR" sz="900" b="0" dirty="0">
                <a:solidFill>
                  <a:schemeClr val="tx1"/>
                </a:solidFill>
              </a:rPr>
              <a:t>,</a:t>
            </a:r>
            <a:r>
              <a:rPr lang="ko-KR" altLang="en-US" sz="900" b="0" dirty="0">
                <a:solidFill>
                  <a:schemeClr val="tx1"/>
                </a:solidFill>
              </a:rPr>
              <a:t>유사도 검색 대신 메타 DB의</a:t>
            </a:r>
          </a:p>
          <a:p>
            <a:pPr algn="l"/>
            <a:r>
              <a:rPr lang="ko-KR" altLang="en-US" sz="900" b="0" dirty="0">
                <a:solidFill>
                  <a:schemeClr val="tx1"/>
                </a:solidFill>
              </a:rPr>
              <a:t>테이블과 지표 설명을 LLM이 직접 보고 선택</a:t>
            </a:r>
          </a:p>
        </p:txBody>
      </p:sp>
      <p:sp>
        <p:nvSpPr>
          <p:cNvPr id="17" name="특징 3">
            <a:extLst>
              <a:ext uri="{FF2B5EF4-FFF2-40B4-BE49-F238E27FC236}">
                <a16:creationId xmlns:a16="http://schemas.microsoft.com/office/drawing/2014/main" id="{03B4D6C2-0C12-D073-2053-6856D6A9DF28}"/>
              </a:ext>
            </a:extLst>
          </p:cNvPr>
          <p:cNvSpPr/>
          <p:nvPr/>
        </p:nvSpPr>
        <p:spPr>
          <a:xfrm>
            <a:off x="8119872" y="4480559"/>
            <a:ext cx="3703320" cy="9601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9" name="특징 3 번호">
            <a:extLst>
              <a:ext uri="{FF2B5EF4-FFF2-40B4-BE49-F238E27FC236}">
                <a16:creationId xmlns:a16="http://schemas.microsoft.com/office/drawing/2014/main" id="{D9CEE52D-2242-F817-6491-5A69A9FBD228}"/>
              </a:ext>
            </a:extLst>
          </p:cNvPr>
          <p:cNvSpPr/>
          <p:nvPr/>
        </p:nvSpPr>
        <p:spPr>
          <a:xfrm>
            <a:off x="8302752" y="4709159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chemeClr val="lt1"/>
                </a:solidFill>
              </a:rPr>
              <a:t>3</a:t>
            </a:r>
          </a:p>
        </p:txBody>
      </p:sp>
      <p:sp>
        <p:nvSpPr>
          <p:cNvPr id="21" name="특징 3 글">
            <a:extLst>
              <a:ext uri="{FF2B5EF4-FFF2-40B4-BE49-F238E27FC236}">
                <a16:creationId xmlns:a16="http://schemas.microsoft.com/office/drawing/2014/main" id="{B2BFBE39-CA33-D917-CADA-F3CAB1AC97CE}"/>
              </a:ext>
            </a:extLst>
          </p:cNvPr>
          <p:cNvSpPr/>
          <p:nvPr/>
        </p:nvSpPr>
        <p:spPr>
          <a:xfrm>
            <a:off x="8988552" y="4590288"/>
            <a:ext cx="2697479" cy="740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ko-KR" altLang="en-US" sz="1300" b="1" dirty="0" err="1">
                <a:solidFill>
                  <a:schemeClr val="tx1"/>
                </a:solidFill>
              </a:rPr>
              <a:t>Agent연동</a:t>
            </a:r>
            <a:r>
              <a:rPr lang="ko-KR" altLang="en-US" sz="1300" b="1" dirty="0">
                <a:solidFill>
                  <a:schemeClr val="tx1"/>
                </a:solidFill>
              </a:rPr>
              <a:t> 지원</a:t>
            </a:r>
          </a:p>
          <a:p>
            <a:pPr algn="l"/>
            <a:r>
              <a:rPr lang="ko-KR" altLang="en-US" sz="900" b="0" dirty="0">
                <a:solidFill>
                  <a:schemeClr val="tx1"/>
                </a:solidFill>
              </a:rPr>
              <a:t>질문을 입력하면 SQL을 생성하는 API</a:t>
            </a:r>
          </a:p>
          <a:p>
            <a:pPr algn="l"/>
            <a:r>
              <a:rPr lang="ko-KR" altLang="en-US" sz="900" b="0" dirty="0">
                <a:solidFill>
                  <a:schemeClr val="tx1"/>
                </a:solidFill>
              </a:rPr>
              <a:t>에이전트와 UI가 도구처럼 호출</a:t>
            </a:r>
          </a:p>
        </p:txBody>
      </p:sp>
    </p:spTree>
    <p:extLst>
      <p:ext uri="{BB962C8B-B14F-4D97-AF65-F5344CB8AC3E}">
        <p14:creationId xmlns:p14="http://schemas.microsoft.com/office/powerpoint/2010/main" val="342308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엔진 소개 (1/3)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LLM은 판단하고, SQL은 컴파일러가 만든다</a:t>
            </a:r>
          </a:p>
        </p:txBody>
      </p:sp>
      <p:sp>
        <p:nvSpPr>
          <p:cNvPr id="4" name="한 줄 요약"/>
          <p:cNvSpPr/>
          <p:nvPr/>
        </p:nvSpPr>
        <p:spPr>
          <a:xfrm>
            <a:off x="365760" y="1005840"/>
            <a:ext cx="11457432" cy="566928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 eaLnBrk="0">
              <a:spcAft>
                <a:spcPts val="0"/>
              </a:spcAft>
            </a:pPr>
            <a:r>
              <a:rPr lang="ko-KR" altLang="en-US" sz="1400" b="1" dirty="0">
                <a:solidFill>
                  <a:schemeClr val="bg1"/>
                </a:solidFill>
              </a:rPr>
              <a:t>NL2SQL 엔진  </a:t>
            </a:r>
            <a:r>
              <a:rPr lang="ko-KR" altLang="en-US" sz="1400" b="0" dirty="0">
                <a:solidFill>
                  <a:schemeClr val="bg1"/>
                </a:solidFill>
              </a:rPr>
              <a:t>자연어 질문에 맞는 </a:t>
            </a:r>
            <a:r>
              <a:rPr lang="ko-KR" altLang="en-US" sz="1400" b="0" dirty="0" err="1">
                <a:solidFill>
                  <a:schemeClr val="bg1"/>
                </a:solidFill>
              </a:rPr>
              <a:t>테이블·지표를</a:t>
            </a:r>
            <a:r>
              <a:rPr lang="ko-KR" altLang="en-US" sz="1400" b="0" dirty="0">
                <a:solidFill>
                  <a:schemeClr val="bg1"/>
                </a:solidFill>
              </a:rPr>
              <a:t> </a:t>
            </a:r>
            <a:r>
              <a:rPr lang="ko-KR" altLang="en-US" sz="1400" b="0" dirty="0" err="1">
                <a:solidFill>
                  <a:schemeClr val="bg1"/>
                </a:solidFill>
              </a:rPr>
              <a:t>LLM이</a:t>
            </a:r>
            <a:r>
              <a:rPr lang="ko-KR" altLang="en-US" sz="1400" b="0" dirty="0">
                <a:solidFill>
                  <a:schemeClr val="bg1"/>
                </a:solidFill>
              </a:rPr>
              <a:t> 고르고, 컴파일러가 검증된 </a:t>
            </a:r>
            <a:r>
              <a:rPr lang="ko-KR" altLang="en-US" sz="1400" b="0" dirty="0" err="1">
                <a:solidFill>
                  <a:schemeClr val="bg1"/>
                </a:solidFill>
              </a:rPr>
              <a:t>SQL로</a:t>
            </a:r>
            <a:r>
              <a:rPr lang="ko-KR" altLang="en-US" sz="1400" b="0" dirty="0">
                <a:solidFill>
                  <a:schemeClr val="bg1"/>
                </a:solidFill>
              </a:rPr>
              <a:t> 변환</a:t>
            </a:r>
          </a:p>
        </p:txBody>
      </p:sp>
      <p:sp>
        <p:nvSpPr>
          <p:cNvPr id="5" name="문제 제목"/>
          <p:cNvSpPr txBox="1"/>
          <p:nvPr/>
        </p:nvSpPr>
        <p:spPr>
          <a:xfrm>
            <a:off x="365760" y="1783080"/>
            <a:ext cx="3657600" cy="27432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300" b="1">
                <a:solidFill>
                  <a:schemeClr val="accent1"/>
                </a:solidFill>
              </a:rPr>
              <a:t>LLM에게 SQL을 직접 쓰게 하면</a:t>
            </a:r>
          </a:p>
        </p:txBody>
      </p:sp>
      <p:sp>
        <p:nvSpPr>
          <p:cNvPr id="6" name="문제 1"/>
          <p:cNvSpPr/>
          <p:nvPr/>
        </p:nvSpPr>
        <p:spPr>
          <a:xfrm>
            <a:off x="365760" y="2148840"/>
            <a:ext cx="3657600" cy="89611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문제 1 제목"/>
          <p:cNvSpPr txBox="1"/>
          <p:nvPr/>
        </p:nvSpPr>
        <p:spPr>
          <a:xfrm>
            <a:off x="896112" y="2258568"/>
            <a:ext cx="2971800" cy="295466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 dirty="0">
                <a:solidFill>
                  <a:schemeClr val="tx1"/>
                </a:solidFill>
              </a:rPr>
              <a:t>스키마 불일치</a:t>
            </a:r>
          </a:p>
        </p:txBody>
      </p:sp>
      <p:sp>
        <p:nvSpPr>
          <p:cNvPr id="9" name="문제 1 설명"/>
          <p:cNvSpPr txBox="1"/>
          <p:nvPr/>
        </p:nvSpPr>
        <p:spPr>
          <a:xfrm>
            <a:off x="896112" y="2551176"/>
            <a:ext cx="3017520" cy="45720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2"/>
                </a:solidFill>
              </a:rPr>
              <a:t>목록에 없는 테이블</a:t>
            </a:r>
            <a:r>
              <a:rPr lang="en-US" altLang="ko-KR" sz="1100" b="0" dirty="0">
                <a:solidFill>
                  <a:schemeClr val="tx2"/>
                </a:solidFill>
              </a:rPr>
              <a:t>/</a:t>
            </a:r>
            <a:r>
              <a:rPr lang="ko-KR" altLang="en-US" sz="1100" b="0" dirty="0">
                <a:solidFill>
                  <a:schemeClr val="tx2"/>
                </a:solidFill>
              </a:rPr>
              <a:t>컬럼 이름을 지어내 오류 발생</a:t>
            </a:r>
          </a:p>
        </p:txBody>
      </p:sp>
      <p:sp>
        <p:nvSpPr>
          <p:cNvPr id="10" name="문제 2"/>
          <p:cNvSpPr/>
          <p:nvPr/>
        </p:nvSpPr>
        <p:spPr>
          <a:xfrm>
            <a:off x="365760" y="3172968"/>
            <a:ext cx="3657600" cy="89611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문제 2 제목"/>
          <p:cNvSpPr txBox="1"/>
          <p:nvPr/>
        </p:nvSpPr>
        <p:spPr>
          <a:xfrm>
            <a:off x="896112" y="3282696"/>
            <a:ext cx="2971800" cy="295466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 dirty="0">
                <a:solidFill>
                  <a:schemeClr val="tx1"/>
                </a:solidFill>
              </a:rPr>
              <a:t>계산 기준 불일치</a:t>
            </a:r>
          </a:p>
        </p:txBody>
      </p:sp>
      <p:sp>
        <p:nvSpPr>
          <p:cNvPr id="13" name="문제 2 설명"/>
          <p:cNvSpPr txBox="1"/>
          <p:nvPr/>
        </p:nvSpPr>
        <p:spPr>
          <a:xfrm>
            <a:off x="896112" y="3575304"/>
            <a:ext cx="3017520" cy="45720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100" b="0" dirty="0" err="1">
                <a:solidFill>
                  <a:schemeClr val="tx2"/>
                </a:solidFill>
              </a:rPr>
              <a:t>누적값을</a:t>
            </a:r>
            <a:r>
              <a:rPr lang="ko-KR" altLang="en-US" sz="1100" b="0" dirty="0">
                <a:solidFill>
                  <a:schemeClr val="tx2"/>
                </a:solidFill>
              </a:rPr>
              <a:t> 그대로 합치는 등 계산식이 질문마다 달라짐</a:t>
            </a:r>
          </a:p>
        </p:txBody>
      </p:sp>
      <p:sp>
        <p:nvSpPr>
          <p:cNvPr id="14" name="문제 3"/>
          <p:cNvSpPr/>
          <p:nvPr/>
        </p:nvSpPr>
        <p:spPr>
          <a:xfrm>
            <a:off x="365760" y="4197096"/>
            <a:ext cx="3657600" cy="89611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문제 3 제목"/>
          <p:cNvSpPr txBox="1"/>
          <p:nvPr/>
        </p:nvSpPr>
        <p:spPr>
          <a:xfrm>
            <a:off x="896112" y="4306824"/>
            <a:ext cx="2971800" cy="295466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 dirty="0">
                <a:solidFill>
                  <a:schemeClr val="tx1"/>
                </a:solidFill>
              </a:rPr>
              <a:t>후보 선택의 모호성</a:t>
            </a:r>
          </a:p>
        </p:txBody>
      </p:sp>
      <p:sp>
        <p:nvSpPr>
          <p:cNvPr id="17" name="문제 3 설명"/>
          <p:cNvSpPr txBox="1"/>
          <p:nvPr/>
        </p:nvSpPr>
        <p:spPr>
          <a:xfrm>
            <a:off x="896112" y="4599432"/>
            <a:ext cx="3017520" cy="280077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2"/>
                </a:solidFill>
              </a:rPr>
              <a:t>지표 후보의 과다로 인한 선택의 어려움</a:t>
            </a:r>
          </a:p>
        </p:txBody>
      </p:sp>
      <p:sp>
        <p:nvSpPr>
          <p:cNvPr id="18" name="문제 4"/>
          <p:cNvSpPr/>
          <p:nvPr/>
        </p:nvSpPr>
        <p:spPr>
          <a:xfrm>
            <a:off x="365760" y="5221224"/>
            <a:ext cx="3657600" cy="89611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문제 4 제목"/>
          <p:cNvSpPr txBox="1"/>
          <p:nvPr/>
        </p:nvSpPr>
        <p:spPr>
          <a:xfrm>
            <a:off x="896112" y="5330952"/>
            <a:ext cx="2971800" cy="295466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 dirty="0"/>
              <a:t>오류 원인 추적의 어려움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문제 4 설명"/>
          <p:cNvSpPr txBox="1"/>
          <p:nvPr/>
        </p:nvSpPr>
        <p:spPr>
          <a:xfrm>
            <a:off x="896112" y="5623560"/>
            <a:ext cx="3017520" cy="280077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2"/>
                </a:solidFill>
              </a:rPr>
              <a:t>잘못된 SQL</a:t>
            </a:r>
            <a:r>
              <a:rPr lang="ko-KR" altLang="en-US" sz="1100" dirty="0">
                <a:solidFill>
                  <a:schemeClr val="tx2"/>
                </a:solidFill>
              </a:rPr>
              <a:t>의 발생 원인 파악의 어려움</a:t>
            </a:r>
            <a:endParaRPr lang="ko-KR" altLang="en-US" sz="1100" b="0" dirty="0">
              <a:solidFill>
                <a:schemeClr val="tx2"/>
              </a:solidFill>
            </a:endParaRPr>
          </a:p>
        </p:txBody>
      </p:sp>
      <p:sp>
        <p:nvSpPr>
          <p:cNvPr id="22" name="문제→해법"/>
          <p:cNvSpPr/>
          <p:nvPr/>
        </p:nvSpPr>
        <p:spPr>
          <a:xfrm>
            <a:off x="4160520" y="3611880"/>
            <a:ext cx="329184" cy="384048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해법 제목"/>
          <p:cNvSpPr txBox="1"/>
          <p:nvPr/>
        </p:nvSpPr>
        <p:spPr>
          <a:xfrm>
            <a:off x="4617720" y="1783080"/>
            <a:ext cx="6400800" cy="27432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300" b="1">
                <a:solidFill>
                  <a:schemeClr val="accent1"/>
                </a:solidFill>
              </a:rPr>
              <a:t>엔진의 세 가지 축</a:t>
            </a:r>
          </a:p>
        </p:txBody>
      </p:sp>
      <p:sp>
        <p:nvSpPr>
          <p:cNvPr id="24" name="지표가 정답 기준"/>
          <p:cNvSpPr/>
          <p:nvPr/>
        </p:nvSpPr>
        <p:spPr>
          <a:xfrm>
            <a:off x="4617720" y="2148840"/>
            <a:ext cx="2286000" cy="26060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지표가 정답 기준 제목"/>
          <p:cNvSpPr/>
          <p:nvPr/>
        </p:nvSpPr>
        <p:spPr>
          <a:xfrm>
            <a:off x="4709159" y="2240280"/>
            <a:ext cx="2103120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>
                <a:solidFill>
                  <a:schemeClr val="bg1"/>
                </a:solidFill>
              </a:rPr>
              <a:t>지표가 정답 기준</a:t>
            </a:r>
          </a:p>
        </p:txBody>
      </p:sp>
      <p:sp>
        <p:nvSpPr>
          <p:cNvPr id="27" name="지표가 정답 기준 내용"/>
          <p:cNvSpPr/>
          <p:nvPr/>
        </p:nvSpPr>
        <p:spPr>
          <a:xfrm>
            <a:off x="4709159" y="2660904"/>
            <a:ext cx="2103120" cy="2002536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계산이 필요한 질문은 </a:t>
            </a:r>
            <a:r>
              <a:rPr lang="ko-KR" altLang="en-US" sz="1100" b="1" dirty="0">
                <a:solidFill>
                  <a:schemeClr val="tx1"/>
                </a:solidFill>
              </a:rPr>
              <a:t>사람이 </a:t>
            </a:r>
            <a:r>
              <a:rPr lang="ko-KR" altLang="en-US" sz="1100" b="1" dirty="0" err="1">
                <a:solidFill>
                  <a:schemeClr val="tx1"/>
                </a:solidFill>
              </a:rPr>
              <a:t>SQL로</a:t>
            </a:r>
            <a:r>
              <a:rPr lang="ko-KR" altLang="en-US" sz="1100" b="1" dirty="0">
                <a:solidFill>
                  <a:schemeClr val="tx1"/>
                </a:solidFill>
              </a:rPr>
              <a:t> 등록한 지표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등록 시 </a:t>
            </a:r>
            <a:r>
              <a:rPr lang="ko-KR" altLang="en-US" sz="1100" b="0" dirty="0" err="1">
                <a:solidFill>
                  <a:schemeClr val="tx1"/>
                </a:solidFill>
              </a:rPr>
              <a:t>AST로</a:t>
            </a:r>
            <a:r>
              <a:rPr lang="ko-KR" altLang="en-US" sz="1100" b="0" dirty="0">
                <a:solidFill>
                  <a:schemeClr val="tx1"/>
                </a:solidFill>
              </a:rPr>
              <a:t> 바꾸고 원본과 결과 비교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 err="1">
                <a:solidFill>
                  <a:schemeClr val="tx1"/>
                </a:solidFill>
              </a:rPr>
              <a:t>LLM은</a:t>
            </a:r>
            <a:r>
              <a:rPr lang="ko-KR" altLang="en-US" sz="1100" b="0" dirty="0">
                <a:solidFill>
                  <a:schemeClr val="tx1"/>
                </a:solidFill>
              </a:rPr>
              <a:t> 지표를 고르고 </a:t>
            </a:r>
            <a:r>
              <a:rPr lang="ko-KR" altLang="en-US" sz="1100" b="1" dirty="0">
                <a:solidFill>
                  <a:schemeClr val="accent3"/>
                </a:solidFill>
              </a:rPr>
              <a:t>조건만</a:t>
            </a:r>
            <a:r>
              <a:rPr lang="ko-KR" altLang="en-US" sz="1100" b="0" dirty="0">
                <a:solidFill>
                  <a:schemeClr val="tx1"/>
                </a:solidFill>
              </a:rPr>
              <a:t> 바꿈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→ 지표가 없으면 '지표 등록이 필요합니다'</a:t>
            </a:r>
          </a:p>
        </p:txBody>
      </p:sp>
      <p:sp>
        <p:nvSpPr>
          <p:cNvPr id="28" name="단계별로 좁히기"/>
          <p:cNvSpPr/>
          <p:nvPr/>
        </p:nvSpPr>
        <p:spPr>
          <a:xfrm>
            <a:off x="7059168" y="2148840"/>
            <a:ext cx="2286000" cy="26060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단계별로 좁히기 제목"/>
          <p:cNvSpPr/>
          <p:nvPr/>
        </p:nvSpPr>
        <p:spPr>
          <a:xfrm>
            <a:off x="7150607" y="2240280"/>
            <a:ext cx="2103120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 dirty="0">
                <a:solidFill>
                  <a:schemeClr val="bg1"/>
                </a:solidFill>
              </a:rPr>
              <a:t>단계별로 좁히기</a:t>
            </a:r>
          </a:p>
        </p:txBody>
      </p:sp>
      <p:sp>
        <p:nvSpPr>
          <p:cNvPr id="31" name="단계별로 좁히기 내용"/>
          <p:cNvSpPr/>
          <p:nvPr/>
        </p:nvSpPr>
        <p:spPr>
          <a:xfrm>
            <a:off x="7150607" y="2660904"/>
            <a:ext cx="2103120" cy="2002536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1" dirty="0">
                <a:solidFill>
                  <a:schemeClr val="tx1"/>
                </a:solidFill>
              </a:rPr>
              <a:t>테이블을 고를 때 지표 필요까지 판단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컬럼의 [계산 필요] 표시와 지표 설명을 함께 봄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AST 단계엔 고른 </a:t>
            </a:r>
            <a:r>
              <a:rPr lang="ko-KR" altLang="en-US" sz="1100" b="0" dirty="0" err="1">
                <a:solidFill>
                  <a:schemeClr val="tx1"/>
                </a:solidFill>
              </a:rPr>
              <a:t>테이블·지표만</a:t>
            </a:r>
            <a:r>
              <a:rPr lang="ko-KR" altLang="en-US" sz="1100" b="0" dirty="0">
                <a:solidFill>
                  <a:schemeClr val="tx1"/>
                </a:solidFill>
              </a:rPr>
              <a:t> 전달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정할 수 없으면 되묻기</a:t>
            </a:r>
          </a:p>
        </p:txBody>
      </p:sp>
      <p:sp>
        <p:nvSpPr>
          <p:cNvPr id="32" name="SQL 컴파일러"/>
          <p:cNvSpPr/>
          <p:nvPr/>
        </p:nvSpPr>
        <p:spPr>
          <a:xfrm>
            <a:off x="9500616" y="2148840"/>
            <a:ext cx="2286000" cy="26060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SQL 컴파일러 제목"/>
          <p:cNvSpPr/>
          <p:nvPr/>
        </p:nvSpPr>
        <p:spPr>
          <a:xfrm>
            <a:off x="9592056" y="2240280"/>
            <a:ext cx="2103120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 dirty="0">
                <a:solidFill>
                  <a:schemeClr val="bg1"/>
                </a:solidFill>
              </a:rPr>
              <a:t>SQL 컴파일러</a:t>
            </a:r>
          </a:p>
        </p:txBody>
      </p:sp>
      <p:sp>
        <p:nvSpPr>
          <p:cNvPr id="35" name="SQL 컴파일러 내용"/>
          <p:cNvSpPr/>
          <p:nvPr/>
        </p:nvSpPr>
        <p:spPr>
          <a:xfrm>
            <a:off x="9592056" y="2660904"/>
            <a:ext cx="2103120" cy="2002536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0" dirty="0" err="1">
                <a:solidFill>
                  <a:schemeClr val="tx1"/>
                </a:solidFill>
              </a:rPr>
              <a:t>LLM은</a:t>
            </a:r>
            <a:r>
              <a:rPr lang="ko-KR" altLang="en-US" sz="1100" b="0" dirty="0">
                <a:solidFill>
                  <a:schemeClr val="tx1"/>
                </a:solidFill>
              </a:rPr>
              <a:t> SQL 대신 </a:t>
            </a:r>
            <a:r>
              <a:rPr lang="ko-KR" altLang="en-US" sz="1100" b="1" dirty="0">
                <a:solidFill>
                  <a:schemeClr val="tx1"/>
                </a:solidFill>
              </a:rPr>
              <a:t>JSON 조회 명세</a:t>
            </a:r>
            <a:r>
              <a:rPr lang="ko-KR" altLang="en-US" sz="1100" b="0" dirty="0">
                <a:solidFill>
                  <a:schemeClr val="tx1"/>
                </a:solidFill>
              </a:rPr>
              <a:t>만 작성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화이트리스트 검증 · UTC 보정 · 날짜 변환 · 조인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 err="1">
                <a:solidFill>
                  <a:schemeClr val="tx1"/>
                </a:solidFill>
              </a:rPr>
              <a:t>MySQL</a:t>
            </a:r>
            <a:r>
              <a:rPr lang="ko-KR" altLang="en-US" sz="1100" b="0" dirty="0">
                <a:solidFill>
                  <a:schemeClr val="tx1"/>
                </a:solidFill>
              </a:rPr>
              <a:t> · </a:t>
            </a:r>
            <a:r>
              <a:rPr lang="ko-KR" altLang="en-US" sz="1100" b="0" dirty="0" err="1">
                <a:solidFill>
                  <a:schemeClr val="tx1"/>
                </a:solidFill>
              </a:rPr>
              <a:t>PostgreSQL</a:t>
            </a:r>
            <a:r>
              <a:rPr lang="ko-KR" altLang="en-US" sz="1100" b="0" dirty="0">
                <a:solidFill>
                  <a:schemeClr val="tx1"/>
                </a:solidFill>
              </a:rPr>
              <a:t> · Oracle 문법 처리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실패 시 오류 메시지로 </a:t>
            </a:r>
            <a:r>
              <a:rPr lang="ko-KR" altLang="en-US" sz="1100" b="1" dirty="0">
                <a:solidFill>
                  <a:schemeClr val="accent3"/>
                </a:solidFill>
              </a:rPr>
              <a:t>재시도 (최대 </a:t>
            </a:r>
            <a:r>
              <a:rPr lang="en-US" altLang="ko-KR" sz="1100" b="1" dirty="0">
                <a:solidFill>
                  <a:schemeClr val="accent3"/>
                </a:solidFill>
              </a:rPr>
              <a:t>4</a:t>
            </a:r>
            <a:r>
              <a:rPr lang="ko-KR" altLang="en-US" sz="1100" b="1" dirty="0">
                <a:solidFill>
                  <a:schemeClr val="accent3"/>
                </a:solidFill>
              </a:rPr>
              <a:t>회)</a:t>
            </a:r>
          </a:p>
        </p:txBody>
      </p:sp>
      <p:sp>
        <p:nvSpPr>
          <p:cNvPr id="36" name="범위"/>
          <p:cNvSpPr/>
          <p:nvPr/>
        </p:nvSpPr>
        <p:spPr>
          <a:xfrm>
            <a:off x="4617720" y="4937760"/>
            <a:ext cx="7205472" cy="1307592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 eaLnBrk="0">
              <a:spcAft>
                <a:spcPts val="600"/>
              </a:spcAft>
            </a:pPr>
            <a:r>
              <a:rPr lang="ko-KR" altLang="en-US" sz="1100" b="1" dirty="0">
                <a:solidFill>
                  <a:schemeClr val="accent1"/>
                </a:solidFill>
              </a:rPr>
              <a:t>모든 단계를 기록  </a:t>
            </a:r>
            <a:r>
              <a:rPr lang="ko-KR" altLang="en-US" sz="1100" b="0" dirty="0">
                <a:solidFill>
                  <a:schemeClr val="tx1"/>
                </a:solidFill>
              </a:rPr>
              <a:t>후보</a:t>
            </a:r>
            <a:r>
              <a:rPr lang="en-US" altLang="ko-KR" sz="1100" b="0" dirty="0">
                <a:solidFill>
                  <a:schemeClr val="tx1"/>
                </a:solidFill>
              </a:rPr>
              <a:t>,</a:t>
            </a:r>
            <a:r>
              <a:rPr lang="ko-KR" altLang="en-US" sz="1100" b="0" dirty="0">
                <a:solidFill>
                  <a:schemeClr val="tx1"/>
                </a:solidFill>
              </a:rPr>
              <a:t>선택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b="0" dirty="0">
                <a:solidFill>
                  <a:schemeClr val="tx1"/>
                </a:solidFill>
              </a:rPr>
              <a:t>이유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b="0" dirty="0">
                <a:solidFill>
                  <a:schemeClr val="tx1"/>
                </a:solidFill>
              </a:rPr>
              <a:t>토큰을 질문이력에 남겨 틀린 단계를 바로 확인</a:t>
            </a:r>
          </a:p>
          <a:p>
            <a:pPr algn="l" eaLnBrk="0">
              <a:spcAft>
                <a:spcPts val="600"/>
              </a:spcAft>
            </a:pPr>
            <a:r>
              <a:rPr lang="ko-KR" altLang="en-US" sz="1100" b="1" dirty="0">
                <a:solidFill>
                  <a:schemeClr val="accent1"/>
                </a:solidFill>
              </a:rPr>
              <a:t>범위  </a:t>
            </a:r>
            <a:r>
              <a:rPr lang="ko-KR" altLang="en-US" sz="1100" b="0" dirty="0">
                <a:solidFill>
                  <a:schemeClr val="tx1"/>
                </a:solidFill>
              </a:rPr>
              <a:t>현재는 SQL 생성까지 (질문 SQL은 대상 </a:t>
            </a:r>
            <a:r>
              <a:rPr lang="ko-KR" altLang="en-US" sz="1100" b="0" dirty="0" err="1">
                <a:solidFill>
                  <a:schemeClr val="tx1"/>
                </a:solidFill>
              </a:rPr>
              <a:t>DB에서</a:t>
            </a:r>
            <a:r>
              <a:rPr lang="ko-KR" altLang="en-US" sz="1100" b="0" dirty="0">
                <a:solidFill>
                  <a:schemeClr val="tx1"/>
                </a:solidFill>
              </a:rPr>
              <a:t> 실행하지 않음, 지표 등록 때만 결과 비교로 실행). 실행 결과 조회는 TO-BE</a:t>
            </a:r>
          </a:p>
        </p:txBody>
      </p:sp>
      <p:pic>
        <p:nvPicPr>
          <p:cNvPr id="40" name="그래픽 39" descr="계산기 단색으로 채워진">
            <a:extLst>
              <a:ext uri="{FF2B5EF4-FFF2-40B4-BE49-F238E27FC236}">
                <a16:creationId xmlns:a16="http://schemas.microsoft.com/office/drawing/2014/main" id="{F570C6C5-B0D4-7A74-8A22-2BF09E37C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431" y="3268142"/>
            <a:ext cx="256032" cy="256032"/>
          </a:xfrm>
          <a:prstGeom prst="rect">
            <a:avLst/>
          </a:prstGeom>
          <a:effectLst/>
        </p:spPr>
      </p:pic>
      <p:pic>
        <p:nvPicPr>
          <p:cNvPr id="42" name="그래픽 41" descr="데이터베이스 단색으로 채워진">
            <a:extLst>
              <a:ext uri="{FF2B5EF4-FFF2-40B4-BE49-F238E27FC236}">
                <a16:creationId xmlns:a16="http://schemas.microsoft.com/office/drawing/2014/main" id="{2E408B6E-6760-DEDB-33A3-EDAEAF3FB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508" y="2240280"/>
            <a:ext cx="256032" cy="256032"/>
          </a:xfrm>
          <a:prstGeom prst="rect">
            <a:avLst/>
          </a:prstGeom>
          <a:effectLst/>
        </p:spPr>
      </p:pic>
      <p:pic>
        <p:nvPicPr>
          <p:cNvPr id="44" name="그래픽 43" descr="필터 단색으로 채워진">
            <a:extLst>
              <a:ext uri="{FF2B5EF4-FFF2-40B4-BE49-F238E27FC236}">
                <a16:creationId xmlns:a16="http://schemas.microsoft.com/office/drawing/2014/main" id="{CAAB9F76-5981-CBAB-B271-D5E36D0A1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431" y="4327926"/>
            <a:ext cx="256032" cy="256032"/>
          </a:xfrm>
          <a:prstGeom prst="rect">
            <a:avLst/>
          </a:prstGeom>
          <a:effectLst/>
        </p:spPr>
      </p:pic>
      <p:pic>
        <p:nvPicPr>
          <p:cNvPr id="46" name="그래픽 45" descr="돋보기 단색으로 채워진">
            <a:extLst>
              <a:ext uri="{FF2B5EF4-FFF2-40B4-BE49-F238E27FC236}">
                <a16:creationId xmlns:a16="http://schemas.microsoft.com/office/drawing/2014/main" id="{5099F20F-A86E-8E65-AF76-D394FF39B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431" y="5269985"/>
            <a:ext cx="256032" cy="256032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엔진 소개 (2/3)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질문 하나가 SQL이 되는 5단계</a:t>
            </a:r>
          </a:p>
        </p:txBody>
      </p:sp>
      <p:sp>
        <p:nvSpPr>
          <p:cNvPr id="4" name="흐름 설명"/>
          <p:cNvSpPr txBox="1"/>
          <p:nvPr/>
        </p:nvSpPr>
        <p:spPr>
          <a:xfrm>
            <a:off x="365760" y="960120"/>
            <a:ext cx="11430000" cy="295466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0" dirty="0">
                <a:solidFill>
                  <a:schemeClr val="tx2"/>
                </a:solidFill>
              </a:rPr>
              <a:t>시스템(조회 대상 DB)을 고르고 질문하면, LLM 판단과 규칙 처리를 거치며 범위를 좁혀 감</a:t>
            </a:r>
          </a:p>
        </p:txBody>
      </p:sp>
      <p:sp>
        <p:nvSpPr>
          <p:cNvPr id="5" name="테이블 추론"/>
          <p:cNvSpPr/>
          <p:nvPr/>
        </p:nvSpPr>
        <p:spPr>
          <a:xfrm>
            <a:off x="365760" y="1371600"/>
            <a:ext cx="2020824" cy="2103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테이블 추론 제목"/>
          <p:cNvSpPr/>
          <p:nvPr/>
        </p:nvSpPr>
        <p:spPr>
          <a:xfrm>
            <a:off x="457200" y="1463040"/>
            <a:ext cx="1837943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>
                <a:solidFill>
                  <a:schemeClr val="bg1"/>
                </a:solidFill>
              </a:rPr>
              <a:t>메타 조회</a:t>
            </a:r>
          </a:p>
        </p:txBody>
      </p:sp>
      <p:sp>
        <p:nvSpPr>
          <p:cNvPr id="8" name="테이블 추론 내용"/>
          <p:cNvSpPr/>
          <p:nvPr/>
        </p:nvSpPr>
        <p:spPr>
          <a:xfrm>
            <a:off x="457200" y="1883664"/>
            <a:ext cx="1837943" cy="1499615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입력  </a:t>
            </a:r>
            <a:r>
              <a:rPr lang="ko-KR" altLang="en-US" sz="1100" b="0">
                <a:solidFill>
                  <a:schemeClr val="tx1"/>
                </a:solidFill>
              </a:rPr>
              <a:t>질문할 때 고른 시스템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출력  </a:t>
            </a:r>
            <a:r>
              <a:rPr lang="ko-KR" altLang="en-US" sz="1100" b="0">
                <a:solidFill>
                  <a:schemeClr val="tx1"/>
                </a:solidFill>
              </a:rPr>
              <a:t>테이블·컬럼(계산 필요, UTC 시차) + 지표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>
                <a:solidFill>
                  <a:schemeClr val="tx1"/>
                </a:solidFill>
              </a:rPr>
              <a:t>LLM 없이 메타 DB에서 조회</a:t>
            </a:r>
          </a:p>
        </p:txBody>
      </p:sp>
      <p:sp>
        <p:nvSpPr>
          <p:cNvPr id="9" name="테이블 추론 구분"/>
          <p:cNvSpPr/>
          <p:nvPr/>
        </p:nvSpPr>
        <p:spPr>
          <a:xfrm>
            <a:off x="457200" y="3566160"/>
            <a:ext cx="1837943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조회</a:t>
            </a:r>
          </a:p>
        </p:txBody>
      </p:sp>
      <p:sp>
        <p:nvSpPr>
          <p:cNvPr id="10" name="화살표 1→2"/>
          <p:cNvSpPr/>
          <p:nvPr/>
        </p:nvSpPr>
        <p:spPr>
          <a:xfrm>
            <a:off x="2418588" y="2267712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지표 후보 조회"/>
          <p:cNvSpPr/>
          <p:nvPr/>
        </p:nvSpPr>
        <p:spPr>
          <a:xfrm>
            <a:off x="2724912" y="1371600"/>
            <a:ext cx="2020824" cy="2103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지표 후보 조회 제목"/>
          <p:cNvSpPr/>
          <p:nvPr/>
        </p:nvSpPr>
        <p:spPr>
          <a:xfrm>
            <a:off x="2816352" y="1463040"/>
            <a:ext cx="1837943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 dirty="0">
                <a:solidFill>
                  <a:schemeClr val="bg1"/>
                </a:solidFill>
              </a:rPr>
              <a:t>테이블 및 지표 판단</a:t>
            </a:r>
          </a:p>
        </p:txBody>
      </p:sp>
      <p:sp>
        <p:nvSpPr>
          <p:cNvPr id="14" name="지표 후보 조회 내용"/>
          <p:cNvSpPr/>
          <p:nvPr/>
        </p:nvSpPr>
        <p:spPr>
          <a:xfrm>
            <a:off x="2816352" y="1883664"/>
            <a:ext cx="1837943" cy="1499615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1" dirty="0">
                <a:solidFill>
                  <a:schemeClr val="accent1"/>
                </a:solidFill>
              </a:rPr>
              <a:t>입력  </a:t>
            </a:r>
            <a:r>
              <a:rPr lang="ko-KR" altLang="en-US" sz="1100" b="0" dirty="0">
                <a:solidFill>
                  <a:schemeClr val="tx1"/>
                </a:solidFill>
              </a:rPr>
              <a:t>테이블 목록 + 컬럼 + 테이블별 지표 설명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1" dirty="0">
                <a:solidFill>
                  <a:schemeClr val="accent1"/>
                </a:solidFill>
              </a:rPr>
              <a:t>출력  </a:t>
            </a:r>
            <a:r>
              <a:rPr lang="ko-KR" altLang="en-US" sz="1100" b="0" dirty="0">
                <a:solidFill>
                  <a:schemeClr val="tx1"/>
                </a:solidFill>
              </a:rPr>
              <a:t>테이블 + 지표 필요 여부 + 지표 이름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 dirty="0">
                <a:solidFill>
                  <a:schemeClr val="tx1"/>
                </a:solidFill>
              </a:rPr>
              <a:t>애매하면 되물을 문장</a:t>
            </a:r>
          </a:p>
        </p:txBody>
      </p:sp>
      <p:sp>
        <p:nvSpPr>
          <p:cNvPr id="15" name="지표 후보 조회 구분"/>
          <p:cNvSpPr/>
          <p:nvPr/>
        </p:nvSpPr>
        <p:spPr>
          <a:xfrm>
            <a:off x="2816352" y="3566160"/>
            <a:ext cx="183794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LLM</a:t>
            </a:r>
          </a:p>
        </p:txBody>
      </p:sp>
      <p:sp>
        <p:nvSpPr>
          <p:cNvPr id="16" name="화살표 2→3"/>
          <p:cNvSpPr/>
          <p:nvPr/>
        </p:nvSpPr>
        <p:spPr>
          <a:xfrm>
            <a:off x="4777740" y="2267712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지표 선택"/>
          <p:cNvSpPr/>
          <p:nvPr/>
        </p:nvSpPr>
        <p:spPr>
          <a:xfrm>
            <a:off x="5084064" y="1371600"/>
            <a:ext cx="2020824" cy="2103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지표 선택 제목"/>
          <p:cNvSpPr/>
          <p:nvPr/>
        </p:nvSpPr>
        <p:spPr>
          <a:xfrm>
            <a:off x="5175504" y="1463040"/>
            <a:ext cx="1837943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>
                <a:solidFill>
                  <a:schemeClr val="bg1"/>
                </a:solidFill>
              </a:rPr>
              <a:t>분기</a:t>
            </a:r>
          </a:p>
        </p:txBody>
      </p:sp>
      <p:sp>
        <p:nvSpPr>
          <p:cNvPr id="20" name="지표 선택 내용"/>
          <p:cNvSpPr/>
          <p:nvPr/>
        </p:nvSpPr>
        <p:spPr>
          <a:xfrm>
            <a:off x="5175504" y="1883664"/>
            <a:ext cx="1837943" cy="1499615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되묻기  </a:t>
            </a:r>
            <a:r>
              <a:rPr lang="ko-KR" altLang="en-US" sz="1100" b="0">
                <a:solidFill>
                  <a:schemeClr val="tx1"/>
                </a:solidFill>
              </a:rPr>
              <a:t>애매하면 사용자에게 질문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종료  </a:t>
            </a:r>
            <a:r>
              <a:rPr lang="ko-KR" altLang="en-US" sz="1100" b="0">
                <a:solidFill>
                  <a:schemeClr val="tx1"/>
                </a:solidFill>
              </a:rPr>
              <a:t>지표가 필요한데 없으면 '지표 등록이 필요합니다'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진행  </a:t>
            </a:r>
            <a:r>
              <a:rPr lang="ko-KR" altLang="en-US" sz="1100" b="0">
                <a:solidFill>
                  <a:schemeClr val="tx1"/>
                </a:solidFill>
              </a:rPr>
              <a:t>고른 지표의 SQL·AST를 다음 단계로</a:t>
            </a:r>
          </a:p>
        </p:txBody>
      </p:sp>
      <p:sp>
        <p:nvSpPr>
          <p:cNvPr id="21" name="지표 선택 구분"/>
          <p:cNvSpPr/>
          <p:nvPr/>
        </p:nvSpPr>
        <p:spPr>
          <a:xfrm>
            <a:off x="5175504" y="3566160"/>
            <a:ext cx="1837943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규칙</a:t>
            </a:r>
          </a:p>
        </p:txBody>
      </p:sp>
      <p:sp>
        <p:nvSpPr>
          <p:cNvPr id="22" name="화살표 3→4"/>
          <p:cNvSpPr/>
          <p:nvPr/>
        </p:nvSpPr>
        <p:spPr>
          <a:xfrm>
            <a:off x="7136892" y="2267712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조회 명세"/>
          <p:cNvSpPr/>
          <p:nvPr/>
        </p:nvSpPr>
        <p:spPr>
          <a:xfrm>
            <a:off x="7443216" y="1371600"/>
            <a:ext cx="2020824" cy="2103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조회 명세 제목"/>
          <p:cNvSpPr/>
          <p:nvPr/>
        </p:nvSpPr>
        <p:spPr>
          <a:xfrm>
            <a:off x="7534656" y="1463040"/>
            <a:ext cx="1837943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>
                <a:solidFill>
                  <a:schemeClr val="bg1"/>
                </a:solidFill>
              </a:rPr>
              <a:t>조회 명세</a:t>
            </a:r>
          </a:p>
        </p:txBody>
      </p:sp>
      <p:sp>
        <p:nvSpPr>
          <p:cNvPr id="26" name="조회 명세 내용"/>
          <p:cNvSpPr/>
          <p:nvPr/>
        </p:nvSpPr>
        <p:spPr>
          <a:xfrm>
            <a:off x="7534656" y="1883664"/>
            <a:ext cx="1837943" cy="1499615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입력  </a:t>
            </a:r>
            <a:r>
              <a:rPr lang="ko-KR" altLang="en-US" sz="1100" b="0">
                <a:solidFill>
                  <a:schemeClr val="tx1"/>
                </a:solidFill>
              </a:rPr>
              <a:t>고른 테이블 컬럼 + 지표 SQL·AST + 오늘 날짜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출력  </a:t>
            </a:r>
            <a:r>
              <a:rPr lang="ko-KR" altLang="en-US" sz="1100" b="0">
                <a:solidFill>
                  <a:schemeClr val="tx1"/>
                </a:solidFill>
              </a:rPr>
              <a:t>JSON AST (지표면 계산은 두고 기간·조건·묶음만 바꿈)</a:t>
            </a:r>
          </a:p>
        </p:txBody>
      </p:sp>
      <p:sp>
        <p:nvSpPr>
          <p:cNvPr id="27" name="조회 명세 구분"/>
          <p:cNvSpPr/>
          <p:nvPr/>
        </p:nvSpPr>
        <p:spPr>
          <a:xfrm>
            <a:off x="7534656" y="3566160"/>
            <a:ext cx="183794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LLM</a:t>
            </a:r>
          </a:p>
        </p:txBody>
      </p:sp>
      <p:sp>
        <p:nvSpPr>
          <p:cNvPr id="28" name="화살표 4→5"/>
          <p:cNvSpPr/>
          <p:nvPr/>
        </p:nvSpPr>
        <p:spPr>
          <a:xfrm>
            <a:off x="9496044" y="2267712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컴파일 · 검증"/>
          <p:cNvSpPr/>
          <p:nvPr/>
        </p:nvSpPr>
        <p:spPr>
          <a:xfrm>
            <a:off x="9802368" y="1371600"/>
            <a:ext cx="2020824" cy="2103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컴파일 · 검증 제목"/>
          <p:cNvSpPr/>
          <p:nvPr/>
        </p:nvSpPr>
        <p:spPr>
          <a:xfrm>
            <a:off x="9893808" y="1463040"/>
            <a:ext cx="1837943" cy="347472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200" b="1" dirty="0">
                <a:solidFill>
                  <a:schemeClr val="bg1"/>
                </a:solidFill>
              </a:rPr>
              <a:t>컴파일</a:t>
            </a:r>
          </a:p>
        </p:txBody>
      </p:sp>
      <p:sp>
        <p:nvSpPr>
          <p:cNvPr id="32" name="컴파일 · 검증 내용"/>
          <p:cNvSpPr/>
          <p:nvPr/>
        </p:nvSpPr>
        <p:spPr>
          <a:xfrm>
            <a:off x="9893808" y="1883664"/>
            <a:ext cx="1837943" cy="1499615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입력  </a:t>
            </a:r>
            <a:r>
              <a:rPr lang="ko-KR" altLang="en-US" sz="1100" b="0">
                <a:solidFill>
                  <a:schemeClr val="tx1"/>
                </a:solidFill>
              </a:rPr>
              <a:t>JSON AST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1">
                <a:solidFill>
                  <a:schemeClr val="accent1"/>
                </a:solidFill>
              </a:rPr>
              <a:t>출력  </a:t>
            </a:r>
            <a:r>
              <a:rPr lang="ko-KR" altLang="en-US" sz="1100" b="0">
                <a:solidFill>
                  <a:schemeClr val="tx1"/>
                </a:solidFill>
              </a:rPr>
              <a:t>SQL</a:t>
            </a:r>
          </a:p>
          <a:p>
            <a:pPr algn="l" eaLnBrk="0">
              <a:spcAft>
                <a:spcPts val="400"/>
              </a:spcAft>
            </a:pPr>
            <a:r>
              <a:rPr lang="ko-KR" altLang="en-US" sz="1100" b="0">
                <a:solidFill>
                  <a:schemeClr val="tx1"/>
                </a:solidFill>
              </a:rPr>
              <a:t>화이트리스트 검증 · UTC 보정 · 날짜 변환 · 조인 · DB별 문법</a:t>
            </a:r>
          </a:p>
        </p:txBody>
      </p:sp>
      <p:sp>
        <p:nvSpPr>
          <p:cNvPr id="33" name="컴파일 · 검증 구분"/>
          <p:cNvSpPr/>
          <p:nvPr/>
        </p:nvSpPr>
        <p:spPr>
          <a:xfrm>
            <a:off x="9893808" y="3566160"/>
            <a:ext cx="1837943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규칙</a:t>
            </a:r>
          </a:p>
        </p:txBody>
      </p:sp>
      <p:sp>
        <p:nvSpPr>
          <p:cNvPr id="34" name="재시도"/>
          <p:cNvSpPr/>
          <p:nvPr/>
        </p:nvSpPr>
        <p:spPr>
          <a:xfrm>
            <a:off x="7443216" y="3977639"/>
            <a:ext cx="4379976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100" b="1" dirty="0">
                <a:solidFill>
                  <a:schemeClr val="accent3"/>
                </a:solidFill>
              </a:rPr>
              <a:t>↺  실패 시 오류 메시지를 조회명세로 돌려보내 재작성 (최대 </a:t>
            </a:r>
            <a:r>
              <a:rPr lang="en-US" altLang="ko-KR" sz="1100" b="1" dirty="0">
                <a:solidFill>
                  <a:schemeClr val="accent3"/>
                </a:solidFill>
              </a:rPr>
              <a:t>4</a:t>
            </a:r>
            <a:r>
              <a:rPr lang="ko-KR" altLang="en-US" sz="1100" b="1" dirty="0">
                <a:solidFill>
                  <a:schemeClr val="accent3"/>
                </a:solidFill>
              </a:rPr>
              <a:t>회)</a:t>
            </a:r>
          </a:p>
        </p:txBody>
      </p:sp>
      <p:sp>
        <p:nvSpPr>
          <p:cNvPr id="35" name="되묻기"/>
          <p:cNvSpPr/>
          <p:nvPr/>
        </p:nvSpPr>
        <p:spPr>
          <a:xfrm>
            <a:off x="5084064" y="3977639"/>
            <a:ext cx="2020824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100" b="1" dirty="0">
                <a:solidFill>
                  <a:schemeClr val="accent3"/>
                </a:solidFill>
              </a:rPr>
              <a:t>사용자에게 질문</a:t>
            </a:r>
          </a:p>
        </p:txBody>
      </p:sp>
      <p:sp>
        <p:nvSpPr>
          <p:cNvPr id="36" name="결과 제목"/>
          <p:cNvSpPr txBox="1"/>
          <p:nvPr/>
        </p:nvSpPr>
        <p:spPr>
          <a:xfrm>
            <a:off x="365760" y="4663440"/>
            <a:ext cx="5486400" cy="27432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300" b="1">
                <a:solidFill>
                  <a:schemeClr val="accent1"/>
                </a:solidFill>
              </a:rPr>
              <a:t>질문마다 남는 것</a:t>
            </a:r>
          </a:p>
        </p:txBody>
      </p:sp>
      <p:sp>
        <p:nvSpPr>
          <p:cNvPr id="37" name="결과 1"/>
          <p:cNvSpPr/>
          <p:nvPr/>
        </p:nvSpPr>
        <p:spPr>
          <a:xfrm>
            <a:off x="365760" y="5029200"/>
            <a:ext cx="3703320" cy="109728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 eaLnBrk="0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SQL과 근거</a:t>
            </a:r>
          </a:p>
          <a:p>
            <a:pPr algn="l" eaLnBrk="0">
              <a:spcAft>
                <a:spcPts val="3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생성한 SQL과 선택한 테이블·지표를 화면에 표시</a:t>
            </a:r>
          </a:p>
        </p:txBody>
      </p:sp>
      <p:sp>
        <p:nvSpPr>
          <p:cNvPr id="38" name="결과 2"/>
          <p:cNvSpPr/>
          <p:nvPr/>
        </p:nvSpPr>
        <p:spPr>
          <a:xfrm>
            <a:off x="4242816" y="5029200"/>
            <a:ext cx="3703320" cy="109728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 eaLnBrk="0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단계별 기록</a:t>
            </a:r>
          </a:p>
          <a:p>
            <a:pPr algn="l" eaLnBrk="0">
              <a:spcAft>
                <a:spcPts val="3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단계별 후보·선택·이유·토큰을 ask_trace에 저장</a:t>
            </a:r>
          </a:p>
        </p:txBody>
      </p:sp>
      <p:sp>
        <p:nvSpPr>
          <p:cNvPr id="39" name="결과 3"/>
          <p:cNvSpPr/>
          <p:nvPr/>
        </p:nvSpPr>
        <p:spPr>
          <a:xfrm>
            <a:off x="8119872" y="5029200"/>
            <a:ext cx="3703320" cy="109728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 eaLnBrk="0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사용자 평가</a:t>
            </a:r>
          </a:p>
          <a:p>
            <a:pPr algn="l" eaLnBrk="0">
              <a:spcAft>
                <a:spcPts val="3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맞음/틀림 평가, '맞음' 기록은 평가셋으로 내보내기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엔진 소개 (3/3)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한 번에 검색하는 방식과 무엇이 다른가</a:t>
            </a:r>
          </a:p>
        </p:txBody>
      </p:sp>
      <p:graphicFrame>
        <p:nvGraphicFramePr>
          <p:cNvPr id="4" name="비교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545608"/>
              </p:ext>
            </p:extLst>
          </p:nvPr>
        </p:nvGraphicFramePr>
        <p:xfrm>
          <a:off x="365760" y="1005840"/>
          <a:ext cx="1145743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ea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109728" marR="10972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한 번의 검색 (RAG) 후 SQL 생성</a:t>
                      </a:r>
                    </a:p>
                  </a:txBody>
                  <a:tcPr marL="109728" marR="10972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NL2SQL 엔진</a:t>
                      </a:r>
                    </a:p>
                  </a:txBody>
                  <a:tcPr marL="109728" marR="10972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후보 찾기</a:t>
                      </a:r>
                    </a:p>
                  </a:txBody>
                  <a:tcPr marL="109728" marR="109728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0">
                          <a:solidFill>
                            <a:schemeClr val="tx2"/>
                          </a:solidFill>
                        </a:rPr>
                        <a:t>질문과 비슷한 지표·테이블을 전체에서 유사도 검색</a:t>
                      </a:r>
                    </a:p>
                  </a:txBody>
                  <a:tcPr marL="109728" marR="10972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accent1"/>
                          </a:solidFill>
                        </a:rPr>
                        <a:t>테이블 목록(계산 필요 표시·지표 설명 포함)을 보고 LLM이 테이블·지표 선택</a:t>
                      </a:r>
                    </a:p>
                  </a:txBody>
                  <a:tcPr marL="109728" marR="109728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계산식</a:t>
                      </a:r>
                    </a:p>
                  </a:txBody>
                  <a:tcPr marL="109728" marR="109728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0" dirty="0" err="1">
                          <a:solidFill>
                            <a:schemeClr val="tx2"/>
                          </a:solidFill>
                        </a:rPr>
                        <a:t>LLM이</a:t>
                      </a:r>
                      <a:r>
                        <a:rPr lang="ko-KR" altLang="en-US" sz="1200" b="0" dirty="0">
                          <a:solidFill>
                            <a:schemeClr val="tx2"/>
                          </a:solidFill>
                        </a:rPr>
                        <a:t> SQL을 직접 작성해 질문마다 계산식이 달라질 수 있음</a:t>
                      </a:r>
                    </a:p>
                  </a:txBody>
                  <a:tcPr marL="109728" marR="10972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 dirty="0">
                          <a:solidFill>
                            <a:schemeClr val="accent1"/>
                          </a:solidFill>
                        </a:rPr>
                        <a:t>등록된 지표의 계산식은 그대로 두고 조건만 바꿈. </a:t>
                      </a:r>
                      <a:br>
                        <a:rPr lang="en-US" altLang="ko-KR" sz="1200" b="1" dirty="0">
                          <a:solidFill>
                            <a:schemeClr val="accent1"/>
                          </a:solidFill>
                        </a:rPr>
                      </a:br>
                      <a:r>
                        <a:rPr lang="ko-KR" altLang="en-US" sz="1200" b="1" dirty="0">
                          <a:solidFill>
                            <a:schemeClr val="accent1"/>
                          </a:solidFill>
                        </a:rPr>
                        <a:t>맞는 지표가 없으면 '지표 등록 필요'</a:t>
                      </a:r>
                    </a:p>
                  </a:txBody>
                  <a:tcPr marL="109728" marR="109728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없는 이름</a:t>
                      </a:r>
                    </a:p>
                  </a:txBody>
                  <a:tcPr marL="109728" marR="109728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0">
                          <a:solidFill>
                            <a:schemeClr val="tx2"/>
                          </a:solidFill>
                        </a:rPr>
                        <a:t>SQL을 실행해 봐야 오류를 발견</a:t>
                      </a:r>
                    </a:p>
                  </a:txBody>
                  <a:tcPr marL="109728" marR="10972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accent1"/>
                          </a:solidFill>
                        </a:rPr>
                        <a:t>컴파일 단계에서 화이트리스트로 막고 재시도</a:t>
                      </a:r>
                    </a:p>
                  </a:txBody>
                  <a:tcPr marL="109728" marR="109728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애매한 질문</a:t>
                      </a:r>
                    </a:p>
                  </a:txBody>
                  <a:tcPr marL="109728" marR="109728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0">
                          <a:solidFill>
                            <a:schemeClr val="tx2"/>
                          </a:solidFill>
                        </a:rPr>
                        <a:t>가장 비슷한 후보로 바로 답함</a:t>
                      </a:r>
                    </a:p>
                  </a:txBody>
                  <a:tcPr marL="109728" marR="10972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 dirty="0">
                          <a:solidFill>
                            <a:schemeClr val="accent1"/>
                          </a:solidFill>
                        </a:rPr>
                        <a:t>질문을 정할 수 없으면 사용자에게 질문</a:t>
                      </a:r>
                    </a:p>
                  </a:txBody>
                  <a:tcPr marL="109728" marR="109728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틀렸을 때</a:t>
                      </a:r>
                    </a:p>
                  </a:txBody>
                  <a:tcPr marL="109728" marR="109728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0">
                          <a:solidFill>
                            <a:schemeClr val="tx2"/>
                          </a:solidFill>
                        </a:rPr>
                        <a:t>어디서 틀렸는지 알기 어려움</a:t>
                      </a:r>
                    </a:p>
                  </a:txBody>
                  <a:tcPr marL="109728" marR="10972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/>
                      <a:r>
                        <a:rPr lang="ko-KR" altLang="en-US" sz="1200" b="1" dirty="0">
                          <a:solidFill>
                            <a:schemeClr val="accent1"/>
                          </a:solidFill>
                        </a:rPr>
                        <a:t>단계별 기록(</a:t>
                      </a:r>
                      <a:r>
                        <a:rPr lang="ko-KR" altLang="en-US" sz="1200" b="1" dirty="0" err="1">
                          <a:solidFill>
                            <a:schemeClr val="accent1"/>
                          </a:solidFill>
                        </a:rPr>
                        <a:t>ask_trace</a:t>
                      </a:r>
                      <a:r>
                        <a:rPr lang="ko-KR" altLang="en-US" sz="1200" b="1" dirty="0">
                          <a:solidFill>
                            <a:schemeClr val="accent1"/>
                          </a:solidFill>
                        </a:rPr>
                        <a:t>)</a:t>
                      </a:r>
                      <a:r>
                        <a:rPr lang="ko-KR" altLang="en-US" sz="1200" b="1" dirty="0" err="1">
                          <a:solidFill>
                            <a:schemeClr val="accent1"/>
                          </a:solidFill>
                        </a:rPr>
                        <a:t>으로</a:t>
                      </a:r>
                      <a:r>
                        <a:rPr lang="ko-KR" altLang="en-US" sz="1200" b="1" dirty="0">
                          <a:solidFill>
                            <a:schemeClr val="accent1"/>
                          </a:solidFill>
                        </a:rPr>
                        <a:t> 틀린 단계를 바로 확인</a:t>
                      </a:r>
                    </a:p>
                  </a:txBody>
                  <a:tcPr marL="109728" marR="109728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준비 제목"/>
          <p:cNvSpPr txBox="1"/>
          <p:nvPr/>
        </p:nvSpPr>
        <p:spPr>
          <a:xfrm>
            <a:off x="365760" y="4297680"/>
            <a:ext cx="7315200" cy="27432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300" b="1">
                <a:solidFill>
                  <a:schemeClr val="accent1"/>
                </a:solidFill>
              </a:rPr>
              <a:t>운영자가 준비하는 것  </a:t>
            </a:r>
            <a:r>
              <a:rPr lang="ko-KR" altLang="en-US" sz="1100" b="0">
                <a:solidFill>
                  <a:schemeClr val="tx2"/>
                </a:solidFill>
              </a:rPr>
              <a:t>질문 전에 메타 DB에 미리 등록하는 정보 (상세 구조는 1~3장)</a:t>
            </a:r>
          </a:p>
        </p:txBody>
      </p:sp>
      <p:sp>
        <p:nvSpPr>
          <p:cNvPr id="6" name="준비 1"/>
          <p:cNvSpPr/>
          <p:nvPr/>
        </p:nvSpPr>
        <p:spPr>
          <a:xfrm>
            <a:off x="365760" y="4709160"/>
            <a:ext cx="2020824" cy="1325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준비 1 표시"/>
          <p:cNvSpPr/>
          <p:nvPr/>
        </p:nvSpPr>
        <p:spPr>
          <a:xfrm>
            <a:off x="530352" y="4864608"/>
            <a:ext cx="274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준비 1 제목"/>
          <p:cNvSpPr txBox="1"/>
          <p:nvPr/>
        </p:nvSpPr>
        <p:spPr>
          <a:xfrm>
            <a:off x="914400" y="4846320"/>
            <a:ext cx="1380744" cy="292608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시스템 등록</a:t>
            </a:r>
          </a:p>
        </p:txBody>
      </p:sp>
      <p:sp>
        <p:nvSpPr>
          <p:cNvPr id="9" name="준비 1 설명"/>
          <p:cNvSpPr txBox="1"/>
          <p:nvPr/>
        </p:nvSpPr>
        <p:spPr>
          <a:xfrm>
            <a:off x="530352" y="5285232"/>
            <a:ext cx="1746504" cy="86868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조회 대상 DB 연결</a:t>
            </a:r>
          </a:p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MySQL·PostgreSQL·Oracle</a:t>
            </a:r>
          </a:p>
        </p:txBody>
      </p:sp>
      <p:sp>
        <p:nvSpPr>
          <p:cNvPr id="10" name="준비 화살표 1"/>
          <p:cNvSpPr/>
          <p:nvPr/>
        </p:nvSpPr>
        <p:spPr>
          <a:xfrm>
            <a:off x="2418588" y="521208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준비 2"/>
          <p:cNvSpPr/>
          <p:nvPr/>
        </p:nvSpPr>
        <p:spPr>
          <a:xfrm>
            <a:off x="2724912" y="4709160"/>
            <a:ext cx="2020824" cy="1325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준비 2 표시"/>
          <p:cNvSpPr/>
          <p:nvPr/>
        </p:nvSpPr>
        <p:spPr>
          <a:xfrm>
            <a:off x="2889504" y="4864608"/>
            <a:ext cx="274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준비 2 제목"/>
          <p:cNvSpPr txBox="1"/>
          <p:nvPr/>
        </p:nvSpPr>
        <p:spPr>
          <a:xfrm>
            <a:off x="3273552" y="4846320"/>
            <a:ext cx="1380744" cy="292608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스키마 동기화</a:t>
            </a:r>
          </a:p>
        </p:txBody>
      </p:sp>
      <p:sp>
        <p:nvSpPr>
          <p:cNvPr id="14" name="준비 2 설명"/>
          <p:cNvSpPr txBox="1"/>
          <p:nvPr/>
        </p:nvSpPr>
        <p:spPr>
          <a:xfrm>
            <a:off x="2889504" y="5285232"/>
            <a:ext cx="1746504" cy="86868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테이블·컬럼·PK·FK 적재</a:t>
            </a:r>
          </a:p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이름 기준 병합, 주기 실행</a:t>
            </a:r>
          </a:p>
        </p:txBody>
      </p:sp>
      <p:sp>
        <p:nvSpPr>
          <p:cNvPr id="15" name="준비 화살표 2"/>
          <p:cNvSpPr/>
          <p:nvPr/>
        </p:nvSpPr>
        <p:spPr>
          <a:xfrm>
            <a:off x="4777740" y="521208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준비 3"/>
          <p:cNvSpPr/>
          <p:nvPr/>
        </p:nvSpPr>
        <p:spPr>
          <a:xfrm>
            <a:off x="5084064" y="4709160"/>
            <a:ext cx="2020824" cy="1325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준비 3 표시"/>
          <p:cNvSpPr/>
          <p:nvPr/>
        </p:nvSpPr>
        <p:spPr>
          <a:xfrm>
            <a:off x="5248656" y="4864608"/>
            <a:ext cx="274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준비 3 제목"/>
          <p:cNvSpPr txBox="1"/>
          <p:nvPr/>
        </p:nvSpPr>
        <p:spPr>
          <a:xfrm>
            <a:off x="5632704" y="4846320"/>
            <a:ext cx="1380744" cy="292608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 dirty="0">
                <a:solidFill>
                  <a:schemeClr val="tx1"/>
                </a:solidFill>
              </a:rPr>
              <a:t>테이블</a:t>
            </a:r>
            <a:r>
              <a:rPr lang="ko-KR" altLang="en-US" sz="1200" b="1" dirty="0"/>
              <a:t>과 </a:t>
            </a:r>
            <a:r>
              <a:rPr lang="ko-KR" altLang="en-US" sz="1200" b="1" dirty="0">
                <a:solidFill>
                  <a:schemeClr val="tx1"/>
                </a:solidFill>
              </a:rPr>
              <a:t>컬럼 설정</a:t>
            </a:r>
          </a:p>
        </p:txBody>
      </p:sp>
      <p:sp>
        <p:nvSpPr>
          <p:cNvPr id="19" name="준비 3 설명"/>
          <p:cNvSpPr txBox="1"/>
          <p:nvPr/>
        </p:nvSpPr>
        <p:spPr>
          <a:xfrm>
            <a:off x="5248656" y="5285232"/>
            <a:ext cx="1746504" cy="86868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테이블 용도 한 줄 작성</a:t>
            </a:r>
          </a:p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계산 필요 · UTC 시차 표시</a:t>
            </a:r>
          </a:p>
        </p:txBody>
      </p:sp>
      <p:sp>
        <p:nvSpPr>
          <p:cNvPr id="20" name="준비 화살표 3"/>
          <p:cNvSpPr/>
          <p:nvPr/>
        </p:nvSpPr>
        <p:spPr>
          <a:xfrm>
            <a:off x="7136892" y="521208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준비 4"/>
          <p:cNvSpPr/>
          <p:nvPr/>
        </p:nvSpPr>
        <p:spPr>
          <a:xfrm>
            <a:off x="7443216" y="4709160"/>
            <a:ext cx="2020824" cy="1325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준비 4 표시"/>
          <p:cNvSpPr/>
          <p:nvPr/>
        </p:nvSpPr>
        <p:spPr>
          <a:xfrm>
            <a:off x="7607808" y="4864608"/>
            <a:ext cx="274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3" name="준비 4 제목"/>
          <p:cNvSpPr txBox="1"/>
          <p:nvPr/>
        </p:nvSpPr>
        <p:spPr>
          <a:xfrm>
            <a:off x="7991856" y="4846320"/>
            <a:ext cx="1380744" cy="292608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관계 확인</a:t>
            </a:r>
          </a:p>
        </p:txBody>
      </p:sp>
      <p:sp>
        <p:nvSpPr>
          <p:cNvPr id="24" name="준비 4 설명"/>
          <p:cNvSpPr txBox="1"/>
          <p:nvPr/>
        </p:nvSpPr>
        <p:spPr>
          <a:xfrm>
            <a:off x="7607808" y="5285232"/>
            <a:ext cx="1746504" cy="86868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FK는 자동 적재</a:t>
            </a:r>
          </a:p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그 외 조인은 직접 등록</a:t>
            </a:r>
          </a:p>
        </p:txBody>
      </p:sp>
      <p:sp>
        <p:nvSpPr>
          <p:cNvPr id="25" name="준비 화살표 4"/>
          <p:cNvSpPr/>
          <p:nvPr/>
        </p:nvSpPr>
        <p:spPr>
          <a:xfrm>
            <a:off x="9496044" y="521208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준비 5"/>
          <p:cNvSpPr/>
          <p:nvPr/>
        </p:nvSpPr>
        <p:spPr>
          <a:xfrm>
            <a:off x="9802368" y="4709160"/>
            <a:ext cx="2020824" cy="1325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준비 5 표시"/>
          <p:cNvSpPr/>
          <p:nvPr/>
        </p:nvSpPr>
        <p:spPr>
          <a:xfrm>
            <a:off x="9966960" y="4864608"/>
            <a:ext cx="27432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 eaLnBrk="0">
              <a:spcAft>
                <a:spcPts val="0"/>
              </a:spcAft>
            </a:pPr>
            <a:r>
              <a:rPr lang="ko-KR" altLang="en-US" sz="1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8" name="준비 5 제목"/>
          <p:cNvSpPr txBox="1"/>
          <p:nvPr/>
        </p:nvSpPr>
        <p:spPr>
          <a:xfrm>
            <a:off x="10351008" y="4846320"/>
            <a:ext cx="1380744" cy="292608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400"/>
              </a:spcAft>
            </a:pPr>
            <a:r>
              <a:rPr lang="ko-KR" altLang="en-US" sz="1200" b="1">
                <a:solidFill>
                  <a:schemeClr val="tx1"/>
                </a:solidFill>
              </a:rPr>
              <a:t>지표 등록</a:t>
            </a:r>
          </a:p>
        </p:txBody>
      </p:sp>
      <p:sp>
        <p:nvSpPr>
          <p:cNvPr id="29" name="준비 5 설명"/>
          <p:cNvSpPr txBox="1"/>
          <p:nvPr/>
        </p:nvSpPr>
        <p:spPr>
          <a:xfrm>
            <a:off x="9966960" y="5285232"/>
            <a:ext cx="1746504" cy="868680"/>
          </a:xfrm>
          <a:prstGeom prst="rect">
            <a:avLst/>
          </a:prstGeom>
          <a:noFill/>
        </p:spPr>
        <p:txBody>
          <a:bodyPr wrap="square" lIns="0" tIns="54864" rIns="0" bIns="54864" anchor="t">
            <a:spAutoFit/>
          </a:bodyPr>
          <a:lstStyle/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SQL로 등록 → AST로 변환</a:t>
            </a:r>
          </a:p>
          <a:p>
            <a:pPr algn="l" eaLnBrk="0">
              <a:spcAft>
                <a:spcPts val="200"/>
              </a:spcAft>
            </a:pPr>
            <a:r>
              <a:rPr lang="ko-KR" altLang="en-US" sz="1100" b="0">
                <a:solidFill>
                  <a:schemeClr val="tx2"/>
                </a:solidFill>
              </a:rPr>
              <a:t>원본과 결과 비교 후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1">
            <a:extLst>
              <a:ext uri="{FF2B5EF4-FFF2-40B4-BE49-F238E27FC236}">
                <a16:creationId xmlns:a16="http://schemas.microsoft.com/office/drawing/2014/main" id="{8ABA7173-4C44-F7D0-32EA-17171AF2FC24}"/>
              </a:ext>
            </a:extLst>
          </p:cNvPr>
          <p:cNvSpPr>
            <a:spLocks noGrp="1"/>
          </p:cNvSpPr>
          <p:nvPr>
            <p:ph type="body" idx="100"/>
          </p:nvPr>
        </p:nvSpPr>
        <p:spPr>
          <a:xfrm>
            <a:off x="365760" y="182880"/>
            <a:ext cx="11430000" cy="219456"/>
          </a:xfrm>
        </p:spPr>
        <p:txBody>
          <a:bodyPr/>
          <a:lstStyle/>
          <a:p>
            <a:r>
              <a:t>구축과 운영</a:t>
            </a:r>
          </a:p>
        </p:txBody>
      </p:sp>
      <p:sp>
        <p:nvSpPr>
          <p:cNvPr id="30" name="제목 2">
            <a:extLst>
              <a:ext uri="{FF2B5EF4-FFF2-40B4-BE49-F238E27FC236}">
                <a16:creationId xmlns:a16="http://schemas.microsoft.com/office/drawing/2014/main" id="{7EB77C44-B160-AB20-6C25-98A63AD86D5B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365760" y="402336"/>
            <a:ext cx="11430000" cy="420624"/>
          </a:xfrm>
        </p:spPr>
        <p:txBody>
          <a:bodyPr/>
          <a:lstStyle/>
          <a:p>
            <a:r>
              <a:rPr lang="ko-KR" altLang="en-US" dirty="0"/>
              <a:t>실제 구축과정에서 </a:t>
            </a:r>
            <a:r>
              <a:rPr lang="ko-KR" altLang="en-US" dirty="0" err="1"/>
              <a:t>해야할</a:t>
            </a:r>
            <a:r>
              <a:rPr lang="ko-KR" altLang="en-US" dirty="0"/>
              <a:t> 일</a:t>
            </a:r>
          </a:p>
        </p:txBody>
      </p:sp>
      <p:sp>
        <p:nvSpPr>
          <p:cNvPr id="101" name="요약"/>
          <p:cNvSpPr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ko-KR" altLang="en-US" sz="1300" b="1" dirty="0">
                <a:solidFill>
                  <a:schemeClr val="accent1"/>
                </a:solidFill>
              </a:rPr>
              <a:t>개발자</a:t>
            </a:r>
            <a:r>
              <a:rPr lang="ko-KR" altLang="en-US" sz="1300" b="0" dirty="0">
                <a:solidFill>
                  <a:schemeClr val="tx1"/>
                </a:solidFill>
              </a:rPr>
              <a:t>가 한 번 구축하면, </a:t>
            </a:r>
            <a:r>
              <a:rPr lang="ko-KR" altLang="en-US" sz="1300" b="1" dirty="0">
                <a:solidFill>
                  <a:schemeClr val="accent3"/>
                </a:solidFill>
              </a:rPr>
              <a:t>운영자</a:t>
            </a:r>
            <a:r>
              <a:rPr lang="ko-KR" altLang="en-US" sz="1300" b="0" dirty="0">
                <a:solidFill>
                  <a:schemeClr val="tx1"/>
                </a:solidFill>
              </a:rPr>
              <a:t>는 질문만으로 데이터분석이 가능합니다</a:t>
            </a:r>
            <a:r>
              <a:rPr lang="en-US" altLang="ko-KR" sz="1300" b="0">
                <a:solidFill>
                  <a:schemeClr val="tx1"/>
                </a:solidFill>
              </a:rPr>
              <a:t>.</a:t>
            </a:r>
            <a:endParaRPr lang="ko-KR" altLang="en-US" sz="1300" b="0" dirty="0">
              <a:solidFill>
                <a:schemeClr val="tx1"/>
              </a:solidFill>
            </a:endParaRPr>
          </a:p>
        </p:txBody>
      </p:sp>
      <p:sp>
        <p:nvSpPr>
          <p:cNvPr id="102" name="개발자 제목"/>
          <p:cNvSpPr/>
          <p:nvPr/>
        </p:nvSpPr>
        <p:spPr>
          <a:xfrm>
            <a:off x="365760" y="14173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accent1"/>
                </a:solidFill>
              </a:rPr>
              <a:t>개발자</a:t>
            </a:r>
            <a:r>
              <a:rPr lang="ko-KR" altLang="en-US" sz="900" b="0" dirty="0">
                <a:solidFill>
                  <a:schemeClr val="tx1"/>
                </a:solidFill>
              </a:rPr>
              <a:t>   시스템을 만들고 구축하는 사람 (처음 한 번, 시스템이 늘 때마다)</a:t>
            </a:r>
          </a:p>
        </p:txBody>
      </p:sp>
      <p:sp>
        <p:nvSpPr>
          <p:cNvPr id="103" name="개발자 1"/>
          <p:cNvSpPr/>
          <p:nvPr/>
        </p:nvSpPr>
        <p:spPr>
          <a:xfrm>
            <a:off x="365760" y="2026925"/>
            <a:ext cx="3611880" cy="19659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04" name="개발자 1 머리"/>
          <p:cNvSpPr/>
          <p:nvPr/>
        </p:nvSpPr>
        <p:spPr>
          <a:xfrm>
            <a:off x="365760" y="2026925"/>
            <a:ext cx="3611880" cy="41148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64592" tIns="36576" rIns="164592" bIns="36576" rtlCol="0" anchor="ctr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lt1"/>
                </a:solidFill>
              </a:rPr>
              <a:t>1  엔진 구축</a:t>
            </a:r>
          </a:p>
        </p:txBody>
      </p:sp>
      <p:sp>
        <p:nvSpPr>
          <p:cNvPr id="105" name="개발자 1 내용"/>
          <p:cNvSpPr/>
          <p:nvPr/>
        </p:nvSpPr>
        <p:spPr>
          <a:xfrm>
            <a:off x="548640" y="2575565"/>
            <a:ext cx="32461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메타 DB 구성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LLM 서버 연결 (모델, 주소, 응답 길이 한도)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백엔드와 UI 배포</a:t>
            </a:r>
          </a:p>
        </p:txBody>
      </p:sp>
      <p:sp>
        <p:nvSpPr>
          <p:cNvPr id="106" name="개발자 2"/>
          <p:cNvSpPr/>
          <p:nvPr/>
        </p:nvSpPr>
        <p:spPr>
          <a:xfrm>
            <a:off x="4288536" y="2026925"/>
            <a:ext cx="3611880" cy="19659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07" name="개발자 2 머리"/>
          <p:cNvSpPr/>
          <p:nvPr/>
        </p:nvSpPr>
        <p:spPr>
          <a:xfrm>
            <a:off x="4288536" y="2026925"/>
            <a:ext cx="3611880" cy="41148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64592" tIns="36576" rIns="164592" bIns="36576" rtlCol="0" anchor="ctr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lt1"/>
                </a:solidFill>
              </a:rPr>
              <a:t>2  시스템 초기 설정</a:t>
            </a:r>
          </a:p>
        </p:txBody>
      </p:sp>
      <p:sp>
        <p:nvSpPr>
          <p:cNvPr id="108" name="개발자 2 꼬리표"/>
          <p:cNvSpPr/>
          <p:nvPr/>
        </p:nvSpPr>
        <p:spPr>
          <a:xfrm>
            <a:off x="365760" y="1653552"/>
            <a:ext cx="11430000" cy="265176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36576" tIns="0" rIns="36576" bIns="0" rtlCol="0" anchor="ctr">
            <a:normAutofit/>
          </a:bodyPr>
          <a:lstStyle/>
          <a:p>
            <a:pPr algn="ctr"/>
            <a:r>
              <a:rPr lang="ko-KR" altLang="en-US" sz="800" b="1" dirty="0">
                <a:solidFill>
                  <a:schemeClr val="accent1"/>
                </a:solidFill>
              </a:rPr>
              <a:t>바로네스 14개 테이블기준 하루작업</a:t>
            </a:r>
          </a:p>
        </p:txBody>
      </p:sp>
      <p:sp>
        <p:nvSpPr>
          <p:cNvPr id="109" name="개발자 2 내용"/>
          <p:cNvSpPr/>
          <p:nvPr/>
        </p:nvSpPr>
        <p:spPr>
          <a:xfrm>
            <a:off x="4471416" y="2575565"/>
            <a:ext cx="32461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DB 연결(읽기 전용 계정), 테이블과 컬럼 동기화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원천 데이터 분석: 코드값, 누적값, UTC 시각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메타 설정: 테이블 용도, 계산 필요, UTC 시차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조인 관계 등록</a:t>
            </a:r>
          </a:p>
        </p:txBody>
      </p:sp>
      <p:cxnSp>
        <p:nvCxnSpPr>
          <p:cNvPr id="110" name="개발자 화살표 1"/>
          <p:cNvCxnSpPr/>
          <p:nvPr/>
        </p:nvCxnSpPr>
        <p:spPr>
          <a:xfrm>
            <a:off x="4023360" y="3009905"/>
            <a:ext cx="219456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</p:cxnSp>
      <p:sp>
        <p:nvSpPr>
          <p:cNvPr id="111" name="개발자 3"/>
          <p:cNvSpPr/>
          <p:nvPr/>
        </p:nvSpPr>
        <p:spPr>
          <a:xfrm>
            <a:off x="8211312" y="2026925"/>
            <a:ext cx="3611880" cy="19659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12" name="개발자 3 머리"/>
          <p:cNvSpPr/>
          <p:nvPr/>
        </p:nvSpPr>
        <p:spPr>
          <a:xfrm>
            <a:off x="8211312" y="2026925"/>
            <a:ext cx="3611880" cy="41148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64592" tIns="36576" rIns="164592" bIns="36576" rtlCol="0" anchor="ctr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lt1"/>
                </a:solidFill>
              </a:rPr>
              <a:t>3  지표 등록과 검증</a:t>
            </a:r>
          </a:p>
        </p:txBody>
      </p:sp>
      <p:sp>
        <p:nvSpPr>
          <p:cNvPr id="113" name="개발자 3 내용"/>
          <p:cNvSpPr/>
          <p:nvPr/>
        </p:nvSpPr>
        <p:spPr>
          <a:xfrm>
            <a:off x="8394192" y="2575565"/>
            <a:ext cx="32461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자주 묻는 계산을 SQL로 등록 (결과 비교)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대표 질문과 변형 질문으로 테스트</a:t>
            </a:r>
          </a:p>
          <a:p>
            <a:pPr marL="182880" indent="-182880" algn="l">
              <a:spcBef>
                <a:spcPts val="5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틀린 단계를 찾아 메타와 지표 보완</a:t>
            </a:r>
          </a:p>
        </p:txBody>
      </p:sp>
      <p:cxnSp>
        <p:nvCxnSpPr>
          <p:cNvPr id="114" name="개발자 화살표 2"/>
          <p:cNvCxnSpPr/>
          <p:nvPr/>
        </p:nvCxnSpPr>
        <p:spPr>
          <a:xfrm>
            <a:off x="7946136" y="3009905"/>
            <a:ext cx="219455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</p:cxnSp>
      <p:sp>
        <p:nvSpPr>
          <p:cNvPr id="115" name="운영자 제목"/>
          <p:cNvSpPr/>
          <p:nvPr/>
        </p:nvSpPr>
        <p:spPr>
          <a:xfrm>
            <a:off x="365760" y="41148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accent3"/>
                </a:solidFill>
              </a:rPr>
              <a:t>운영자</a:t>
            </a:r>
            <a:r>
              <a:rPr lang="ko-KR" altLang="en-US" sz="900" b="0" dirty="0">
                <a:solidFill>
                  <a:schemeClr val="tx1"/>
                </a:solidFill>
              </a:rPr>
              <a:t>   질문하는 사람</a:t>
            </a:r>
          </a:p>
        </p:txBody>
      </p:sp>
      <p:sp>
        <p:nvSpPr>
          <p:cNvPr id="116" name="운영자 1"/>
          <p:cNvSpPr/>
          <p:nvPr/>
        </p:nvSpPr>
        <p:spPr>
          <a:xfrm>
            <a:off x="365760" y="4480560"/>
            <a:ext cx="5641848" cy="14630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17" name="운영자 1 머리"/>
          <p:cNvSpPr/>
          <p:nvPr/>
        </p:nvSpPr>
        <p:spPr>
          <a:xfrm>
            <a:off x="365760" y="4480560"/>
            <a:ext cx="5641848" cy="41148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64592" tIns="36576" rIns="164592" bIns="36576" rtlCol="0" anchor="ctr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lt1"/>
                </a:solidFill>
              </a:rPr>
              <a:t>1  질문과 활용</a:t>
            </a:r>
          </a:p>
        </p:txBody>
      </p:sp>
      <p:sp>
        <p:nvSpPr>
          <p:cNvPr id="118" name="운영자 1 꼬리표"/>
          <p:cNvSpPr/>
          <p:nvPr/>
        </p:nvSpPr>
        <p:spPr>
          <a:xfrm>
            <a:off x="5413248" y="4553712"/>
            <a:ext cx="457200" cy="265176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36576" tIns="0" rIns="36576" bIns="0" rtlCol="0" anchor="ctr">
            <a:normAutofit/>
          </a:bodyPr>
          <a:lstStyle/>
          <a:p>
            <a:pPr algn="ctr"/>
            <a:r>
              <a:rPr lang="ko-KR" altLang="en-US" sz="800" b="1" dirty="0">
                <a:solidFill>
                  <a:schemeClr val="accent3"/>
                </a:solidFill>
              </a:rPr>
              <a:t>평소</a:t>
            </a:r>
          </a:p>
        </p:txBody>
      </p:sp>
      <p:sp>
        <p:nvSpPr>
          <p:cNvPr id="119" name="운영자 1 내용"/>
          <p:cNvSpPr/>
          <p:nvPr/>
        </p:nvSpPr>
        <p:spPr>
          <a:xfrm>
            <a:off x="548640" y="5029200"/>
            <a:ext cx="527608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spcBef>
                <a:spcPts val="500"/>
              </a:spcBef>
              <a:buClr>
                <a:schemeClr val="accent3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자연어로 질문하고 생성된 SQL 확인</a:t>
            </a:r>
          </a:p>
          <a:p>
            <a:pPr marL="182880" indent="-182880" algn="l">
              <a:spcBef>
                <a:spcPts val="500"/>
              </a:spcBef>
              <a:buClr>
                <a:schemeClr val="accent3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생성된 SQL로 UI 분석 페이지 구성</a:t>
            </a:r>
          </a:p>
        </p:txBody>
      </p:sp>
      <p:sp>
        <p:nvSpPr>
          <p:cNvPr id="120" name="운영자 2"/>
          <p:cNvSpPr/>
          <p:nvPr/>
        </p:nvSpPr>
        <p:spPr>
          <a:xfrm>
            <a:off x="6181344" y="4480560"/>
            <a:ext cx="5641848" cy="14630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21" name="운영자 2 머리"/>
          <p:cNvSpPr/>
          <p:nvPr/>
        </p:nvSpPr>
        <p:spPr>
          <a:xfrm>
            <a:off x="6181344" y="4480560"/>
            <a:ext cx="5641848" cy="41148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>
            <a:noFill/>
          </a:ln>
        </p:spPr>
        <p:txBody>
          <a:bodyPr wrap="square" lIns="164592" tIns="36576" rIns="164592" bIns="36576" rtlCol="0" anchor="ctr">
            <a:normAutofit/>
          </a:bodyPr>
          <a:lstStyle/>
          <a:p>
            <a:pPr algn="l"/>
            <a:r>
              <a:rPr lang="ko-KR" altLang="en-US" sz="1200" b="1" dirty="0">
                <a:solidFill>
                  <a:schemeClr val="lt1"/>
                </a:solidFill>
              </a:rPr>
              <a:t>2  예외 대응</a:t>
            </a:r>
          </a:p>
        </p:txBody>
      </p:sp>
      <p:sp>
        <p:nvSpPr>
          <p:cNvPr id="122" name="운영자 2 꼬리표"/>
          <p:cNvSpPr/>
          <p:nvPr/>
        </p:nvSpPr>
        <p:spPr>
          <a:xfrm>
            <a:off x="11228832" y="4553712"/>
            <a:ext cx="457200" cy="265176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36576" tIns="0" rIns="36576" bIns="0" rtlCol="0" anchor="ctr">
            <a:normAutofit/>
          </a:bodyPr>
          <a:lstStyle/>
          <a:p>
            <a:pPr algn="ctr"/>
            <a:r>
              <a:rPr lang="ko-KR" altLang="en-US" sz="800" b="1" dirty="0">
                <a:solidFill>
                  <a:schemeClr val="accent3"/>
                </a:solidFill>
              </a:rPr>
              <a:t>가끔</a:t>
            </a:r>
          </a:p>
        </p:txBody>
      </p:sp>
      <p:sp>
        <p:nvSpPr>
          <p:cNvPr id="123" name="운영자 2 내용"/>
          <p:cNvSpPr/>
          <p:nvPr/>
        </p:nvSpPr>
        <p:spPr>
          <a:xfrm>
            <a:off x="6364224" y="5029200"/>
            <a:ext cx="5276088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spcBef>
                <a:spcPts val="500"/>
              </a:spcBef>
              <a:buClr>
                <a:schemeClr val="accent3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'지표 등록이 필요합니다'가 나오면 해당 계산을 지표로 등록</a:t>
            </a:r>
          </a:p>
          <a:p>
            <a:pPr marL="182880" indent="-182880" algn="l">
              <a:spcBef>
                <a:spcPts val="500"/>
              </a:spcBef>
              <a:buClr>
                <a:schemeClr val="accent3"/>
              </a:buClr>
              <a:buFont typeface="Arial"/>
              <a:buChar char="•"/>
            </a:pPr>
            <a:r>
              <a:rPr lang="ko-KR" altLang="en-US" sz="1100" b="0" dirty="0">
                <a:solidFill>
                  <a:schemeClr val="tx1"/>
                </a:solidFill>
              </a:rPr>
              <a:t>신규 테이블이 추가되면 재동기화</a:t>
            </a:r>
          </a:p>
        </p:txBody>
      </p:sp>
    </p:spTree>
    <p:extLst>
      <p:ext uri="{BB962C8B-B14F-4D97-AF65-F5344CB8AC3E}">
        <p14:creationId xmlns:p14="http://schemas.microsoft.com/office/powerpoint/2010/main" val="3612911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715A760-8CCA-7D38-D86B-6DADA3B9B2D5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1장  메타 DB 테이블 정의서 (1/4)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F204A6-0A69-77CE-A9ED-82335013C0BE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dirty="0" err="1"/>
              <a:t>meta_system                                         meta_table</a:t>
            </a:r>
            <a:endParaRPr dirty="0"/>
          </a:p>
        </p:txBody>
      </p:sp>
      <p:sp>
        <p:nvSpPr>
          <p:cNvPr id="4" name="meta_system 제목"/>
          <p:cNvSpPr txBox="1"/>
          <p:nvPr/>
        </p:nvSpPr>
        <p:spPr>
          <a:xfrm>
            <a:off x="36576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meta_system</a:t>
            </a:r>
            <a:r>
              <a:rPr sz="900" b="0" dirty="0">
                <a:solidFill>
                  <a:schemeClr val="tx2"/>
                </a:solidFill>
              </a:rPr>
              <a:t>   시스템 — 조회 대상 DB. 질문할 때 먼저 선택</a:t>
            </a:r>
          </a:p>
        </p:txBody>
      </p:sp>
      <p:graphicFrame>
        <p:nvGraphicFramePr>
          <p:cNvPr id="5" name="meta_system 정의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547774"/>
              </p:ext>
            </p:extLst>
          </p:nvPr>
        </p:nvGraphicFramePr>
        <p:xfrm>
          <a:off x="365760" y="1298448"/>
          <a:ext cx="5577840" cy="3660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code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코드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UQ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영문 코드 (예: budongsan)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UQ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화면 이름 (예: 부동산매매가정보)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domain_desc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업무 영역 설명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dirty="0">
                          <a:solidFill>
                            <a:schemeClr val="tx1"/>
                          </a:solidFill>
                        </a:rPr>
                        <a:t>테이블 선택, AST 생성 프롬프트에 포함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driver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DB 종류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postgresql | mysql | oracle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host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접속 호스트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port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접속 포트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db_name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DB명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Oracle은 서비스명(SID)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9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db_schema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스키마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비우면 기본 스키마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10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username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접속 계정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password_enc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접속 비밀번호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BYTEA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>
                          <a:solidFill>
                            <a:schemeClr val="tx1"/>
                          </a:solidFill>
                        </a:rPr>
                        <a:t>AES-256-GCM 암호화. API 응답에서 제외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synced_at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마지막 동기화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등록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updated_at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수정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meta_table 제목"/>
          <p:cNvSpPr txBox="1"/>
          <p:nvPr/>
        </p:nvSpPr>
        <p:spPr>
          <a:xfrm>
            <a:off x="617220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meta_table</a:t>
            </a:r>
            <a:r>
              <a:rPr sz="900" b="0" dirty="0">
                <a:solidFill>
                  <a:schemeClr val="tx2"/>
                </a:solidFill>
              </a:rPr>
              <a:t>   테이블 — 동기화 시 이름 기준 병합 (id 유지)</a:t>
            </a:r>
          </a:p>
        </p:txBody>
      </p:sp>
      <p:graphicFrame>
        <p:nvGraphicFramePr>
          <p:cNvPr id="7" name="meta_table 정의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679482"/>
              </p:ext>
            </p:extLst>
          </p:nvPr>
        </p:nvGraphicFramePr>
        <p:xfrm>
          <a:off x="6172200" y="1298448"/>
          <a:ext cx="5577840" cy="2173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동기화해도 유지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system_id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meta_system.id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UQ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안에서 유일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comment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원천 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동기화 시 원천 DB에서 적재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purpose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업무활용 설명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사람이 입력. 테이블 선택, AST 생성 시 LLM에 전달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deleted_at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삭제 표시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dirty="0" err="1">
                          <a:solidFill>
                            <a:schemeClr val="tx1"/>
                          </a:solidFill>
                        </a:rPr>
                        <a:t>DB에서 사라진 시각 (행은 남김)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synced_at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동기화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updated_at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수정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23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1장  메타 DB 테이블 정의서 (2/4)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dirty="0" err="1"/>
              <a:t>meta_column                                        meta_relation</a:t>
            </a:r>
            <a:endParaRPr dirty="0"/>
          </a:p>
        </p:txBody>
      </p:sp>
      <p:sp>
        <p:nvSpPr>
          <p:cNvPr id="4" name="meta_column 제목"/>
          <p:cNvSpPr txBox="1"/>
          <p:nvPr/>
        </p:nvSpPr>
        <p:spPr>
          <a:xfrm>
            <a:off x="36576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meta_column</a:t>
            </a:r>
            <a:r>
              <a:rPr sz="900" b="0" dirty="0">
                <a:solidFill>
                  <a:schemeClr val="tx2"/>
                </a:solidFill>
              </a:rPr>
              <a:t>   컬럼 — 테이블의 컬럼 정보 (1~9 동기화 시 적재, 10·11 사람이 설정)</a:t>
            </a:r>
          </a:p>
        </p:txBody>
      </p:sp>
      <p:graphicFrame>
        <p:nvGraphicFramePr>
          <p:cNvPr id="5" name="meta_column 정의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899756"/>
              </p:ext>
            </p:extLst>
          </p:nvPr>
        </p:nvGraphicFramePr>
        <p:xfrm>
          <a:off x="365760" y="1298448"/>
          <a:ext cx="5577840" cy="2859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컬럼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BIGSERIAL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table_id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meta_table.id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컬럼 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UQ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안에서 유일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5939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data_type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컬럼 타입 (예: numeric)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3030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comment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원천 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컬럼 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744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ordinal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컬럼 순서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4098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is_pk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PK 여부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BOOLEAN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09546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deleted_at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삭제 표시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DB에서 사라진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5934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9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updated_at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수정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811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10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utc_offset_hours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UTC 시차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UTC 저장 시각의 현지 시차 (예: 9)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7176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needs_calc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계산 필요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BOOLEAN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누적값처럼 합치면 틀리는 컬럼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861046"/>
                  </a:ext>
                </a:extLst>
              </a:tr>
            </a:tbl>
          </a:graphicData>
        </a:graphic>
      </p:graphicFrame>
      <p:sp>
        <p:nvSpPr>
          <p:cNvPr id="6" name="meta_relation 제목"/>
          <p:cNvSpPr txBox="1"/>
          <p:nvPr/>
        </p:nvSpPr>
        <p:spPr>
          <a:xfrm>
            <a:off x="617220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meta_relation</a:t>
            </a:r>
            <a:r>
              <a:rPr sz="900" b="0" dirty="0">
                <a:solidFill>
                  <a:schemeClr val="tx2"/>
                </a:solidFill>
              </a:rPr>
              <a:t>   테이블 관계 — 조인 조건. FK는 동기화 시 적재, 그 외는 사용자가 등록</a:t>
            </a:r>
          </a:p>
        </p:txBody>
      </p:sp>
      <p:graphicFrame>
        <p:nvGraphicFramePr>
          <p:cNvPr id="7" name="meta_relation 정의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815990"/>
              </p:ext>
            </p:extLst>
          </p:nvPr>
        </p:nvGraphicFramePr>
        <p:xfrm>
          <a:off x="6172200" y="1298448"/>
          <a:ext cx="5577840" cy="240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관계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system_id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meta_system.id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left_table_id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왼쪽 테이블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meta_table.id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left_column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왼쪽 컬럼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right_table_id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오른쪽 테이블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meta_table.id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right_column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오른쪽 컬럼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constraint_name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제약 이름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원천 FK 제약명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source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출처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fk (동기화) </a:t>
                      </a:r>
                      <a:endParaRPr lang="en-US" sz="85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850" dirty="0">
                          <a:solidFill>
                            <a:schemeClr val="tx1"/>
                          </a:solidFill>
                        </a:rPr>
                        <a:t>manual (사용자 등록)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9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등록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1장  메타 DB 테이블 정의서 (3/4)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dirty="0"/>
              <a:t>metric                                                 metric_table</a:t>
            </a:r>
          </a:p>
        </p:txBody>
      </p:sp>
      <p:sp>
        <p:nvSpPr>
          <p:cNvPr id="4" name="metric 제목"/>
          <p:cNvSpPr txBox="1"/>
          <p:nvPr/>
        </p:nvSpPr>
        <p:spPr>
          <a:xfrm>
            <a:off x="36576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chemeClr val="accent1"/>
                </a:solidFill>
              </a:rPr>
              <a:t>metric</a:t>
            </a:r>
            <a:r>
              <a:rPr sz="900" b="0" dirty="0">
                <a:solidFill>
                  <a:schemeClr val="tx2"/>
                </a:solidFill>
              </a:rPr>
              <a:t>   지표 — 사용자가 SQL로 등록하고 AST로 저장. LLM이 선택</a:t>
            </a:r>
          </a:p>
        </p:txBody>
      </p:sp>
      <p:graphicFrame>
        <p:nvGraphicFramePr>
          <p:cNvPr id="5" name="metric 정의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561160"/>
              </p:ext>
            </p:extLst>
          </p:nvPr>
        </p:nvGraphicFramePr>
        <p:xfrm>
          <a:off x="365760" y="1298448"/>
          <a:ext cx="5577840" cy="3029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지표 ID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system_id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meta_system.id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name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지표명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UQ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안에서 유일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84834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지표 설명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선택 시 LLM에 전달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374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synonyms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같은 말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선택 시 LLM에 전달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76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source_sql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등록 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사용자가 등록한 SQL 원문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4266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ast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조회 명세(AST)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SQL을 옮긴 AST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255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status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상태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active | broken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3724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9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broken_reason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깨진 이유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동기화 뒤 컴파일 실패 이유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915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10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version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버전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수정할 때마다 +1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5340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 err="1">
                          <a:solidFill>
                            <a:schemeClr val="tx1"/>
                          </a:solidFill>
                        </a:rPr>
                        <a:t>등록 시각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4023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updated_at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수정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24623"/>
                  </a:ext>
                </a:extLst>
              </a:tr>
            </a:tbl>
          </a:graphicData>
        </a:graphic>
      </p:graphicFrame>
      <p:sp>
        <p:nvSpPr>
          <p:cNvPr id="6" name="metric_table 제목"/>
          <p:cNvSpPr txBox="1"/>
          <p:nvPr/>
        </p:nvSpPr>
        <p:spPr>
          <a:xfrm>
            <a:off x="6172200" y="960120"/>
            <a:ext cx="55778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metric_table</a:t>
            </a:r>
            <a:r>
              <a:rPr sz="900" b="0" dirty="0">
                <a:solidFill>
                  <a:schemeClr val="tx2"/>
                </a:solidFill>
              </a:rPr>
              <a:t>   지표가 쓰는 테이블 </a:t>
            </a:r>
            <a:br>
              <a:rPr lang="en-US" sz="900" b="0" dirty="0">
                <a:solidFill>
                  <a:schemeClr val="tx2"/>
                </a:solidFill>
              </a:rPr>
            </a:br>
            <a:r>
              <a:rPr lang="en-US" sz="900" b="0" dirty="0">
                <a:solidFill>
                  <a:schemeClr val="tx2"/>
                </a:solidFill>
              </a:rPr>
              <a:t>                         지표 1 : 테이블 N (기본 + 조인)</a:t>
            </a:r>
            <a:endParaRPr sz="900" b="0" dirty="0">
              <a:solidFill>
                <a:schemeClr val="tx2"/>
              </a:solidFill>
            </a:endParaRPr>
          </a:p>
        </p:txBody>
      </p:sp>
      <p:graphicFrame>
        <p:nvGraphicFramePr>
          <p:cNvPr id="7" name="metric_table 정의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1374"/>
              </p:ext>
            </p:extLst>
          </p:nvPr>
        </p:nvGraphicFramePr>
        <p:xfrm>
          <a:off x="6172200" y="1298448"/>
          <a:ext cx="5577840" cy="1030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metric_id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지표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chemeClr val="tx1"/>
                          </a:solidFill>
                        </a:rPr>
                        <a:t>PKFK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metric.id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table_id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테이블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chemeClr val="tx1"/>
                          </a:solidFill>
                        </a:rPr>
                        <a:t>PKFK</a:t>
                      </a:r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meta_table.id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role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역할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base (기본)</a:t>
                      </a:r>
                      <a:endParaRPr sz="850"/>
                    </a:p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join (조인)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2739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1장  메타 DB 테이블 정의서 (4/4)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dirty="0" err="1"/>
              <a:t>ask_log                                                ask_trace</a:t>
            </a:r>
            <a:endParaRPr dirty="0"/>
          </a:p>
        </p:txBody>
      </p:sp>
      <p:sp>
        <p:nvSpPr>
          <p:cNvPr id="4" name="ask_log 제목"/>
          <p:cNvSpPr txBox="1"/>
          <p:nvPr/>
        </p:nvSpPr>
        <p:spPr>
          <a:xfrm>
            <a:off x="36576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ask_log</a:t>
            </a:r>
            <a:r>
              <a:rPr sz="900" b="0" dirty="0">
                <a:solidFill>
                  <a:schemeClr val="tx2"/>
                </a:solidFill>
              </a:rPr>
              <a:t>   질문 기록 — 질문, 생성 SQL, 사용자 평가</a:t>
            </a:r>
          </a:p>
        </p:txBody>
      </p:sp>
      <p:graphicFrame>
        <p:nvGraphicFramePr>
          <p:cNvPr id="5" name="ask_log 정의"/>
          <p:cNvGraphicFramePr>
            <a:graphicFrameLocks noGrp="1"/>
          </p:cNvGraphicFramePr>
          <p:nvPr/>
        </p:nvGraphicFramePr>
        <p:xfrm>
          <a:off x="365760" y="1298448"/>
          <a:ext cx="5577840" cy="3944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질문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system_id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시스템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meta_system.id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질문 원문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selected_tables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선택한 테이블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selected_metrics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선택한 지표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ast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조회 명세(AST)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LLM이 생성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생성된 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error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실패 사유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9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clarification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되묻기 문구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10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attempts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AST 시도 횟수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최대 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total_tokens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총 토큰 수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elapsed_ms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걸린 시간(ms)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favorite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즐겨찾기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BOOLEAN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feedback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평가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up | down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feedback_note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평가 메모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질문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ask_trace 제목"/>
          <p:cNvSpPr txBox="1"/>
          <p:nvPr/>
        </p:nvSpPr>
        <p:spPr>
          <a:xfrm>
            <a:off x="6172200" y="960120"/>
            <a:ext cx="5577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ask_trace</a:t>
            </a:r>
            <a:r>
              <a:rPr sz="900" b="0" dirty="0">
                <a:solidFill>
                  <a:schemeClr val="tx2"/>
                </a:solidFill>
              </a:rPr>
              <a:t>   단계별 LLM 기록 — 후보, 선택, 이유, 토큰 (튜닝용)</a:t>
            </a:r>
          </a:p>
        </p:txBody>
      </p:sp>
      <p:graphicFrame>
        <p:nvGraphicFramePr>
          <p:cNvPr id="7" name="ask_trace 정의"/>
          <p:cNvGraphicFramePr>
            <a:graphicFrameLocks noGrp="1"/>
          </p:cNvGraphicFramePr>
          <p:nvPr/>
        </p:nvGraphicFramePr>
        <p:xfrm>
          <a:off x="6172200" y="1298448"/>
          <a:ext cx="5577840" cy="2801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논리명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키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기록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BIGSERIAL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ask_id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질문 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UUID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FK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→ ask_log.id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3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stage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단계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table | 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4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candidates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전달한 후보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5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selected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선택 결과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JSONB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reason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선택 이유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LLM 답변의 reason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7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prompt_tokens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입력 토큰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8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completion_tokens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출력 토큰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9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elapsed_ms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걸린 시간(ms)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10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model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모델명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TEXT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11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기록 시각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TIMESTAMPTZ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각주"/>
          <p:cNvSpPr txBox="1"/>
          <p:nvPr/>
        </p:nvSpPr>
        <p:spPr>
          <a:xfrm>
            <a:off x="365760" y="6446520"/>
            <a:ext cx="11430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chemeClr val="tx2"/>
                </a:solidFill>
              </a:rPr>
              <a:t>※ 생략: 이력 테이블(metric_history — 지표 등록·수정·삭제 때의 정의, meta_sync_log — 동기화 기록). 원본: backend/schema.sql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78D0029-4BFB-C4FE-CFD8-C77F264B9DC7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2장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557A53-08F6-6414-D1F9-E66A298CE29F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테이블 메타정보 구조화 설계</a:t>
            </a:r>
          </a:p>
        </p:txBody>
      </p:sp>
      <p:sp>
        <p:nvSpPr>
          <p:cNvPr id="4" name="테이블 메타"/>
          <p:cNvSpPr/>
          <p:nvPr/>
        </p:nvSpPr>
        <p:spPr>
          <a:xfrm>
            <a:off x="365760" y="987552"/>
            <a:ext cx="2615184" cy="22128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5" name="테이블 메타 제목"/>
          <p:cNvSpPr/>
          <p:nvPr/>
        </p:nvSpPr>
        <p:spPr>
          <a:xfrm>
            <a:off x="457200" y="1078992"/>
            <a:ext cx="2432303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테이블 메타</a:t>
            </a:r>
          </a:p>
        </p:txBody>
      </p:sp>
      <p:sp>
        <p:nvSpPr>
          <p:cNvPr id="6" name="표시 ①"/>
          <p:cNvSpPr/>
          <p:nvPr/>
        </p:nvSpPr>
        <p:spPr>
          <a:xfrm>
            <a:off x="2578608" y="1133856"/>
            <a:ext cx="256032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chemeClr val="bg1"/>
                </a:solidFill>
              </a:rPr>
              <a:t>①</a:t>
            </a:r>
          </a:p>
        </p:txBody>
      </p:sp>
      <p:sp>
        <p:nvSpPr>
          <p:cNvPr id="7" name="테이블 메타 내용"/>
          <p:cNvSpPr/>
          <p:nvPr/>
        </p:nvSpPr>
        <p:spPr>
          <a:xfrm>
            <a:off x="457200" y="1481328"/>
            <a:ext cx="2432303" cy="1627631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r>
              <a:rPr sz="1050" b="0" dirty="0" err="1">
                <a:solidFill>
                  <a:schemeClr val="tx1"/>
                </a:solidFill>
              </a:rPr>
              <a:t>물리명 : EX)bms_log</a:t>
            </a:r>
            <a:endParaRPr sz="1050" b="0" dirty="0">
              <a:solidFill>
                <a:schemeClr val="tx1"/>
              </a:solidFill>
            </a:endParaRPr>
          </a:p>
          <a:p>
            <a:r>
              <a:rPr sz="1050" b="0" dirty="0" err="1">
                <a:solidFill>
                  <a:schemeClr val="tx1"/>
                </a:solidFill>
              </a:rPr>
              <a:t>원천 코멘트 : EX)차량 로그 …</a:t>
            </a:r>
            <a:endParaRPr sz="1050" b="0" dirty="0">
              <a:solidFill>
                <a:schemeClr val="tx1"/>
              </a:solidFill>
            </a:endParaRPr>
          </a:p>
          <a:p>
            <a:r>
              <a:rPr sz="1050" b="0" dirty="0" err="1">
                <a:solidFill>
                  <a:schemeClr val="tx1"/>
                </a:solidFill>
              </a:rPr>
              <a:t>업무활용 설명 : 사람이 입력</a:t>
            </a:r>
            <a:endParaRPr sz="1050" b="0" dirty="0">
              <a:solidFill>
                <a:schemeClr val="tx1"/>
              </a:solidFill>
            </a:endParaRPr>
          </a:p>
          <a:p>
            <a:r>
              <a:rPr sz="1050" b="0" dirty="0" err="1">
                <a:solidFill>
                  <a:schemeClr val="tx1"/>
                </a:solidFill>
              </a:rPr>
              <a:t>  (비우면 원천 코멘트 사용)</a:t>
            </a:r>
            <a:endParaRPr sz="1050" b="0" dirty="0">
              <a:solidFill>
                <a:schemeClr val="tx1"/>
              </a:solidFill>
            </a:endParaRPr>
          </a:p>
        </p:txBody>
      </p:sp>
      <p:sp>
        <p:nvSpPr>
          <p:cNvPr id="8" name="화살표 1→2"/>
          <p:cNvSpPr/>
          <p:nvPr/>
        </p:nvSpPr>
        <p:spPr>
          <a:xfrm>
            <a:off x="3012948" y="1938528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컬럼 메타"/>
          <p:cNvSpPr/>
          <p:nvPr/>
        </p:nvSpPr>
        <p:spPr>
          <a:xfrm>
            <a:off x="3319272" y="987552"/>
            <a:ext cx="2615184" cy="22128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10" name="컬럼 메타 제목"/>
          <p:cNvSpPr/>
          <p:nvPr/>
        </p:nvSpPr>
        <p:spPr>
          <a:xfrm>
            <a:off x="3410712" y="1078992"/>
            <a:ext cx="2432303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컬럼 메타</a:t>
            </a:r>
          </a:p>
        </p:txBody>
      </p:sp>
      <p:sp>
        <p:nvSpPr>
          <p:cNvPr id="11" name="표시 ②"/>
          <p:cNvSpPr/>
          <p:nvPr/>
        </p:nvSpPr>
        <p:spPr>
          <a:xfrm>
            <a:off x="5532120" y="1133856"/>
            <a:ext cx="256032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12" name="컬럼 메타 내용"/>
          <p:cNvSpPr/>
          <p:nvPr/>
        </p:nvSpPr>
        <p:spPr>
          <a:xfrm>
            <a:off x="3410712" y="1490564"/>
            <a:ext cx="2432303" cy="1627631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r>
              <a:rPr sz="1050" b="0" dirty="0" err="1">
                <a:solidFill>
                  <a:schemeClr val="tx1"/>
                </a:solidFill>
              </a:rPr>
              <a:t>물리명 : EX)uman_time</a:t>
            </a:r>
            <a:endParaRPr sz="1050" b="0" dirty="0">
              <a:solidFill>
                <a:schemeClr val="tx1"/>
              </a:solidFill>
            </a:endParaRPr>
          </a:p>
          <a:p>
            <a:r>
              <a:rPr sz="1050" b="0" dirty="0" err="1">
                <a:solidFill>
                  <a:schemeClr val="tx1"/>
                </a:solidFill>
              </a:rPr>
              <a:t>데이터타입 : EX)real</a:t>
            </a:r>
            <a:endParaRPr sz="1050" b="0" dirty="0">
              <a:solidFill>
                <a:schemeClr val="tx1"/>
              </a:solidFill>
            </a:endParaRPr>
          </a:p>
          <a:p>
            <a:r>
              <a:rPr sz="1050" b="0" dirty="0" err="1">
                <a:solidFill>
                  <a:schemeClr val="tx1"/>
                </a:solidFill>
              </a:rPr>
              <a:t>원천 코멘트 : EX)무인 가동 시간</a:t>
            </a:r>
            <a:endParaRPr sz="1050" b="0" dirty="0">
              <a:solidFill>
                <a:schemeClr val="tx1"/>
              </a:solidFill>
            </a:endParaRPr>
          </a:p>
          <a:p>
            <a:r>
              <a:rPr sz="1050" b="0" dirty="0" err="1">
                <a:solidFill>
                  <a:schemeClr val="tx1"/>
                </a:solidFill>
              </a:rPr>
              <a:t>PK 여부 (동기화가 적재)</a:t>
            </a:r>
            <a:endParaRPr sz="1050" b="0" dirty="0">
              <a:solidFill>
                <a:schemeClr val="tx1"/>
              </a:solidFill>
            </a:endParaRPr>
          </a:p>
        </p:txBody>
      </p:sp>
      <p:sp>
        <p:nvSpPr>
          <p:cNvPr id="13" name="화살표 2→3"/>
          <p:cNvSpPr/>
          <p:nvPr/>
        </p:nvSpPr>
        <p:spPr>
          <a:xfrm>
            <a:off x="5966460" y="1938528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활용 컬럼 선정"/>
          <p:cNvSpPr/>
          <p:nvPr/>
        </p:nvSpPr>
        <p:spPr>
          <a:xfrm>
            <a:off x="6272784" y="987552"/>
            <a:ext cx="2615184" cy="22128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15" name="활용 컬럼 선정 제목"/>
          <p:cNvSpPr/>
          <p:nvPr/>
        </p:nvSpPr>
        <p:spPr>
          <a:xfrm>
            <a:off x="6364224" y="1078992"/>
            <a:ext cx="2432303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컬럼 설정 (사람)</a:t>
            </a:r>
          </a:p>
        </p:txBody>
      </p:sp>
      <p:sp>
        <p:nvSpPr>
          <p:cNvPr id="16" name="표시 ③"/>
          <p:cNvSpPr/>
          <p:nvPr/>
        </p:nvSpPr>
        <p:spPr>
          <a:xfrm>
            <a:off x="8485632" y="1133856"/>
            <a:ext cx="256032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chemeClr val="bg1"/>
                </a:solidFill>
              </a:rPr>
              <a:t>③</a:t>
            </a:r>
          </a:p>
        </p:txBody>
      </p:sp>
      <p:sp>
        <p:nvSpPr>
          <p:cNvPr id="17" name="활용 컬럼 선정 내용"/>
          <p:cNvSpPr/>
          <p:nvPr/>
        </p:nvSpPr>
        <p:spPr>
          <a:xfrm>
            <a:off x="6364224" y="1481328"/>
            <a:ext cx="2432303" cy="1627631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US" sz="1050" b="1" dirty="0">
                <a:solidFill>
                  <a:schemeClr val="accent1"/>
                </a:solidFill>
              </a:rPr>
              <a:t>계산 필요</a:t>
            </a:r>
            <a:r>
              <a:rPr sz="1050" b="0" dirty="0">
                <a:solidFill>
                  <a:schemeClr val="tx1"/>
                </a:solidFill>
              </a:rPr>
              <a:t>  합치면 틀리는 컬럼</a:t>
            </a:r>
          </a:p>
          <a:p>
            <a:pPr algn="l"/>
            <a:r>
              <a:rPr sz="1050" b="0" dirty="0">
                <a:solidFill>
                  <a:schemeClr val="tx1"/>
                </a:solidFill>
              </a:rPr>
              <a:t>  예) uman_time, eg_time</a:t>
            </a:r>
          </a:p>
          <a:p>
            <a:pPr algn="l"/>
            <a:r>
              <a:rPr lang="en-US" sz="1050" b="1" dirty="0">
                <a:solidFill>
                  <a:schemeClr val="accent1"/>
                </a:solidFill>
              </a:rPr>
              <a:t>UTC 시차</a:t>
            </a:r>
            <a:r>
              <a:rPr sz="1050" b="0" dirty="0">
                <a:solidFill>
                  <a:schemeClr val="tx1"/>
                </a:solidFill>
              </a:rPr>
              <a:t>  UTC로 저장된 시각</a:t>
            </a:r>
          </a:p>
          <a:p>
            <a:pPr algn="l"/>
            <a:r>
              <a:rPr sz="1050" b="0" dirty="0">
                <a:solidFill>
                  <a:schemeClr val="tx1"/>
                </a:solidFill>
              </a:rPr>
              <a:t>  예) collect_datetime +9</a:t>
            </a:r>
          </a:p>
          <a:p>
            <a:pPr algn="l"/>
            <a:r>
              <a:rPr sz="1050" b="0" dirty="0">
                <a:solidFill>
                  <a:schemeClr val="tx1"/>
                </a:solidFill>
              </a:rPr>
              <a:t>→ 프롬프트에 함께 표시</a:t>
            </a:r>
          </a:p>
        </p:txBody>
      </p:sp>
      <p:sp>
        <p:nvSpPr>
          <p:cNvPr id="18" name="화살표 3→4"/>
          <p:cNvSpPr/>
          <p:nvPr/>
        </p:nvSpPr>
        <p:spPr>
          <a:xfrm>
            <a:off x="8919972" y="1938528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QL 추출 대상 지표"/>
          <p:cNvSpPr/>
          <p:nvPr/>
        </p:nvSpPr>
        <p:spPr>
          <a:xfrm>
            <a:off x="9226296" y="987552"/>
            <a:ext cx="2615184" cy="22128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20" name="SQL 추출 대상 지표 제목"/>
          <p:cNvSpPr/>
          <p:nvPr/>
        </p:nvSpPr>
        <p:spPr>
          <a:xfrm>
            <a:off x="9317736" y="1078992"/>
            <a:ext cx="2432303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SQL 지표 등록</a:t>
            </a:r>
          </a:p>
        </p:txBody>
      </p:sp>
      <p:sp>
        <p:nvSpPr>
          <p:cNvPr id="21" name="표시 ④"/>
          <p:cNvSpPr/>
          <p:nvPr/>
        </p:nvSpPr>
        <p:spPr>
          <a:xfrm>
            <a:off x="11439144" y="1133856"/>
            <a:ext cx="256032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>
                <a:solidFill>
                  <a:schemeClr val="bg1"/>
                </a:solidFill>
              </a:rPr>
              <a:t>④</a:t>
            </a:r>
          </a:p>
        </p:txBody>
      </p:sp>
      <p:sp>
        <p:nvSpPr>
          <p:cNvPr id="22" name="SQL 추출 대상 지표 내용"/>
          <p:cNvSpPr/>
          <p:nvPr/>
        </p:nvSpPr>
        <p:spPr>
          <a:xfrm>
            <a:off x="9317736" y="1481328"/>
            <a:ext cx="2432303" cy="1627631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050" b="0" dirty="0" err="1">
                <a:solidFill>
                  <a:schemeClr val="tx1"/>
                </a:solidFill>
              </a:rPr>
              <a:t>기준 SQL 작성</a:t>
            </a:r>
            <a:endParaRPr sz="1050" b="0" dirty="0">
              <a:solidFill>
                <a:schemeClr val="tx1"/>
              </a:solidFill>
            </a:endParaRPr>
          </a:p>
          <a:p>
            <a:pPr algn="l"/>
            <a:r>
              <a:rPr sz="1050" b="0" dirty="0" err="1">
                <a:solidFill>
                  <a:schemeClr val="tx1"/>
                </a:solidFill>
              </a:rPr>
              <a:t>  일별 MAX − MIN (누적값)</a:t>
            </a:r>
            <a:endParaRPr sz="1050" b="0" dirty="0">
              <a:solidFill>
                <a:schemeClr val="tx1"/>
              </a:solidFill>
            </a:endParaRPr>
          </a:p>
          <a:p>
            <a:pPr algn="l"/>
            <a:r>
              <a:rPr sz="1050" b="0" dirty="0" err="1">
                <a:solidFill>
                  <a:schemeClr val="tx1"/>
                </a:solidFill>
              </a:rPr>
              <a:t>SQL → AST 변환</a:t>
            </a:r>
            <a:endParaRPr sz="1050" b="0" dirty="0">
              <a:solidFill>
                <a:schemeClr val="tx1"/>
              </a:solidFill>
            </a:endParaRPr>
          </a:p>
          <a:p>
            <a:pPr algn="l"/>
            <a:r>
              <a:rPr sz="1050" b="0" dirty="0" err="1">
                <a:solidFill>
                  <a:schemeClr val="tx1"/>
                </a:solidFill>
              </a:rPr>
              <a:t>  원본과 결과 비교 후</a:t>
            </a:r>
            <a:endParaRPr sz="1050" b="0" dirty="0">
              <a:solidFill>
                <a:schemeClr val="tx1"/>
              </a:solidFill>
            </a:endParaRPr>
          </a:p>
          <a:p>
            <a:pPr algn="l"/>
            <a:r>
              <a:rPr sz="1050" b="0" dirty="0" err="1">
                <a:solidFill>
                  <a:schemeClr val="tx1"/>
                </a:solidFill>
              </a:rPr>
              <a:t>metric · metric_table 저장</a:t>
            </a:r>
            <a:endParaRPr sz="1050" b="0" dirty="0">
              <a:solidFill>
                <a:schemeClr val="tx1"/>
              </a:solidFill>
            </a:endParaRPr>
          </a:p>
        </p:txBody>
      </p:sp>
      <p:sp>
        <p:nvSpPr>
          <p:cNvPr id="23" name="이유 제목"/>
          <p:cNvSpPr txBox="1"/>
          <p:nvPr/>
        </p:nvSpPr>
        <p:spPr>
          <a:xfrm>
            <a:off x="365760" y="3346704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1200" b="1" dirty="0">
                <a:solidFill>
                  <a:schemeClr val="accent1"/>
                </a:solidFill>
              </a:rPr>
              <a:t>구조 구성 목적</a:t>
            </a:r>
            <a:endParaRPr sz="1200" b="1" dirty="0">
              <a:solidFill>
                <a:schemeClr val="accent1"/>
              </a:solidFill>
            </a:endParaRPr>
          </a:p>
        </p:txBody>
      </p:sp>
      <p:graphicFrame>
        <p:nvGraphicFramePr>
          <p:cNvPr id="24" name="설계 이유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26881"/>
              </p:ext>
            </p:extLst>
          </p:nvPr>
        </p:nvGraphicFramePr>
        <p:xfrm>
          <a:off x="365760" y="3675887"/>
          <a:ext cx="1145743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chemeClr val="bg1"/>
                          </a:solidFill>
                        </a:rPr>
                        <a:t>설계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목적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사용처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테이블 = 물리명 + 업무 설명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질문자의 용어와 DB 코멘트의 용어가 달라, 업무 설명(없으면 코멘트)을 붙여 LLM에 전달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테이블 선택: 테이블마다 설명 + 컬럼 목록 전달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chemeClr val="tx1"/>
                          </a:solidFill>
                        </a:rPr>
                        <a:t>컬럼 = 물리명 + 타입 + 코멘트</a:t>
                      </a:r>
                      <a:endParaRPr sz="90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물리명(uman_time)만으로는 뜻을 알 수 없음. 코드값 의미(err_code 0 = 정상 …)와 단위가 코멘트에 있어야 조건을 정확히 작성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chemeClr val="tx1"/>
                          </a:solidFill>
                        </a:rPr>
                        <a:t>테이블 선택(이름 + 코멘트), AST 생성(타입 포함)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계산 필요 컬럼 표시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누적값을 SUM·AVG 하면 틀린 답이 됨. 컴파일러는 이를 판단할 수 없어, LLM이 표시를 보고 지표가 필요한 질문인지 판단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테이블 선택: 지표 필요 여부(needs_metric) 판단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54164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chemeClr val="tx1"/>
                          </a:solidFill>
                        </a:rPr>
                        <a:t>UTC 시차</a:t>
                      </a:r>
                      <a:endParaRPr sz="90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UTC로 저장된 시각을 현지 날짜로 묶고, 조건 값은 UTC로 바꿔 비교해 인덱스를 그대로 씀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chemeClr val="tx1"/>
                          </a:solidFill>
                        </a:rPr>
                        <a:t>compiler.py 자동 보정 (프롬프트엔 [UTC 보정])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0298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지표는 SQL로 등록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계산식은 사람이 검증된 SQL로 등록. AST로 바꾼 뒤 원본과 결과를 비교해 저장하고, LLM은 조건만 바꿈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chemeClr val="tx1"/>
                          </a:solidFill>
                        </a:rPr>
                        <a:t>AST 생성: 지표의 SQL·AST를 바탕으로 작성</a:t>
                      </a:r>
                      <a:endParaRPr sz="90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03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08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74AE3BD-D1C7-1F4E-C4A7-363E51A4F483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3장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4F61750-529A-1553-9226-B4B7E5039E32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0"/>
              <a:t>원천 테이블 → 메타정보 구조화 결과  (bms_log)</a:t>
            </a:r>
          </a:p>
        </p:txBody>
      </p:sp>
      <p:sp>
        <p:nvSpPr>
          <p:cNvPr id="4" name="원천 제목"/>
          <p:cNvSpPr txBox="1"/>
          <p:nvPr/>
        </p:nvSpPr>
        <p:spPr>
          <a:xfrm>
            <a:off x="365760" y="932688"/>
            <a:ext cx="53949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원천 테이블 정보</a:t>
            </a:r>
            <a:r>
              <a:rPr sz="850" b="0" dirty="0">
                <a:solidFill>
                  <a:schemeClr val="tx2"/>
                </a:solidFill>
              </a:rPr>
              <a:t>   PostgreSQL 카탈로그 그대로</a:t>
            </a:r>
          </a:p>
          <a:p>
            <a:pPr algn="l"/>
            <a:r>
              <a:rPr sz="850" b="0" dirty="0">
                <a:solidFill>
                  <a:schemeClr val="tx2"/>
                </a:solidFill>
              </a:rPr>
              <a:t>코멘트: 차량 로그 수집시간별 데이터가 누적되므로 집계시 유의   (컬럼 61개 중 22개 표시)</a:t>
            </a:r>
          </a:p>
        </p:txBody>
      </p:sp>
      <p:graphicFrame>
        <p:nvGraphicFramePr>
          <p:cNvPr id="5" name="원천 테이블 정보"/>
          <p:cNvGraphicFramePr>
            <a:graphicFrameLocks noGrp="1"/>
          </p:cNvGraphicFramePr>
          <p:nvPr/>
        </p:nvGraphicFramePr>
        <p:xfrm>
          <a:off x="365760" y="1371600"/>
          <a:ext cx="5394960" cy="478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 b="1" dirty="0" err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bg1"/>
                          </a:solidFill>
                        </a:rPr>
                        <a:t>칼럼명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bg1"/>
                          </a:solidFill>
                        </a:rPr>
                        <a:t>PK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bg1"/>
                          </a:solidFill>
                        </a:rPr>
                        <a:t>코멘트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collect_datetime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수집 일시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vehicle_id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varchar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차량 시리얼 번호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3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datatime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varchar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기록일시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7664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4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timezone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double precision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시간대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4052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5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err_code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오류 코드 : 0 = 정상(正常), 1 = 2~6 이외 모두(2…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97659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6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eg_time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가동시간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446804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7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op_mode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가동모드:1 = 매뉴얼(マニュアル), 2 = 티치(ティーチ), 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53470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8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pb_prg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진행도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361649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10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sys_mode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작동모드:0 = None（GNSS&lt;&gt;4 or Compass="-…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0638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uni_posi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유닛 포지션:0 = Up, 1 = Middle, 2 = Down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99629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12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fuel_lv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연료 잔량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38507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13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sog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속도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68569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14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eg_rpm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엔진 회전수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1142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17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wk_area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double precision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깍는 면적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021160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18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fuel_cons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연료 사용량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0953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19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uman_time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무인 가동 시간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3894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20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uman_reel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무인 절단 시간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646106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oside_temp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외기 온도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079560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23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quality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GNSS 상태 : 0 = None, 1 = SPS, 2 = Di…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6778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28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bt_volt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전압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00370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30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mow_time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모어 정전 시간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12548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31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reel_mt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모어 역전 시간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811586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외 39개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엔진·DPF·위치 등 (사람 설정 없음)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450516"/>
                  </a:ext>
                </a:extLst>
              </a:tr>
            </a:tbl>
          </a:graphicData>
        </a:graphic>
      </p:graphicFrame>
      <p:sp>
        <p:nvSpPr>
          <p:cNvPr id="6" name="구조화 화살표"/>
          <p:cNvSpPr/>
          <p:nvPr/>
        </p:nvSpPr>
        <p:spPr>
          <a:xfrm>
            <a:off x="5870448" y="3383280"/>
            <a:ext cx="329184" cy="384048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구조화 방법"/>
          <p:cNvSpPr txBox="1"/>
          <p:nvPr/>
        </p:nvSpPr>
        <p:spPr>
          <a:xfrm>
            <a:off x="5715000" y="3822191"/>
            <a:ext cx="658368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750" b="1" dirty="0">
                <a:solidFill>
                  <a:schemeClr val="accent3"/>
                </a:solidFill>
              </a:rPr>
              <a:t>사람이 설정</a:t>
            </a:r>
            <a:endParaRPr sz="750" b="1" dirty="0">
              <a:solidFill>
                <a:schemeClr val="accent3"/>
              </a:solidFill>
            </a:endParaRPr>
          </a:p>
        </p:txBody>
      </p:sp>
      <p:sp>
        <p:nvSpPr>
          <p:cNvPr id="8" name="구조화 제목"/>
          <p:cNvSpPr txBox="1"/>
          <p:nvPr/>
        </p:nvSpPr>
        <p:spPr>
          <a:xfrm>
            <a:off x="6400800" y="932688"/>
            <a:ext cx="54406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chemeClr val="accent1"/>
                </a:solidFill>
              </a:rPr>
              <a:t>메타정보 구조화 결과</a:t>
            </a:r>
            <a:r>
              <a:rPr sz="850" b="0" dirty="0">
                <a:solidFill>
                  <a:schemeClr val="tx2"/>
                </a:solidFill>
              </a:rPr>
              <a:t>   동기화 + 사람 설정</a:t>
            </a:r>
          </a:p>
          <a:p>
            <a:pPr algn="l"/>
            <a:r>
              <a:rPr sz="850" b="0" dirty="0">
                <a:solidFill>
                  <a:schemeClr val="tx2"/>
                </a:solidFill>
              </a:rPr>
              <a:t>물리명 bms_log   업무활용 설명은 비워 두고 원천 코멘트를 그대로 사용</a:t>
            </a:r>
          </a:p>
        </p:txBody>
      </p:sp>
      <p:graphicFrame>
        <p:nvGraphicFramePr>
          <p:cNvPr id="9" name="메타정보 구조화 결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97427"/>
              </p:ext>
            </p:extLst>
          </p:nvPr>
        </p:nvGraphicFramePr>
        <p:xfrm>
          <a:off x="6400800" y="1371600"/>
          <a:ext cx="5422392" cy="4810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 b="1" dirty="0" err="1">
                          <a:solidFill>
                            <a:schemeClr val="bg1"/>
                          </a:solidFill>
                        </a:rPr>
                        <a:t>인덱스번호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bg1"/>
                          </a:solidFill>
                        </a:rPr>
                        <a:t>데이터타입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 dirty="0" err="1">
                          <a:solidFill>
                            <a:schemeClr val="bg1"/>
                          </a:solidFill>
                        </a:rPr>
                        <a:t>LLM에</a:t>
                      </a:r>
                      <a:r>
                        <a:rPr sz="65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650" b="1" dirty="0" err="1">
                          <a:solidFill>
                            <a:schemeClr val="bg1"/>
                          </a:solidFill>
                        </a:rPr>
                        <a:t>전달되는</a:t>
                      </a:r>
                      <a:r>
                        <a:rPr sz="65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650" b="1" dirty="0" err="1">
                          <a:solidFill>
                            <a:schemeClr val="bg1"/>
                          </a:solidFill>
                        </a:rPr>
                        <a:t>설명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50" b="1" dirty="0">
                          <a:solidFill>
                            <a:schemeClr val="bg1"/>
                          </a:solidFill>
                        </a:rPr>
                        <a:t>사용자</a:t>
                      </a:r>
                      <a:r>
                        <a:rPr sz="65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650" b="1" dirty="0" err="1">
                          <a:solidFill>
                            <a:schemeClr val="bg1"/>
                          </a:solidFill>
                        </a:rPr>
                        <a:t>설정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collect_datetime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수집 일시 [UTC 보정]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UTC+9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vehicle_id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varchar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차량 시리얼 번호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3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datatime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varchar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기록일시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2553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4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timezone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double precision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시간대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9672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5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err_code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오류 코드 : 0 = 정상(正常), 1 = 2~6 이외 모두…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29943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6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eg_time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가동시간 [계산 필요]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85477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7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op_mode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가동모드:1 = 매뉴얼(マニュアル), 2 = 티치(ティーチ)…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814768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8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pb_prg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진행도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292487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10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sys_mode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작동모드:0 = None（GNSS&lt;&gt;4 or Compass=…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61468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uni_posi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유닛 포지션:0 = Up, 1 = Middle, 2 = Do…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798509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12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fuel_lv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연료 잔량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532211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13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sog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속도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40256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14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eg_rpm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integer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엔진 회전수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391794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17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wk_area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double precision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깍는 면적 [계산 필요]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83247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18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fuel_cons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연료 사용량 [계산 필요]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735889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19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uman_time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무인 가동 시간 [계산 필요]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113218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20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uman_reel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무인 절단 시간 [계산 필요]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99285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oside_temp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외기 온도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911982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23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quality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smallint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GNSS 상태 : 0 = None, 1 = SPS, 2 = …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898676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28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bt_volt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전압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939264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30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mow_time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모어 정전 시간 [계산 필요]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060645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31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reel_mt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real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모어 역전 시간 [계산 필요]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99054"/>
                  </a:ext>
                </a:extLst>
              </a:tr>
              <a:tr h="199339">
                <a:tc>
                  <a:txBody>
                    <a:bodyPr/>
                    <a:lstStyle/>
                    <a:p>
                      <a:pPr algn="ctr"/>
                      <a:r>
                        <a:rPr sz="650">
                          <a:solidFill>
                            <a:schemeClr val="tx1"/>
                          </a:solidFill>
                        </a:rPr>
                        <a:t>…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chemeClr val="tx1"/>
                          </a:solidFill>
                        </a:rPr>
                        <a:t>외 39개</a:t>
                      </a:r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6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dirty="0" err="1">
                          <a:solidFill>
                            <a:schemeClr val="tx1"/>
                          </a:solidFill>
                        </a:rPr>
                        <a:t>코멘트 그대로 전달</a:t>
                      </a:r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6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191645"/>
                  </a:ext>
                </a:extLst>
              </a:tr>
            </a:tbl>
          </a:graphicData>
        </a:graphic>
      </p:graphicFrame>
      <p:sp>
        <p:nvSpPr>
          <p:cNvPr id="10" name="선정 요약"/>
          <p:cNvSpPr txBox="1"/>
          <p:nvPr/>
        </p:nvSpPr>
        <p:spPr>
          <a:xfrm>
            <a:off x="6400800" y="6236208"/>
            <a:ext cx="5440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dirty="0" err="1">
                <a:solidFill>
                  <a:schemeClr val="accent1"/>
                </a:solidFill>
              </a:rPr>
              <a:t>컬럼 61개 중 계산 필요 7개 · UTC 보정 1개</a:t>
            </a:r>
            <a:r>
              <a:rPr sz="800" b="0" dirty="0">
                <a:solidFill>
                  <a:schemeClr val="tx1"/>
                </a:solidFill>
              </a:rPr>
              <a:t>  →  테이블 선택 프롬프트에 'uman_time(무인 가동 시간) [계산 필요]' 형태로 전달. 누적 컬럼으로 지표 5개 등록 (무인 가동시간 등)</a:t>
            </a:r>
          </a:p>
          <a:p>
            <a:pPr algn="l"/>
            <a:r>
              <a:rPr sz="800" b="0" dirty="0">
                <a:solidFill>
                  <a:schemeClr val="tx1"/>
                </a:solidFill>
              </a:rPr>
              <a:t>강조 = 사람이 설정한 컬럼</a:t>
            </a:r>
          </a:p>
        </p:txBody>
      </p:sp>
    </p:spTree>
    <p:extLst>
      <p:ext uri="{BB962C8B-B14F-4D97-AF65-F5344CB8AC3E}">
        <p14:creationId xmlns:p14="http://schemas.microsoft.com/office/powerpoint/2010/main" val="683203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7BCE7D-FC0E-026D-71F7-7511A345826E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4장  메타정보 활용 (1/2)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4094B4B-8632-B9E4-6566-E997151A3F88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예시 질의 변환 과정</a:t>
            </a:r>
          </a:p>
        </p:txBody>
      </p:sp>
      <p:sp>
        <p:nvSpPr>
          <p:cNvPr id="4" name="사용자 질문"/>
          <p:cNvSpPr/>
          <p:nvPr/>
        </p:nvSpPr>
        <p:spPr>
          <a:xfrm>
            <a:off x="365760" y="932688"/>
            <a:ext cx="11457432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1000" b="1">
                <a:solidFill>
                  <a:schemeClr val="accent5"/>
                </a:solidFill>
              </a:rPr>
              <a:t>사용자 질문   “최근 5일 차량별 무인 가동시간 합계”</a:t>
            </a:r>
          </a:p>
        </p:txBody>
      </p:sp>
      <p:sp>
        <p:nvSpPr>
          <p:cNvPr id="5" name="쓰인 메타정보"/>
          <p:cNvSpPr/>
          <p:nvPr/>
        </p:nvSpPr>
        <p:spPr>
          <a:xfrm>
            <a:off x="365760" y="1463040"/>
            <a:ext cx="3886200" cy="5120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6" name="쓰인 메타정보 제목"/>
          <p:cNvSpPr/>
          <p:nvPr/>
        </p:nvSpPr>
        <p:spPr>
          <a:xfrm>
            <a:off x="457200" y="1554480"/>
            <a:ext cx="3703320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질문에 쓰인 메타정보</a:t>
            </a:r>
          </a:p>
        </p:txBody>
      </p:sp>
      <p:sp>
        <p:nvSpPr>
          <p:cNvPr id="7" name="쓰인 테이블"/>
          <p:cNvSpPr txBox="1"/>
          <p:nvPr/>
        </p:nvSpPr>
        <p:spPr>
          <a:xfrm>
            <a:off x="502920" y="1975104"/>
            <a:ext cx="3611880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dirty="0" err="1">
                <a:solidFill>
                  <a:schemeClr val="accent1"/>
                </a:solidFill>
              </a:rPr>
              <a:t>테이블</a:t>
            </a:r>
            <a:r>
              <a:rPr sz="850" b="1" dirty="0">
                <a:solidFill>
                  <a:schemeClr val="accent1"/>
                </a:solidFill>
              </a:rPr>
              <a:t>  </a:t>
            </a:r>
            <a:r>
              <a:rPr sz="850" b="0" dirty="0" err="1">
                <a:solidFill>
                  <a:schemeClr val="tx1"/>
                </a:solidFill>
              </a:rPr>
              <a:t>bms_log</a:t>
            </a:r>
            <a:r>
              <a:rPr sz="850" b="0" dirty="0">
                <a:solidFill>
                  <a:schemeClr val="tx1"/>
                </a:solidFill>
              </a:rPr>
              <a:t>(</a:t>
            </a:r>
            <a:r>
              <a:rPr sz="850" b="0" dirty="0" err="1">
                <a:solidFill>
                  <a:schemeClr val="tx1"/>
                </a:solidFill>
              </a:rPr>
              <a:t>차량</a:t>
            </a:r>
            <a:r>
              <a:rPr sz="850" b="0" dirty="0">
                <a:solidFill>
                  <a:schemeClr val="tx1"/>
                </a:solidFill>
              </a:rPr>
              <a:t> </a:t>
            </a:r>
            <a:r>
              <a:rPr sz="850" b="0" dirty="0" err="1">
                <a:solidFill>
                  <a:schemeClr val="tx1"/>
                </a:solidFill>
              </a:rPr>
              <a:t>로그</a:t>
            </a:r>
            <a:r>
              <a:rPr sz="850" b="0" dirty="0">
                <a:solidFill>
                  <a:schemeClr val="tx1"/>
                </a:solidFill>
              </a:rPr>
              <a:t> </a:t>
            </a:r>
            <a:r>
              <a:rPr sz="850" b="0" dirty="0" err="1">
                <a:solidFill>
                  <a:schemeClr val="tx1"/>
                </a:solidFill>
              </a:rPr>
              <a:t>수집시간별</a:t>
            </a:r>
            <a:r>
              <a:rPr sz="850" b="0" dirty="0">
                <a:solidFill>
                  <a:schemeClr val="tx1"/>
                </a:solidFill>
              </a:rPr>
              <a:t> </a:t>
            </a:r>
            <a:r>
              <a:rPr sz="850" b="0" dirty="0" err="1">
                <a:solidFill>
                  <a:schemeClr val="tx1"/>
                </a:solidFill>
              </a:rPr>
              <a:t>데이터가</a:t>
            </a:r>
            <a:r>
              <a:rPr sz="850" b="0" dirty="0">
                <a:solidFill>
                  <a:schemeClr val="tx1"/>
                </a:solidFill>
              </a:rPr>
              <a:t> </a:t>
            </a:r>
            <a:r>
              <a:rPr sz="850" b="0" dirty="0" err="1">
                <a:solidFill>
                  <a:schemeClr val="tx1"/>
                </a:solidFill>
              </a:rPr>
              <a:t>누적되므로</a:t>
            </a:r>
            <a:r>
              <a:rPr sz="850" b="0" dirty="0">
                <a:solidFill>
                  <a:schemeClr val="tx1"/>
                </a:solidFill>
              </a:rPr>
              <a:t> </a:t>
            </a:r>
            <a:r>
              <a:rPr sz="850" b="0" dirty="0" err="1">
                <a:solidFill>
                  <a:schemeClr val="tx1"/>
                </a:solidFill>
              </a:rPr>
              <a:t>집계시</a:t>
            </a:r>
            <a:r>
              <a:rPr sz="850" b="0" dirty="0">
                <a:solidFill>
                  <a:schemeClr val="tx1"/>
                </a:solidFill>
              </a:rPr>
              <a:t> </a:t>
            </a:r>
            <a:r>
              <a:rPr sz="850" b="0" dirty="0" err="1">
                <a:solidFill>
                  <a:schemeClr val="tx1"/>
                </a:solidFill>
              </a:rPr>
              <a:t>유의</a:t>
            </a:r>
            <a:r>
              <a:rPr sz="850" b="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8" name="쓰인 컬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05477"/>
              </p:ext>
            </p:extLst>
          </p:nvPr>
        </p:nvGraphicFramePr>
        <p:xfrm>
          <a:off x="457200" y="2249424"/>
          <a:ext cx="37033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750" b="1" dirty="0" err="1">
                          <a:solidFill>
                            <a:schemeClr val="bg1"/>
                          </a:solidFill>
                        </a:rPr>
                        <a:t>물리명</a:t>
                      </a:r>
                      <a:endParaRPr sz="750" dirty="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chemeClr val="bg1"/>
                          </a:solidFill>
                        </a:rPr>
                        <a:t>설명 (코멘트)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chemeClr val="bg1"/>
                          </a:solidFill>
                        </a:rPr>
                        <a:t>사람 설정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chemeClr val="bg1"/>
                          </a:solidFill>
                        </a:rPr>
                        <a:t>질문의 말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collect_datetime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수집 일시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chemeClr val="accent3"/>
                          </a:solidFill>
                        </a:rPr>
                        <a:t>UTC 보정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최근 5일</a:t>
                      </a:r>
                      <a:endParaRPr sz="7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vehicle_id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차량 시리얼 번호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7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차량별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uman_time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chemeClr val="tx1"/>
                          </a:solidFill>
                        </a:rPr>
                        <a:t>무인 가동 시간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chemeClr val="accent3"/>
                          </a:solidFill>
                        </a:rPr>
                        <a:t>계산 필요</a:t>
                      </a:r>
                      <a:endParaRPr sz="7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dirty="0">
                          <a:solidFill>
                            <a:schemeClr val="tx1"/>
                          </a:solidFill>
                        </a:rPr>
                        <a:t>무인 가동시간 합계</a:t>
                      </a:r>
                      <a:endParaRPr sz="750" dirty="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227422"/>
                  </a:ext>
                </a:extLst>
              </a:tr>
            </a:tbl>
          </a:graphicData>
        </a:graphic>
      </p:graphicFrame>
      <p:sp>
        <p:nvSpPr>
          <p:cNvPr id="9" name="쓰인 지표 제목"/>
          <p:cNvSpPr txBox="1"/>
          <p:nvPr/>
        </p:nvSpPr>
        <p:spPr>
          <a:xfrm>
            <a:off x="502920" y="4023360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chemeClr val="accent1"/>
                </a:solidFill>
              </a:rPr>
              <a:t>지표  무인 가동시간</a:t>
            </a:r>
          </a:p>
        </p:txBody>
      </p:sp>
      <p:sp>
        <p:nvSpPr>
          <p:cNvPr id="10" name="쓰인 지표"/>
          <p:cNvSpPr/>
          <p:nvPr/>
        </p:nvSpPr>
        <p:spPr>
          <a:xfrm>
            <a:off x="457200" y="4297680"/>
            <a:ext cx="3703320" cy="219456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chemeClr val="tx1"/>
                </a:solidFill>
              </a:rPr>
              <a:t>등록된 SQL (차량 × 일)</a:t>
            </a: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chemeClr val="tx1"/>
                </a:solidFill>
              </a:rPr>
              <a:t>  date(collect_datetime + 9시간) 별 vehicle_id 별 MAX(uman_time) − MIN(uman_time)</a:t>
            </a: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chemeClr val="tx1"/>
                </a:solidFill>
              </a:rPr>
              <a:t>설명</a:t>
            </a: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chemeClr val="tx1"/>
                </a:solidFill>
              </a:rPr>
              <a:t>  uman_time 은 누적값 → 하루의 MAX − MIN. 기간 합계는 일별 값을 더함</a:t>
            </a: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chemeClr val="tx1"/>
                </a:solidFill>
              </a:rPr>
              <a:t>기본 조건</a:t>
            </a: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chemeClr val="tx1"/>
                </a:solidFill>
              </a:rPr>
              <a:t>  2026-10-01 이후 — 질문에 '최근 5일'이 있어 질문 기간으로 바꿈</a:t>
            </a:r>
          </a:p>
        </p:txBody>
      </p:sp>
      <p:sp>
        <p:nvSpPr>
          <p:cNvPr id="11" name="화살표 1→2"/>
          <p:cNvSpPr/>
          <p:nvPr/>
        </p:nvSpPr>
        <p:spPr>
          <a:xfrm>
            <a:off x="4297680" y="365760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LM 연계 Agent 로직"/>
          <p:cNvSpPr/>
          <p:nvPr/>
        </p:nvSpPr>
        <p:spPr>
          <a:xfrm>
            <a:off x="4626864" y="1463040"/>
            <a:ext cx="3310128" cy="5120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13" name="LLM 연계 Agent 로직 제목"/>
          <p:cNvSpPr/>
          <p:nvPr/>
        </p:nvSpPr>
        <p:spPr>
          <a:xfrm>
            <a:off x="4718303" y="1554480"/>
            <a:ext cx="3127248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LLM 연계 Agent 로직</a:t>
            </a:r>
          </a:p>
        </p:txBody>
      </p:sp>
      <p:sp>
        <p:nvSpPr>
          <p:cNvPr id="14" name="LLM 연계 Agent 로직 내용"/>
          <p:cNvSpPr/>
          <p:nvPr/>
        </p:nvSpPr>
        <p:spPr>
          <a:xfrm>
            <a:off x="4718303" y="1956816"/>
            <a:ext cx="3127248" cy="453542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US" sz="1000" b="1" dirty="0">
                <a:solidFill>
                  <a:schemeClr val="accent1"/>
                </a:solidFill>
              </a:rPr>
              <a:t>1.</a:t>
            </a:r>
            <a:r>
              <a:rPr sz="1000" b="1" dirty="0">
                <a:solidFill>
                  <a:schemeClr val="accent1"/>
                </a:solidFill>
              </a:rPr>
              <a:t> </a:t>
            </a:r>
            <a:r>
              <a:rPr sz="1000" b="1" dirty="0" err="1">
                <a:solidFill>
                  <a:schemeClr val="accent1"/>
                </a:solidFill>
              </a:rPr>
              <a:t>테이블</a:t>
            </a:r>
            <a:r>
              <a:rPr sz="1000" b="1" dirty="0">
                <a:solidFill>
                  <a:schemeClr val="accent1"/>
                </a:solidFill>
              </a:rPr>
              <a:t> </a:t>
            </a:r>
            <a:r>
              <a:rPr sz="1000" b="1" dirty="0" err="1">
                <a:solidFill>
                  <a:schemeClr val="accent1"/>
                </a:solidFill>
              </a:rPr>
              <a:t>선택</a:t>
            </a:r>
            <a:r>
              <a:rPr lang="ko-KR" altLang="en-US" sz="1000" b="1" dirty="0">
                <a:solidFill>
                  <a:schemeClr val="accent1"/>
                </a:solidFill>
              </a:rPr>
              <a:t>및</a:t>
            </a:r>
            <a:r>
              <a:rPr sz="1000" b="1" dirty="0">
                <a:solidFill>
                  <a:schemeClr val="accent1"/>
                </a:solidFill>
              </a:rPr>
              <a:t> 지표 판단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[송신] 테이블 16개 + 컬럼(계산 필요 표시) + 지표 5개 설명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[수신] bms_log, 지표 필요, 지표: 무인 가동시간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lang="en-US" sz="1000" b="1" dirty="0">
                <a:solidFill>
                  <a:schemeClr val="accent1"/>
                </a:solidFill>
              </a:rPr>
              <a:t>2.</a:t>
            </a:r>
            <a:r>
              <a:rPr sz="1000" b="1" dirty="0">
                <a:solidFill>
                  <a:schemeClr val="accent1"/>
                </a:solidFill>
              </a:rPr>
              <a:t> AST 생성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[송신] bms_log 컬럼 + </a:t>
            </a:r>
            <a:r>
              <a:rPr sz="1000" b="0" dirty="0" err="1">
                <a:solidFill>
                  <a:schemeClr val="tx1"/>
                </a:solidFill>
              </a:rPr>
              <a:t>지표</a:t>
            </a:r>
            <a:r>
              <a:rPr sz="1000" b="0" dirty="0">
                <a:solidFill>
                  <a:schemeClr val="tx1"/>
                </a:solidFill>
              </a:rPr>
              <a:t> SQL</a:t>
            </a:r>
            <a:r>
              <a:rPr lang="en-US" sz="1000" b="0" dirty="0">
                <a:solidFill>
                  <a:schemeClr val="tx1"/>
                </a:solidFill>
              </a:rPr>
              <a:t>/</a:t>
            </a:r>
            <a:r>
              <a:rPr sz="1000" b="0" dirty="0">
                <a:solidFill>
                  <a:schemeClr val="tx1"/>
                </a:solidFill>
              </a:rPr>
              <a:t>AST + AST 규칙 + 날짜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[수신] AST(JSON) — 첫 시도에 컴파일 성공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1" dirty="0">
                <a:solidFill>
                  <a:schemeClr val="accent1"/>
                </a:solidFill>
              </a:rPr>
              <a:t>맞는 지표가 없을 때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“어제 차량별 무인 절단 시간” → uman_reel 이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[계산 필요]인데 지표가 없어 ①에서 끝냄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  → '지표 등록이 필요합니다' (5.4초)</a:t>
            </a:r>
            <a:endParaRPr sz="1000" b="1" dirty="0">
              <a:solidFill>
                <a:schemeClr val="accent3"/>
              </a:solidFill>
            </a:endParaRPr>
          </a:p>
          <a:p>
            <a:pPr algn="l"/>
            <a:endParaRPr sz="1000" b="1" dirty="0">
              <a:solidFill>
                <a:schemeClr val="accent3"/>
              </a:solidFill>
            </a:endParaRPr>
          </a:p>
          <a:p>
            <a:pPr algn="l"/>
            <a:r>
              <a:rPr sz="1000" b="0" dirty="0">
                <a:solidFill>
                  <a:schemeClr val="tx1"/>
                </a:solidFill>
              </a:rPr>
              <a:t>형식 오류 시 고칠 점을 붙여 </a:t>
            </a:r>
            <a:r>
              <a:rPr sz="1000" b="0" dirty="0" err="1">
                <a:solidFill>
                  <a:schemeClr val="tx1"/>
                </a:solidFill>
              </a:rPr>
              <a:t>재요청</a:t>
            </a:r>
            <a:r>
              <a:rPr sz="1000" b="0" dirty="0">
                <a:solidFill>
                  <a:schemeClr val="tx1"/>
                </a:solidFill>
              </a:rPr>
              <a:t> (</a:t>
            </a:r>
            <a:r>
              <a:rPr lang="en-US" sz="1000" b="0" dirty="0">
                <a:solidFill>
                  <a:schemeClr val="tx1"/>
                </a:solidFill>
              </a:rPr>
              <a:t>1.</a:t>
            </a:r>
            <a:r>
              <a:rPr sz="1000" b="0" dirty="0">
                <a:solidFill>
                  <a:schemeClr val="tx1"/>
                </a:solidFill>
              </a:rPr>
              <a:t> 1회, </a:t>
            </a:r>
            <a:r>
              <a:rPr lang="en-US" sz="1000" b="0" dirty="0">
                <a:solidFill>
                  <a:schemeClr val="tx1"/>
                </a:solidFill>
              </a:rPr>
              <a:t>2.</a:t>
            </a:r>
            <a:r>
              <a:rPr sz="1000" b="0" dirty="0">
                <a:solidFill>
                  <a:schemeClr val="tx1"/>
                </a:solidFill>
              </a:rPr>
              <a:t> 최대 3회 시도)</a:t>
            </a:r>
            <a:endParaRPr sz="1000" b="1" dirty="0">
              <a:solidFill>
                <a:schemeClr val="accent3"/>
              </a:solidFill>
            </a:endParaRPr>
          </a:p>
        </p:txBody>
      </p:sp>
      <p:sp>
        <p:nvSpPr>
          <p:cNvPr id="15" name="화살표 2→3"/>
          <p:cNvSpPr/>
          <p:nvPr/>
        </p:nvSpPr>
        <p:spPr>
          <a:xfrm>
            <a:off x="7982712" y="365760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LM 전송 쿼리"/>
          <p:cNvSpPr/>
          <p:nvPr/>
        </p:nvSpPr>
        <p:spPr>
          <a:xfrm>
            <a:off x="8357616" y="1463040"/>
            <a:ext cx="3465576" cy="5120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17" name="LLM 전송 쿼리 제목"/>
          <p:cNvSpPr/>
          <p:nvPr/>
        </p:nvSpPr>
        <p:spPr>
          <a:xfrm>
            <a:off x="8449056" y="1554480"/>
            <a:ext cx="3282696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LLM 결과 → SQL</a:t>
            </a:r>
          </a:p>
        </p:txBody>
      </p:sp>
      <p:sp>
        <p:nvSpPr>
          <p:cNvPr id="18" name="LLM 전송 쿼리 내용"/>
          <p:cNvSpPr/>
          <p:nvPr/>
        </p:nvSpPr>
        <p:spPr>
          <a:xfrm>
            <a:off x="8449056" y="1956816"/>
            <a:ext cx="3282696" cy="453542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850" b="1">
                <a:solidFill>
                  <a:schemeClr val="accent1"/>
                </a:solidFill>
              </a:rPr>
              <a:t>LLM이 낸 AST (요약)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{"from": {"as": "daily", "query":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지표 AST + 기간만 바꿈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collect_datetime &gt;= "2026-10-12 00:00:00"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collect_datetime &lt;  "2026-10-17 00:00:00"},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"select": [daily.vehicle_id,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      SUM(daily.uman_hours)],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"group_by": [daily.vehicle_id]}</a:t>
            </a:r>
          </a:p>
          <a:p>
            <a:pPr algn="l"/>
            <a:endParaRPr sz="850" b="0">
              <a:solidFill>
                <a:schemeClr val="tx1"/>
              </a:solidFill>
              <a:latin typeface="Consolas"/>
            </a:endParaRPr>
          </a:p>
          <a:p>
            <a:pPr algn="l"/>
            <a:r>
              <a:rPr sz="850" b="1">
                <a:solidFill>
                  <a:schemeClr val="accent1"/>
                </a:solidFill>
              </a:rPr>
              <a:t>compiler.py가 만든 SQL (요약)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SELECT vehicle_id, SUM(uman_hours)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FROM (SELECT DATE(collect_datetime + 9h) day,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  vehicle_id,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  MAX(uman_time) - MIN(uman_time) uman_hours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FROM bms_log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WHERE collect_datetime &gt;= '10-12' - 9h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  AND collect_datetime &lt;  '10-17' - 9h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      GROUP BY day, vehicle_id) daily</a:t>
            </a:r>
          </a:p>
          <a:p>
            <a:pPr algn="l"/>
            <a:r>
              <a:rPr sz="850" b="0">
                <a:solidFill>
                  <a:schemeClr val="tx1"/>
                </a:solidFill>
                <a:latin typeface="Consolas"/>
              </a:rPr>
              <a:t>GROUP BY vehicle_id</a:t>
            </a:r>
          </a:p>
        </p:txBody>
      </p:sp>
    </p:spTree>
    <p:extLst>
      <p:ext uri="{BB962C8B-B14F-4D97-AF65-F5344CB8AC3E}">
        <p14:creationId xmlns:p14="http://schemas.microsoft.com/office/powerpoint/2010/main" val="63839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4장  메타정보 활용 (2/2)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LLM 연동 인터페이스 설계 요약</a:t>
            </a:r>
          </a:p>
        </p:txBody>
      </p:sp>
      <p:sp>
        <p:nvSpPr>
          <p:cNvPr id="4" name="공통"/>
          <p:cNvSpPr/>
          <p:nvPr/>
        </p:nvSpPr>
        <p:spPr>
          <a:xfrm>
            <a:off x="365760" y="932688"/>
            <a:ext cx="11457432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/>
            <a:r>
              <a:rPr sz="950" b="1" dirty="0" err="1">
                <a:solidFill>
                  <a:schemeClr val="accent5"/>
                </a:solidFill>
              </a:rPr>
              <a:t>공통  </a:t>
            </a:r>
            <a:r>
              <a:rPr sz="950" b="0" dirty="0">
                <a:solidFill>
                  <a:schemeClr val="bg1"/>
                </a:solidFill>
              </a:rPr>
              <a:t>HTTP POST {LLM_BASE_URL}/chat/completions    OpenAI 호환 (vLLM)    모델 qwen3.8-27b    temperature 0.0    응답은 content 안의 JSON</a:t>
            </a:r>
          </a:p>
        </p:txBody>
      </p:sp>
      <p:sp>
        <p:nvSpPr>
          <p:cNvPr id="5" name="테이블선택   IF-LLM-001 · 6단계"/>
          <p:cNvSpPr/>
          <p:nvPr/>
        </p:nvSpPr>
        <p:spPr>
          <a:xfrm>
            <a:off x="365760" y="1463040"/>
            <a:ext cx="5641848" cy="5120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6" name="테이블선택   IF-LLM-001 · 6단계 제목"/>
          <p:cNvSpPr/>
          <p:nvPr/>
        </p:nvSpPr>
        <p:spPr>
          <a:xfrm>
            <a:off x="457200" y="1554480"/>
            <a:ext cx="5458968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 dirty="0" err="1">
                <a:solidFill>
                  <a:schemeClr val="bg1"/>
                </a:solidFill>
              </a:rPr>
              <a:t>테이블 선택 · 지표 판단   IF-LLM-001</a:t>
            </a:r>
            <a:endParaRPr sz="1050" b="1" dirty="0">
              <a:solidFill>
                <a:schemeClr val="bg1"/>
              </a:solidFill>
            </a:endParaRPr>
          </a:p>
        </p:txBody>
      </p:sp>
      <p:sp>
        <p:nvSpPr>
          <p:cNvPr id="7" name="테이블선택   IF-LLM-001 · 6단계 내용"/>
          <p:cNvSpPr/>
          <p:nvPr/>
        </p:nvSpPr>
        <p:spPr>
          <a:xfrm>
            <a:off x="457200" y="1956816"/>
            <a:ext cx="5458968" cy="453542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050" b="1" dirty="0" err="1">
                <a:solidFill>
                  <a:schemeClr val="accent1"/>
                </a:solidFill>
              </a:rPr>
              <a:t>입력값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system: 역할 · 업무 영역 · 규칙([계산 필요] → 지표 필요 판단) · 답 모양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user: [테이블 목록] 테이블: 설명 + 컬럼(코멘트, [계산 필요])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        + [지표] 이름: 설명 (같은 말),  [질문]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출력값 (content 안의 JSON)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{"tables", "needs_metric", "metric", "reason", "clarify"}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예시값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tables: [bms_log]   needs_metric: true   metric: 무인 가동시간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reason: uman_time 누적값을 하루 증가분으로 계산해 기간 합계해야 하므로 지표 필요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처리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목록에 없는 테이블·지표 이름 → 오류를 붙여 1회 재요청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지표가 필요한데 metric 이 없음 → '지표 등록이 필요합니다'로 끝냄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clarify 가 있으면 사용자에게 되물음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실측 </a:t>
            </a:r>
            <a:r>
              <a:rPr sz="1050" b="0" dirty="0">
                <a:solidFill>
                  <a:schemeClr val="tx1"/>
                </a:solidFill>
              </a:rPr>
              <a:t>토큰 2,976+439  4.9초</a:t>
            </a:r>
            <a:endParaRPr sz="1050" b="1" dirty="0">
              <a:solidFill>
                <a:schemeClr val="accent1"/>
              </a:solidFill>
            </a:endParaRPr>
          </a:p>
        </p:txBody>
      </p:sp>
      <p:sp>
        <p:nvSpPr>
          <p:cNvPr id="8" name="지표선택   IF-LLM-002 · 8단계"/>
          <p:cNvSpPr/>
          <p:nvPr/>
        </p:nvSpPr>
        <p:spPr>
          <a:xfrm>
            <a:off x="6181344" y="1463040"/>
            <a:ext cx="5641848" cy="5120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9" name="지표선택   IF-LLM-002 · 8단계 제목"/>
          <p:cNvSpPr/>
          <p:nvPr/>
        </p:nvSpPr>
        <p:spPr>
          <a:xfrm>
            <a:off x="6272784" y="1554480"/>
            <a:ext cx="5458968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 dirty="0" err="1">
                <a:solidFill>
                  <a:schemeClr val="bg1"/>
                </a:solidFill>
              </a:rPr>
              <a:t>AST 생성   IF-LLM-002</a:t>
            </a:r>
            <a:endParaRPr sz="1050" b="1" dirty="0">
              <a:solidFill>
                <a:schemeClr val="bg1"/>
              </a:solidFill>
            </a:endParaRPr>
          </a:p>
        </p:txBody>
      </p:sp>
      <p:sp>
        <p:nvSpPr>
          <p:cNvPr id="10" name="지표선택   IF-LLM-002 · 8단계 내용"/>
          <p:cNvSpPr/>
          <p:nvPr/>
        </p:nvSpPr>
        <p:spPr>
          <a:xfrm>
            <a:off x="6272784" y="1956816"/>
            <a:ext cx="5458968" cy="453542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050" b="1" dirty="0" err="1">
                <a:solidFill>
                  <a:schemeClr val="accent1"/>
                </a:solidFill>
              </a:rPr>
              <a:t>입력값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system: 역할 · 업무 영역 · 오늘 날짜 · AST 모양 · 규칙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user: [테이블] 고른 테이블의 컬럼(타입, 코멘트, [UTC 보정])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        + [지표] 등록 SQL · AST + '계산은 두고 조건만 바꿈',  [질문]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출력값 (content 안의 JSON)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{"ast": {…}, "reason": "…"}   또는   {"clarify": "…"}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예시값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지표 AST를 하위 쿼리로 두고 기간(최근 5일)만 바꾼 뒤, 바깥에서 차량별 SUM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처리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compiler.py 로 컴파일 → 성공하면 SQL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실패하면 '오류: 고칠 점'을 같은 대화에 붙여 재요청 (최대 3회 시도)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실측 </a:t>
            </a:r>
            <a:r>
              <a:rPr sz="1050" b="0" dirty="0">
                <a:solidFill>
                  <a:schemeClr val="tx1"/>
                </a:solidFill>
              </a:rPr>
              <a:t>토큰 2,417+4,004  34.4초 (추론 포함)</a:t>
            </a:r>
            <a:endParaRPr sz="1050" b="1" dirty="0">
              <a:solidFill>
                <a:schemeClr val="accent1"/>
              </a:solidFill>
            </a:endParaRPr>
          </a:p>
        </p:txBody>
      </p:sp>
      <p:sp>
        <p:nvSpPr>
          <p:cNvPr id="38" name="원문 보기 버튼 - 테이블선택">
            <a:extLst>
              <a:ext uri="{FF2B5EF4-FFF2-40B4-BE49-F238E27FC236}">
                <a16:creationId xmlns:a16="http://schemas.microsoft.com/office/drawing/2014/main" id="{9F9D9AA1-6649-2FB6-F1D0-C51DE84D46FE}"/>
              </a:ext>
            </a:extLst>
          </p:cNvPr>
          <p:cNvSpPr/>
          <p:nvPr/>
        </p:nvSpPr>
        <p:spPr>
          <a:xfrm>
            <a:off x="2360980" y="6009640"/>
            <a:ext cx="1651000" cy="3048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프롬프트 원문 보기</a:t>
            </a:r>
          </a:p>
        </p:txBody>
      </p:sp>
      <p:sp>
        <p:nvSpPr>
          <p:cNvPr id="39" name="원문 보기 버튼 - 지표선택">
            <a:extLst>
              <a:ext uri="{FF2B5EF4-FFF2-40B4-BE49-F238E27FC236}">
                <a16:creationId xmlns:a16="http://schemas.microsoft.com/office/drawing/2014/main" id="{710EE621-E49B-D7A6-8ED5-698E2F599FC6}"/>
              </a:ext>
            </a:extLst>
          </p:cNvPr>
          <p:cNvSpPr/>
          <p:nvPr/>
        </p:nvSpPr>
        <p:spPr>
          <a:xfrm>
            <a:off x="8176564" y="6009640"/>
            <a:ext cx="1651000" cy="3048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프롬프트 원문 보기</a:t>
            </a:r>
          </a:p>
        </p:txBody>
      </p:sp>
      <p:grpSp>
        <p:nvGrpSpPr>
          <p:cNvPr id="21" name="원문 오버레이 - 테이블선택">
            <a:extLst>
              <a:ext uri="{FF2B5EF4-FFF2-40B4-BE49-F238E27FC236}">
                <a16:creationId xmlns:a16="http://schemas.microsoft.com/office/drawing/2014/main" id="{74F7E643-2B44-BB71-CE9A-9CBFF6FCE935}"/>
              </a:ext>
            </a:extLst>
          </p:cNvPr>
          <p:cNvGrpSpPr/>
          <p:nvPr/>
        </p:nvGrpSpPr>
        <p:grpSpPr>
          <a:xfrm>
            <a:off x="368300" y="927100"/>
            <a:ext cx="11455400" cy="5651500"/>
            <a:chOff x="368300" y="927100"/>
            <a:chExt cx="11455400" cy="5651500"/>
          </a:xfrm>
        </p:grpSpPr>
        <p:sp>
          <p:nvSpPr>
            <p:cNvPr id="14" name="원문 배경 - 테이블선택">
              <a:extLst>
                <a:ext uri="{FF2B5EF4-FFF2-40B4-BE49-F238E27FC236}">
                  <a16:creationId xmlns:a16="http://schemas.microsoft.com/office/drawing/2014/main" id="{B89DE451-9D6D-1562-8FC9-B3FCB8F32D43}"/>
                </a:ext>
              </a:extLst>
            </p:cNvPr>
            <p:cNvSpPr/>
            <p:nvPr/>
          </p:nvSpPr>
          <p:spPr>
            <a:xfrm>
              <a:off x="368300" y="927100"/>
              <a:ext cx="11455400" cy="5651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B4FE0"/>
              </a:solidFill>
            </a:ln>
            <a:effectLst>
              <a:outerShdw blurRad="152400" dist="38100" dir="5400000" rotWithShape="0">
                <a:scrgbClr r="0" g="0" b="0">
                  <a:alpha val="30000"/>
                </a:sc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원문 제목 - 테이블선택">
              <a:extLst>
                <a:ext uri="{FF2B5EF4-FFF2-40B4-BE49-F238E27FC236}">
                  <a16:creationId xmlns:a16="http://schemas.microsoft.com/office/drawing/2014/main" id="{1B336A1E-D7A1-BA71-6355-DCC192AF8CCC}"/>
                </a:ext>
              </a:extLst>
            </p:cNvPr>
            <p:cNvSpPr/>
            <p:nvPr/>
          </p:nvSpPr>
          <p:spPr>
            <a:xfrm>
              <a:off x="469900" y="1028700"/>
              <a:ext cx="11252200" cy="330200"/>
            </a:xfrm>
            <a:prstGeom prst="roundRect">
              <a:avLst>
                <a:gd name="adj" fmla="val 20000"/>
              </a:avLst>
            </a:prstGeom>
            <a:solidFill>
              <a:srgbClr val="5B4FE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r>
                <a:rPr lang="ko-KR" altLang="en-US" sz="12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테이블 선택 · 지표 판단 프롬프트 원문   IF-LLM-001   (user 는 테이블 3개만 발췌)</a:t>
              </a:r>
            </a:p>
          </p:txBody>
        </p:sp>
        <p:sp>
          <p:nvSpPr>
            <p:cNvPr id="16" name="원문 닫기 안내 - 테이블선택">
              <a:extLst>
                <a:ext uri="{FF2B5EF4-FFF2-40B4-BE49-F238E27FC236}">
                  <a16:creationId xmlns:a16="http://schemas.microsoft.com/office/drawing/2014/main" id="{1FC85FCE-8FD4-E96F-78D3-55DAA9DFC4D3}"/>
                </a:ext>
              </a:extLst>
            </p:cNvPr>
            <p:cNvSpPr txBox="1"/>
            <p:nvPr/>
          </p:nvSpPr>
          <p:spPr>
            <a:xfrm>
              <a:off x="9664700" y="11176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ko-KR" altLang="en-US" sz="900">
                  <a:solidFill>
                    <a:srgbClr val="FFFFFF"/>
                  </a:solidFill>
                  <a:latin typeface="맑은 고딕" panose="020B0503020000020004" pitchFamily="50" charset="-127"/>
                </a:rPr>
                <a:t>클릭하면 닫힙니다  ✕</a:t>
              </a:r>
            </a:p>
          </p:txBody>
        </p:sp>
        <p:sp>
          <p:nvSpPr>
            <p:cNvPr id="17" name="원문 라벨 0 - 테이블선택">
              <a:extLst>
                <a:ext uri="{FF2B5EF4-FFF2-40B4-BE49-F238E27FC236}">
                  <a16:creationId xmlns:a16="http://schemas.microsoft.com/office/drawing/2014/main" id="{5EF284DF-4E5C-B45F-F09B-19F07ADD5103}"/>
                </a:ext>
              </a:extLst>
            </p:cNvPr>
            <p:cNvSpPr txBox="1"/>
            <p:nvPr/>
          </p:nvSpPr>
          <p:spPr>
            <a:xfrm>
              <a:off x="596900" y="1485900"/>
              <a:ext cx="5372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00" b="1">
                  <a:solidFill>
                    <a:srgbClr val="5B4FE0"/>
                  </a:solidFill>
                  <a:latin typeface="맑은 고딕" panose="020B0503020000020004" pitchFamily="50" charset="-127"/>
                </a:rPr>
                <a:t>system</a:t>
              </a:r>
              <a:endParaRPr lang="ko-KR" altLang="en-US" sz="1000" b="1">
                <a:solidFill>
                  <a:srgbClr val="5B4FE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" name="원문 본문 0 - 테이블선택">
              <a:extLst>
                <a:ext uri="{FF2B5EF4-FFF2-40B4-BE49-F238E27FC236}">
                  <a16:creationId xmlns:a16="http://schemas.microsoft.com/office/drawing/2014/main" id="{AC116902-22FD-C2DC-3344-9F9EFF71166E}"/>
                </a:ext>
              </a:extLst>
            </p:cNvPr>
            <p:cNvSpPr txBox="1"/>
            <p:nvPr/>
          </p:nvSpPr>
          <p:spPr>
            <a:xfrm>
              <a:off x="596900" y="1714500"/>
              <a:ext cx="5372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당신은 업무 시스템 'baroness개발서버' 의 테이블 목록에서 질문에 답할 테이블을 고르고, 지표가 필요한 질문인지 판단하는 역할입니다.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[업무 영역]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차량 BMS 수집·운행·경고 데이터. 차량별 상태, 가동시간, 경고 이력을 주로 조회</a:t>
              </a:r>
            </a:p>
            <a:p>
              <a:endParaRPr lang="ko-KR" altLang="en-US" sz="90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[규칙]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질문에 답하는 데 꼭 필요한 테이블만 고릅니다 (보통 하나, 조인이 필요할 때만 여럿). 목록의 테이블 이름을 그대로 적습니다.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컬럼 뒤의 [계산 필요] 는 값을 그대로 합치거나 평균내면 틀리는 컬럼입니다 (예: 계속 커지는 누적값).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이 컬럼으로 합계·사용량·기간 증감·비율처럼 계산해야 답할 수 있는 질문은 지표가 필요한 질문입니다 (needs_metric: true).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값을 그대로 보여 주기만 하면 (목록, 마지막 값 등) 지표가 필요하지 않습니다.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지표가 필요한 질문이면 그 테이블의 [지표] 중 질문에 맞는 지표 이름을 metric 에 그대로 적습니다. 맞는 지표가 없으면 metric 은 null 입니다.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질문이 여러 갈래로 읽혀 정할 수 없을 때만 clarify 에 사용자에게 물을 한 문장을 적습니다. 그 밖에는 빈 문자열입니다.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설명 없이 JSON 객체 하나로만 답합니다:</a:t>
              </a:r>
            </a:p>
            <a:p>
              <a:r>
                <a:rPr lang="ko-KR" altLang="en-US" sz="9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{"tables": ["테이블"], "needs_metric": false, "metric": null, "reason": "판단 이유", "clarify": ""}</a:t>
              </a:r>
            </a:p>
          </p:txBody>
        </p:sp>
        <p:sp>
          <p:nvSpPr>
            <p:cNvPr id="19" name="원문 라벨 1 - 테이블선택">
              <a:extLst>
                <a:ext uri="{FF2B5EF4-FFF2-40B4-BE49-F238E27FC236}">
                  <a16:creationId xmlns:a16="http://schemas.microsoft.com/office/drawing/2014/main" id="{5CB58322-98A1-FD70-6294-5EED99F113AE}"/>
                </a:ext>
              </a:extLst>
            </p:cNvPr>
            <p:cNvSpPr txBox="1"/>
            <p:nvPr/>
          </p:nvSpPr>
          <p:spPr>
            <a:xfrm>
              <a:off x="6223000" y="1485900"/>
              <a:ext cx="5372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00" b="1">
                  <a:solidFill>
                    <a:srgbClr val="5B4FE0"/>
                  </a:solidFill>
                  <a:latin typeface="맑은 고딕" panose="020B0503020000020004" pitchFamily="50" charset="-127"/>
                </a:rPr>
                <a:t>user</a:t>
              </a:r>
              <a:endParaRPr lang="ko-KR" altLang="en-US" sz="1000" b="1">
                <a:solidFill>
                  <a:srgbClr val="5B4FE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" name="원문 본문 1 - 테이블선택">
              <a:extLst>
                <a:ext uri="{FF2B5EF4-FFF2-40B4-BE49-F238E27FC236}">
                  <a16:creationId xmlns:a16="http://schemas.microsoft.com/office/drawing/2014/main" id="{4D4BD72C-B615-14D5-31C1-0D99212D4570}"/>
                </a:ext>
              </a:extLst>
            </p:cNvPr>
            <p:cNvSpPr txBox="1"/>
            <p:nvPr/>
          </p:nvSpPr>
          <p:spPr>
            <a:xfrm>
              <a:off x="6223000" y="1714500"/>
              <a:ext cx="5372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[테이블 목록]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bms_collect_info: 데이터 수집시간 정보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컬럼: vehicle_id(장비 ID), topic(수집 토픽명), last_collect_datetime(마지막 수집일시), datatime(마지막 기록 일시)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bms_log: 차량 로그 수집시간별 데이터가 누적되므로 집계시 유의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컬럼: collect_datetime(수집 일시), vehicle_id(차량 시리얼 번호), datatime(기록일시), timezone(시간대), err_code(오류 코드 : 0 = 정상(正常), 1 = 2~6 이외 모두(2~6以外全て), 2 = 장애물 감지(…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[지표] 작업 면적: 차량별 하루 작업(깎은) 면적. wk_area 는 누적값이라 하루의 MAX - MIN 으로 구한다. (같은 말: 깎은 면적, 작업량)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[지표] 연료 사용량: 차량별 하루 연료 사용량. fuel_cons 는 누적값이라 하루의 MAX - MIN 으로 구한다. (같은 말: 연료 소비량, 기름 사용량)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[지표] 무인 가동시간: 차량별 하루 무인 가동시간. uman_time 은 계속 커지는 누적값이라 하루의 MAX - MIN 으로 구한다. 기간 합계는 일별 값을 더한다. (같은 말: 무인 운행시간, 무인 시간)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[지표] 엔진 가동시간: 차량별 하루 가동시간. eg_time 은 누적값이라 하루의 MAX - MIN 으로 구한다. (같은 말: 가동시간, 운행시간, 엔진 시간)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[지표] 무인 가동 비율: 날짜별 무인 가동시간 / 엔진 가동시간. 차량별 하루 증가분(MAX - MIN)을 먼저 구해 날짜별로 합친 뒤 나눈다. (같은 말: 무인 비율, 자율 운행 비율)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vehicle_info: 차량 기본 정보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컬럼: vehicle_id(차량 시리얼 번호), model(차량 모델), specification(차량 모델 상세), function_limit</a:t>
              </a:r>
            </a:p>
            <a:p>
              <a:endParaRPr lang="en-US" altLang="ko-KR" sz="80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… 외 13개 테이블</a:t>
              </a:r>
            </a:p>
            <a:p>
              <a:endParaRPr lang="en-US" altLang="ko-KR" sz="80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[질문]</a:t>
              </a:r>
            </a:p>
            <a:p>
              <a:r>
                <a:rPr lang="en-US" altLang="ko-KR" sz="80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최근 5일 차량별 무인 가동시간 합계</a:t>
              </a:r>
            </a:p>
          </p:txBody>
        </p:sp>
      </p:grpSp>
      <p:grpSp>
        <p:nvGrpSpPr>
          <p:cNvPr id="37" name="원문 오버레이 - AST생성">
            <a:extLst>
              <a:ext uri="{FF2B5EF4-FFF2-40B4-BE49-F238E27FC236}">
                <a16:creationId xmlns:a16="http://schemas.microsoft.com/office/drawing/2014/main" id="{6E8D7592-9304-244A-A565-CC2FE7C4570A}"/>
              </a:ext>
            </a:extLst>
          </p:cNvPr>
          <p:cNvGrpSpPr/>
          <p:nvPr/>
        </p:nvGrpSpPr>
        <p:grpSpPr>
          <a:xfrm>
            <a:off x="368300" y="927100"/>
            <a:ext cx="11455400" cy="5651500"/>
            <a:chOff x="368300" y="927100"/>
            <a:chExt cx="11455400" cy="5651500"/>
          </a:xfrm>
        </p:grpSpPr>
        <p:sp>
          <p:nvSpPr>
            <p:cNvPr id="30" name="원문 배경 - AST생성">
              <a:extLst>
                <a:ext uri="{FF2B5EF4-FFF2-40B4-BE49-F238E27FC236}">
                  <a16:creationId xmlns:a16="http://schemas.microsoft.com/office/drawing/2014/main" id="{8F55B018-DD1E-4423-10B7-3095FD062005}"/>
                </a:ext>
              </a:extLst>
            </p:cNvPr>
            <p:cNvSpPr/>
            <p:nvPr/>
          </p:nvSpPr>
          <p:spPr>
            <a:xfrm>
              <a:off x="368300" y="927100"/>
              <a:ext cx="11455400" cy="56515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B4FE0"/>
              </a:solidFill>
            </a:ln>
            <a:effectLst>
              <a:outerShdw blurRad="152400" dist="38100" dir="5400000" rotWithShape="0">
                <a:scrgbClr r="0" g="0" b="0">
                  <a:alpha val="30000"/>
                </a:sc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원문 제목 - AST생성">
              <a:extLst>
                <a:ext uri="{FF2B5EF4-FFF2-40B4-BE49-F238E27FC236}">
                  <a16:creationId xmlns:a16="http://schemas.microsoft.com/office/drawing/2014/main" id="{519A2C29-B282-1F14-46C9-5788B043BE93}"/>
                </a:ext>
              </a:extLst>
            </p:cNvPr>
            <p:cNvSpPr/>
            <p:nvPr/>
          </p:nvSpPr>
          <p:spPr>
            <a:xfrm>
              <a:off x="469900" y="1028700"/>
              <a:ext cx="11252200" cy="330200"/>
            </a:xfrm>
            <a:prstGeom prst="roundRect">
              <a:avLst>
                <a:gd name="adj" fmla="val 20000"/>
              </a:avLst>
            </a:prstGeom>
            <a:solidFill>
              <a:srgbClr val="5B4FE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52400" rtlCol="0" anchor="ctr"/>
            <a:lstStyle/>
            <a:p>
              <a:r>
                <a:rPr lang="en-US" altLang="ko-KR" sz="12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AST 생성 프롬프트 원문   IF-LLM-002   (컬럼 목록은 발췌)</a:t>
              </a:r>
              <a:endPara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" name="원문 닫기 안내 - AST생성">
              <a:extLst>
                <a:ext uri="{FF2B5EF4-FFF2-40B4-BE49-F238E27FC236}">
                  <a16:creationId xmlns:a16="http://schemas.microsoft.com/office/drawing/2014/main" id="{969E78FB-AF54-E4F0-4E2C-D007ADA188CA}"/>
                </a:ext>
              </a:extLst>
            </p:cNvPr>
            <p:cNvSpPr txBox="1"/>
            <p:nvPr/>
          </p:nvSpPr>
          <p:spPr>
            <a:xfrm>
              <a:off x="9664700" y="11176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ko-KR" altLang="en-US" sz="900">
                  <a:solidFill>
                    <a:srgbClr val="FFFFFF"/>
                  </a:solidFill>
                  <a:latin typeface="맑은 고딕" panose="020B0503020000020004" pitchFamily="50" charset="-127"/>
                </a:rPr>
                <a:t>클릭하면 닫힙니다  ✕</a:t>
              </a:r>
            </a:p>
          </p:txBody>
        </p:sp>
        <p:sp>
          <p:nvSpPr>
            <p:cNvPr id="33" name="원문 라벨 0 - AST생성">
              <a:extLst>
                <a:ext uri="{FF2B5EF4-FFF2-40B4-BE49-F238E27FC236}">
                  <a16:creationId xmlns:a16="http://schemas.microsoft.com/office/drawing/2014/main" id="{2036D8CE-235A-A045-0FAD-C958D1747B29}"/>
                </a:ext>
              </a:extLst>
            </p:cNvPr>
            <p:cNvSpPr txBox="1"/>
            <p:nvPr/>
          </p:nvSpPr>
          <p:spPr>
            <a:xfrm>
              <a:off x="596900" y="1485900"/>
              <a:ext cx="508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00" b="1">
                  <a:solidFill>
                    <a:srgbClr val="5B4FE0"/>
                  </a:solidFill>
                  <a:latin typeface="맑은 고딕" panose="020B0503020000020004" pitchFamily="50" charset="-127"/>
                </a:rPr>
                <a:t>system  역할, 날짜, AST 모양, 규칙</a:t>
              </a:r>
            </a:p>
          </p:txBody>
        </p:sp>
        <p:sp>
          <p:nvSpPr>
            <p:cNvPr id="34" name="원문 본문 0 - AST생성">
              <a:extLst>
                <a:ext uri="{FF2B5EF4-FFF2-40B4-BE49-F238E27FC236}">
                  <a16:creationId xmlns:a16="http://schemas.microsoft.com/office/drawing/2014/main" id="{60C86D04-01F1-E773-63E9-657F785FC659}"/>
                </a:ext>
              </a:extLst>
            </p:cNvPr>
            <p:cNvSpPr txBox="1"/>
            <p:nvPr/>
          </p:nvSpPr>
          <p:spPr>
            <a:xfrm>
              <a:off x="596900" y="1714500"/>
              <a:ext cx="508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당신은 질문을 'baroness개발서버' 데이터베이스(postgresql)의 조회 명세(AST, JSON)로 바꾸는 역할입니다.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[업무 영역]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차량 BMS 수집·운행·경고 데이터. 차량별 상태, 가동시간, 경고 이력을 주로 조회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[오늘]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2026-10-16 (금요일) 현재 시각 11:37. "최근 7일", "지난달" 같은 표현은 이 날짜를 기준으로 계산해 'YYYY-MM-DD' 또는 'YYYY-MM-DD HH:MM:SS' 로 적습니다.</a:t>
              </a:r>
            </a:p>
            <a:p>
              <a:endParaRPr lang="ko-KR" altLang="en-US" sz="75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[AST 모양]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{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"from": "테이블" 또는 {"query": 하위 AST, "as": "별칭"},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"joins": [{"table": "테이블", "type": "inner|left", "on": [["a.컬럼", "b.컬럼"]]}],   (필요할 때만)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"select": [{"expr": 식, "as": "결과 이름"}],   모든 컬럼은 {"expr": {"col": "*"}}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"distinct": true,   (중복을 뺄 때만)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"where": [조건], "group_by": [식], "having": [조건],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"order_by": [{"expr": 식, "dir": "asc|desc"}], "limit": 숫자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}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식: {"col": "컬럼"} | {"num": 1} | {"str": "문자"} | {"fn": "함수", "args": [식, ...]}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집계: SUM AVG MIN MAX COUNT(인자 없으면 *) COUNT_DISTINCT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계산: ADD SUB MUL DIV(0 으로 나누면 NULL)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함수: ABS ROUND COALESCE NULLIF GREATEST LEAST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날짜: DATE(날짜만), {"fn": "DATE_TRUNC", "unit": "hour|day|week|month|year", "args": [식]},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      ADD_HOURS [식, {"num": n}], ADD_DAYS [식, {"num": n}], NOW, CURRENT_DATE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순위: {"fn": "ROW_NUMBER", "partition_by": [식], "order_by": [{"expr": 식, "dir": "desc"}]}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조건: {"expr": 식, "op": "= != &gt; &gt;= &lt; &lt;= in not_in between like not_like is_null is_not_null", "value": 값 또는 식}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    목록은 모두 AND. OR 은 {"or": [조건, ...]}, 그 안의 AND 묶음은 {"and": [조건, ...]}</a:t>
              </a:r>
            </a:p>
            <a:p>
              <a:endParaRPr lang="ko-KR" altLang="en-US" sz="75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[규칙]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아래 [테이블] 에 없는 테이블·컬럼은 쓰지 않습니다. 여러 테이블을 쓰면 컬럼을 '테이블.컬럼' 으로 적습니다.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집계 안에 집계는 쓸 수 없습니다. 두 단계 집계(예: 장비·일별로 먼저 구한 뒤 일별 합계)는 from 에 하위 쿼리를 둡니다.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하위 쿼리 바깥에서는 하위 쿼리 select 의 "as" 이름을 컬럼으로 씁니다.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순위로 거르려면(예: 단위별 마지막 건) 하위 쿼리에서 ROW_NUMBER 를 구하고 바깥 where 에서 거릅니다.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집계하지 않은 select 항목은 group_by 에 같은 식으로 넣습니다.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컬럼 뒤의 [UTC 보정] 은 DB 에 UTC 로 저장됐지만 자동으로 현지 시각으로 바뀌는 컬럼입니다. 날짜·시각은 현지 기준 그대로 적고, ADD_HOURS 로 직접 바꾸지 마십시오.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시각을 포함한 컬럼의 기간은 시작은 &gt;=, 끝은 &lt; 다음 날로 적습니다.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질문만으로 조회를 정할 수 없으면 {"clarify": "사용자에게 물을 한 문장"} 으로 답합니다.</a:t>
              </a:r>
            </a:p>
            <a:p>
              <a:r>
                <a:rPr lang="ko-KR" altLang="en-US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- 설명 없이 JSON 객체 하나로만 답합니다: {"ast": AST, "reason": "설명"}</a:t>
              </a:r>
            </a:p>
          </p:txBody>
        </p:sp>
        <p:sp>
          <p:nvSpPr>
            <p:cNvPr id="35" name="원문 라벨 1 - AST생성">
              <a:extLst>
                <a:ext uri="{FF2B5EF4-FFF2-40B4-BE49-F238E27FC236}">
                  <a16:creationId xmlns:a16="http://schemas.microsoft.com/office/drawing/2014/main" id="{3304371A-5BD7-B0E7-B0B6-4AD0AD088D37}"/>
                </a:ext>
              </a:extLst>
            </p:cNvPr>
            <p:cNvSpPr txBox="1"/>
            <p:nvPr/>
          </p:nvSpPr>
          <p:spPr>
            <a:xfrm>
              <a:off x="5930900" y="1485900"/>
              <a:ext cx="56642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00" b="1">
                  <a:solidFill>
                    <a:srgbClr val="5B4FE0"/>
                  </a:solidFill>
                  <a:latin typeface="맑은 고딕" panose="020B0503020000020004" pitchFamily="50" charset="-127"/>
                </a:rPr>
                <a:t>user  고른 테이블, 지표 SQL·AST, 질문</a:t>
              </a:r>
              <a:endParaRPr lang="ko-KR" altLang="en-US" sz="1000" b="1">
                <a:solidFill>
                  <a:srgbClr val="5B4FE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" name="원문 본문 1 - AST생성">
              <a:extLst>
                <a:ext uri="{FF2B5EF4-FFF2-40B4-BE49-F238E27FC236}">
                  <a16:creationId xmlns:a16="http://schemas.microsoft.com/office/drawing/2014/main" id="{AF52396F-9A05-9EE2-F7FC-3DD155FFBDCD}"/>
                </a:ext>
              </a:extLst>
            </p:cNvPr>
            <p:cNvSpPr txBox="1"/>
            <p:nvPr/>
          </p:nvSpPr>
          <p:spPr>
            <a:xfrm>
              <a:off x="5930900" y="1714500"/>
              <a:ext cx="56642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[테이블]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[bms_log] 차량 로그 수집시간별 데이터가 누적되므로 집계시 유의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collect_datetime (timestamp without time zone): 수집 일시 [UTC 보정]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vehicle_id (character varying): 차량 시리얼 번호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datatime (character varying): 기록일시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timezone (double precision): 시간대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err_code (smallint): 오류 코드 : 0 = 정상(正常), 1 = 2~6 이외 모두(2~6以外全て), 2 = 장애물 감지(障害物検出), 3 = 측위 품질 저하(測位品質低下), 4 = 나침반 모드 오류(コンパスモードエラー), 5 = 적합률 저하(適合率低下), 6 = IMU 상태, 자세각 처리(IMUステータス、姿勢角処理)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eg_time (real): 가동시간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- … 외 55개 컬럼 (uman_time (real): 무인 가동 시간 포함)</a:t>
              </a:r>
            </a:p>
            <a:p>
              <a:endParaRPr lang="en-US" altLang="ko-KR" sz="75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[지표] 무인 가동시간 — 차량별 하루 무인 가동시간. uman_time 은 계속 커지는 누적값이라 하루의 MAX - MIN 으로 구한다. 기간 합계는 일별 값을 더한다.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등록된 SQL: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select date(collect_datetime + interval '9 hours') as day, vehicle_id, max(uman_time) - min(uman_time) as uman_hours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 from bms_log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where collect_datetime &gt;= timestamp '2026-10-01 00:00:00' - interval '9 hours'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 group by 1, 2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등록된 AST: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{"from": "bms_log", "where": [{"op": "&gt;=", "expr": {"col": "collect_datetime"}, "value": "2026-10-01 00:00:00"}], "select": [{"as": "day", "expr": {"fn": "DATE", "args": [{"col": "collect_datetime"}]}}, {"as": "vehicle_id", "expr": {"col": "vehicle_id"}}, {"as": "uman_hours", "expr": {"fn": "SUB", "args": [{"fn": "MAX", "args": [{"col": "uman_time"}]}, {"fn": "MIN", "args": [{"col": "uman_time"}]}]}}], "group_by": [{"fn": "DATE", "args": [{"col": "collect_datetime"}]}, {"col": "vehicle_id"}]}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이 지표의 AST 를 바탕으로 질문에 맞게 기간·조건·묶음·정렬·개수만 바꾸십시오. 계산 부분(select 의 식)은 그대로 둡니다.</a:t>
              </a:r>
            </a:p>
            <a:p>
              <a:endParaRPr lang="en-US" altLang="ko-KR" sz="750" b="0">
                <a:solidFill>
                  <a:srgbClr val="292929"/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[질문]</a:t>
              </a:r>
            </a:p>
            <a:p>
              <a:r>
                <a:rPr lang="en-US" altLang="ko-KR" sz="750" b="0">
                  <a:solidFill>
                    <a:srgbClr val="292929"/>
                  </a:solidFill>
                  <a:latin typeface="맑은 고딕" panose="020B0503020000020004" pitchFamily="50" charset="-127"/>
                </a:rPr>
                <a:t>최근 5일 차량별 무인 가동시간 합계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365760" y="182880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5장  질문이 SQL이 되는 흐름  2026-10-16 실제 실행 기록  baroness 차량 BMS DB  LLM 요청 2번  총 39.5초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5760" y="402336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질문 한 줄이 </a:t>
            </a:r>
            <a:r>
              <a:rPr lang="en-US" sz="2200" b="1" dirty="0" err="1">
                <a:solidFill>
                  <a:schemeClr val="tx1"/>
                </a:solidFill>
              </a:rPr>
              <a:t>SQL이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되기까지</a:t>
            </a:r>
            <a:endParaRPr lang="en-US" sz="2200" dirty="0"/>
          </a:p>
        </p:txBody>
      </p:sp>
      <p:sp>
        <p:nvSpPr>
          <p:cNvPr id="4" name="사용자 질문"/>
          <p:cNvSpPr/>
          <p:nvPr/>
        </p:nvSpPr>
        <p:spPr>
          <a:xfrm>
            <a:off x="365760" y="914400"/>
            <a:ext cx="1145743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사용자 질문   “최근 5일 차량별 무인 가동시간 합계”</a:t>
            </a:r>
            <a:endParaRPr lang="en-US" sz="1100" dirty="0"/>
          </a:p>
        </p:txBody>
      </p:sp>
      <p:sp>
        <p:nvSpPr>
          <p:cNvPr id="5" name="묶음 1~5"/>
          <p:cNvSpPr/>
          <p:nvPr/>
        </p:nvSpPr>
        <p:spPr>
          <a:xfrm>
            <a:off x="365760" y="1408176"/>
            <a:ext cx="2331720" cy="310896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1E1B4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묶음 1~5 제목"/>
          <p:cNvSpPr/>
          <p:nvPr/>
        </p:nvSpPr>
        <p:spPr>
          <a:xfrm>
            <a:off x="493776" y="1536192"/>
            <a:ext cx="207568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메타 DB 조회</a:t>
            </a:r>
            <a:endParaRPr lang="en-US" sz="1100" dirty="0"/>
          </a:p>
        </p:txBody>
      </p:sp>
      <p:sp>
        <p:nvSpPr>
          <p:cNvPr id="9" name="묶음 1~5 내용"/>
          <p:cNvSpPr/>
          <p:nvPr/>
        </p:nvSpPr>
        <p:spPr>
          <a:xfrm>
            <a:off x="493776" y="1993392"/>
            <a:ext cx="2075688" cy="2395728"/>
          </a:xfrm>
          <a:prstGeom prst="roundRect">
            <a:avLst>
              <a:gd name="adj" fmla="val 2203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tx1"/>
                </a:solidFill>
              </a:rPr>
              <a:t>LLM 없이, 질문할 때마다 새로 조회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tx1"/>
                </a:solidFill>
              </a:rPr>
              <a:t>1  meta_system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시스템(DB) 정보 · 업무 영역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tx1"/>
                </a:solidFill>
              </a:rPr>
              <a:t>2  meta_table  meta_column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테이블 · 컬럼 · 계산 필요 · UTC 시차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tx1"/>
                </a:solidFill>
              </a:rPr>
              <a:t>3  metric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지표 (active 상태만) · 등록 SQL · AST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tx1"/>
                </a:solidFill>
              </a:rPr>
              <a:t>4  metric_table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테이블마다 붙일 지표 설명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tx1"/>
                </a:solidFill>
              </a:rPr>
              <a:t>5  meta_relation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테이블 조인 관계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소스: contract.py (load_contract)  0.04초</a:t>
            </a:r>
            <a:endParaRPr lang="en-US" sz="800" dirty="0"/>
          </a:p>
        </p:txBody>
      </p:sp>
      <p:sp>
        <p:nvSpPr>
          <p:cNvPr id="10" name="화살표 1→2"/>
          <p:cNvSpPr/>
          <p:nvPr/>
        </p:nvSpPr>
        <p:spPr>
          <a:xfrm>
            <a:off x="2752344" y="2807208"/>
            <a:ext cx="256032" cy="310896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묶음 6~9"/>
          <p:cNvSpPr/>
          <p:nvPr/>
        </p:nvSpPr>
        <p:spPr>
          <a:xfrm>
            <a:off x="3063240" y="1408176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1E1B4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묶음 6~9 제목"/>
          <p:cNvSpPr/>
          <p:nvPr/>
        </p:nvSpPr>
        <p:spPr>
          <a:xfrm>
            <a:off x="3191256" y="1536192"/>
            <a:ext cx="248716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/>
                </a:solidFill>
              </a:rPr>
              <a:t>테이블 선택 · 지표 판단</a:t>
            </a:r>
            <a:endParaRPr lang="en-US" sz="1100" dirty="0"/>
          </a:p>
        </p:txBody>
      </p:sp>
      <p:sp>
        <p:nvSpPr>
          <p:cNvPr id="15" name="묶음 6~9 내용"/>
          <p:cNvSpPr/>
          <p:nvPr/>
        </p:nvSpPr>
        <p:spPr>
          <a:xfrm>
            <a:off x="3191256" y="1993392"/>
            <a:ext cx="2487168" cy="2395728"/>
          </a:xfrm>
          <a:prstGeom prst="roundRect">
            <a:avLst>
              <a:gd name="adj" fmla="val 1908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accent1"/>
                </a:solidFill>
              </a:rPr>
              <a:t>6  LLM에 테이블 선택 요청</a:t>
            </a:r>
            <a:r>
              <a:rPr lang="en-US" sz="800" b="0" dirty="0">
                <a:solidFill>
                  <a:schemeClr val="tx1"/>
                </a:solidFill>
              </a:rPr>
              <a:t>  4.9초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보냄: 테이블 16개 + 컬럼(계산 필요 표시)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        + 테이블별 지표 이름 · 설명 · 같은 말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받음: bms_log, 지표 필요, 지표 '무인 가동시간'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(누적값의 하루 증가분 합계 → 지표 필요)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accent1"/>
                </a:solidFill>
              </a:rPr>
              <a:t>7  분기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되묻기 / 지표 없음 → 등록 안내 / 진행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→ 맞는 지표가 있어 진행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accent1"/>
                </a:solidFill>
              </a:rPr>
              <a:t>8  선택 결과만 전달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bms_log 컬럼과 지표 '무인 가동시간'의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등록 SQL · AST만 다음 LLM 요청에 넣음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소스: selector.py  ask.py</a:t>
            </a:r>
            <a:endParaRPr lang="en-US" sz="800" dirty="0"/>
          </a:p>
        </p:txBody>
      </p:sp>
      <p:sp>
        <p:nvSpPr>
          <p:cNvPr id="16" name="화살표 2→3"/>
          <p:cNvSpPr/>
          <p:nvPr/>
        </p:nvSpPr>
        <p:spPr>
          <a:xfrm>
            <a:off x="5861304" y="2807208"/>
            <a:ext cx="256032" cy="310896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묶음 9~14"/>
          <p:cNvSpPr/>
          <p:nvPr/>
        </p:nvSpPr>
        <p:spPr>
          <a:xfrm>
            <a:off x="6172200" y="1408176"/>
            <a:ext cx="324612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1E1B4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묶음 9~14 제목"/>
          <p:cNvSpPr/>
          <p:nvPr/>
        </p:nvSpPr>
        <p:spPr>
          <a:xfrm>
            <a:off x="6300216" y="1536192"/>
            <a:ext cx="2990088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AST 생성 → SQL 조합</a:t>
            </a:r>
            <a:endParaRPr lang="en-US" sz="1100" dirty="0"/>
          </a:p>
        </p:txBody>
      </p:sp>
      <p:sp>
        <p:nvSpPr>
          <p:cNvPr id="21" name="묶음 9~14 내용"/>
          <p:cNvSpPr/>
          <p:nvPr/>
        </p:nvSpPr>
        <p:spPr>
          <a:xfrm>
            <a:off x="6300216" y="1993392"/>
            <a:ext cx="2990088" cy="2395728"/>
          </a:xfrm>
          <a:prstGeom prst="roundRect">
            <a:avLst>
              <a:gd name="adj" fmla="val 1908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accent1"/>
                </a:solidFill>
              </a:rPr>
              <a:t>9  LLM에 AST 생성 요청</a:t>
            </a:r>
            <a:r>
              <a:rPr lang="en-US" sz="800" b="0" dirty="0">
                <a:solidFill>
                  <a:schemeClr val="tx1"/>
                </a:solidFill>
              </a:rPr>
              <a:t>  34.4초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보냄: bms_log 컬럼 + 지표 SQL·AST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        + AST 규칙 + 오늘 날짜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받음: AST(JSON) — 첫 시도에 컴파일 성공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chemeClr val="accent1"/>
                </a:solidFill>
              </a:rPr>
              <a:t>질문의 말 → AST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최근 5일 → collect_datetime 2026-10-12 ~ 10-16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무인 가동시간 → 지표 AST (차량 × 일 MAX − MIN)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차량별 합계 → 바깥에서 SUM, GROUP BY vehicle_id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/>
              <a:t>10  AST 검증 → SQL </a:t>
            </a:r>
            <a:r>
              <a:rPr lang="en-US" sz="800" b="1" dirty="0" err="1"/>
              <a:t>조합</a:t>
            </a:r>
            <a:r>
              <a:rPr lang="en-US" sz="800" b="1" dirty="0"/>
              <a:t> </a:t>
            </a:r>
            <a:r>
              <a:rPr lang="en-US" sz="800" b="0" dirty="0" err="1">
                <a:solidFill>
                  <a:schemeClr val="tx1"/>
                </a:solidFill>
              </a:rPr>
              <a:t>컴파일러가</a:t>
            </a:r>
            <a:r>
              <a:rPr lang="en-US" sz="800" b="0" dirty="0">
                <a:solidFill>
                  <a:schemeClr val="tx1"/>
                </a:solidFill>
              </a:rPr>
              <a:t> 검사하고 SQL로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UTC 보정: 날짜 묶음은 + 9시간, 조건 값은 − 9시간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PostgreSQL 문법 · 이름 따옴표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소스: ask.py  compiler.py</a:t>
            </a:r>
            <a:endParaRPr lang="en-US" sz="800" dirty="0"/>
          </a:p>
        </p:txBody>
      </p:sp>
      <p:sp>
        <p:nvSpPr>
          <p:cNvPr id="22" name="화살표 3→4"/>
          <p:cNvSpPr/>
          <p:nvPr/>
        </p:nvSpPr>
        <p:spPr>
          <a:xfrm>
            <a:off x="9473184" y="2807208"/>
            <a:ext cx="256032" cy="310896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묶음 15"/>
          <p:cNvSpPr/>
          <p:nvPr/>
        </p:nvSpPr>
        <p:spPr>
          <a:xfrm>
            <a:off x="9784080" y="1408176"/>
            <a:ext cx="2039112" cy="3108960"/>
          </a:xfrm>
          <a:prstGeom prst="roundRect">
            <a:avLst>
              <a:gd name="adj" fmla="val 448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1E1B4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묶음 15 제목"/>
          <p:cNvSpPr/>
          <p:nvPr/>
        </p:nvSpPr>
        <p:spPr>
          <a:xfrm>
            <a:off x="9912096" y="1536192"/>
            <a:ext cx="178308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기록 저장</a:t>
            </a:r>
            <a:endParaRPr lang="en-US" sz="1100" dirty="0"/>
          </a:p>
        </p:txBody>
      </p:sp>
      <p:sp>
        <p:nvSpPr>
          <p:cNvPr id="27" name="묶음 15 내용"/>
          <p:cNvSpPr/>
          <p:nvPr/>
        </p:nvSpPr>
        <p:spPr>
          <a:xfrm>
            <a:off x="9912096" y="1993392"/>
            <a:ext cx="1783080" cy="2395728"/>
          </a:xfrm>
          <a:prstGeom prst="roundRect">
            <a:avLst>
              <a:gd name="adj" fmla="val 2564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 err="1"/>
              <a:t>ask_log</a:t>
            </a:r>
            <a:endParaRPr lang="en-US" sz="800" b="1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</a:t>
            </a:r>
            <a:r>
              <a:rPr lang="en-US" sz="800" b="0" dirty="0" err="1">
                <a:solidFill>
                  <a:schemeClr val="tx1"/>
                </a:solidFill>
              </a:rPr>
              <a:t>질문</a:t>
            </a:r>
            <a:r>
              <a:rPr lang="en-US" sz="800" b="0" dirty="0">
                <a:solidFill>
                  <a:schemeClr val="tx1"/>
                </a:solidFill>
              </a:rPr>
              <a:t>  SQL  AST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 err="1"/>
              <a:t>ask_trace</a:t>
            </a:r>
            <a:endParaRPr lang="en-US" sz="800" b="1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단계별 선택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LLM이 무엇을 왜 골랐는지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(질문 기록 화면)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</a:t>
            </a:r>
            <a:endParaRPr lang="en-US" sz="800" b="1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/>
              <a:t>SQL은 </a:t>
            </a:r>
            <a:r>
              <a:rPr lang="en-US" sz="800" b="1" dirty="0" err="1"/>
              <a:t>만들기만</a:t>
            </a:r>
            <a:r>
              <a:rPr lang="en-US" sz="800" b="1" dirty="0"/>
              <a:t> </a:t>
            </a:r>
            <a:r>
              <a:rPr lang="en-US" sz="800" b="1" dirty="0" err="1"/>
              <a:t>하고</a:t>
            </a:r>
            <a:endParaRPr lang="en-US" sz="800" b="1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 err="1"/>
              <a:t>실행하지</a:t>
            </a:r>
            <a:r>
              <a:rPr lang="en-US" sz="800" b="1" dirty="0"/>
              <a:t> </a:t>
            </a:r>
            <a:r>
              <a:rPr lang="en-US" sz="800" b="1" dirty="0" err="1"/>
              <a:t>않음</a:t>
            </a:r>
            <a:endParaRPr lang="en-US" sz="800" b="1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1" dirty="0"/>
              <a:t>따로 </a:t>
            </a:r>
            <a:r>
              <a:rPr lang="en-US" sz="800" b="1" dirty="0" err="1"/>
              <a:t>실행한</a:t>
            </a:r>
            <a:r>
              <a:rPr lang="en-US" sz="800" b="1" dirty="0"/>
              <a:t> </a:t>
            </a:r>
            <a:r>
              <a:rPr lang="en-US" sz="800" b="1" dirty="0" err="1"/>
              <a:t>결과</a:t>
            </a:r>
            <a:endParaRPr lang="en-US" sz="800" b="1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159줄 (차량별)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단위: 시간</a:t>
            </a:r>
            <a:endParaRPr lang="en-US" sz="8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00" b="0" dirty="0">
                <a:solidFill>
                  <a:schemeClr val="tx1"/>
                </a:solidFill>
              </a:rPr>
              <a:t>    실행 2.29초</a:t>
            </a:r>
            <a:endParaRPr lang="en-US" sz="800" dirty="0"/>
          </a:p>
        </p:txBody>
      </p:sp>
      <p:sp>
        <p:nvSpPr>
          <p:cNvPr id="28" name="만들어진 SQL"/>
          <p:cNvSpPr/>
          <p:nvPr/>
        </p:nvSpPr>
        <p:spPr>
          <a:xfrm>
            <a:off x="365760" y="4645152"/>
            <a:ext cx="11457432" cy="2084832"/>
          </a:xfrm>
          <a:prstGeom prst="roundRect">
            <a:avLst>
              <a:gd name="adj" fmla="val 43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1E1B4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만들어진 SQL 제목"/>
          <p:cNvSpPr txBox="1"/>
          <p:nvPr/>
        </p:nvSpPr>
        <p:spPr>
          <a:xfrm>
            <a:off x="512064" y="4736592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만들어진 SQL</a:t>
            </a:r>
            <a:endParaRPr lang="en-US" sz="1000" dirty="0"/>
          </a:p>
        </p:txBody>
      </p:sp>
      <p:sp>
        <p:nvSpPr>
          <p:cNvPr id="30" name="만들어진 SQL 범례"/>
          <p:cNvSpPr txBox="1"/>
          <p:nvPr/>
        </p:nvSpPr>
        <p:spPr>
          <a:xfrm>
            <a:off x="512064" y="4736592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00" b="1">
                <a:solidFill>
                  <a:schemeClr val="accent1"/>
                </a:solidFill>
              </a:rPr>
              <a:t>■ 지표 정의   </a:t>
            </a:r>
            <a:r>
              <a:rPr sz="800" b="1">
                <a:solidFill>
                  <a:schemeClr val="accent3"/>
                </a:solidFill>
              </a:rPr>
              <a:t>■ LLM 판단   </a:t>
            </a:r>
            <a:r>
              <a:rPr sz="800" b="1">
                <a:solidFill>
                  <a:schemeClr val="tx2"/>
                </a:solidFill>
              </a:rPr>
              <a:t>■ 코드가 자동으로 붙임</a:t>
            </a:r>
            <a:endParaRPr lang="en-US" sz="800" dirty="0"/>
          </a:p>
        </p:txBody>
      </p:sp>
      <p:sp>
        <p:nvSpPr>
          <p:cNvPr id="31" name="만들어진 SQL 내용"/>
          <p:cNvSpPr/>
          <p:nvPr/>
        </p:nvSpPr>
        <p:spPr>
          <a:xfrm>
            <a:off x="512064" y="5029200"/>
            <a:ext cx="7543800" cy="1572768"/>
          </a:xfrm>
          <a:prstGeom prst="roundRect">
            <a:avLst>
              <a:gd name="adj" fmla="val 2907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SELECT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"vehicle_id" AS "vehicle_id", SUM("uman_hours") AS "total_uman_hours"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FROM (SELECT 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CAST((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"collect_datetime"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 + INTERVAL '9 hours') AS DATE)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 AS "day"</a:t>
            </a:r>
            <a:r>
              <a:rPr sz="800" b="0" dirty="0">
                <a:solidFill>
                  <a:schemeClr val="tx1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             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"vehicle_id" AS "vehicle_id"</a:t>
            </a:r>
            <a:r>
              <a:rPr sz="800" b="0" dirty="0">
                <a:solidFill>
                  <a:schemeClr val="tx1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             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(MAX("uman_time") - MIN("uman_time")) AS "uman_hours"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      FROM 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"bms_log"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      WHERE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"collect_datetime" &gt;= 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(TIMESTAMP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'2026-10-12 00:00:00'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 - INTERVAL '9 hours')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        AND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"collect_datetime" &lt; 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(TIMESTAMP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'2026-10-17 00:00:00'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 - INTERVAL '9 hours')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      GROUP BY 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CAST((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"collect_datetime"</a:t>
            </a:r>
            <a:r>
              <a:rPr sz="800" b="0" dirty="0">
                <a:solidFill>
                  <a:schemeClr val="tx2"/>
                </a:solidFill>
                <a:latin typeface="Consolas"/>
              </a:rPr>
              <a:t> + INTERVAL '9 hours') AS DATE)</a:t>
            </a:r>
            <a:r>
              <a:rPr sz="800" b="0" dirty="0">
                <a:solidFill>
                  <a:schemeClr val="accent1"/>
                </a:solidFill>
                <a:latin typeface="Consolas"/>
              </a:rPr>
              <a:t>, "vehicle_id"</a:t>
            </a:r>
            <a:r>
              <a:rPr sz="800" b="0" dirty="0">
                <a:solidFill>
                  <a:schemeClr val="tx1"/>
                </a:solidFill>
                <a:latin typeface="Consolas"/>
              </a:rPr>
              <a:t>)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"daily"</a:t>
            </a:r>
          </a:p>
          <a:p>
            <a:pPr marL="0" indent="0" algn="l">
              <a:buNone/>
            </a:pPr>
            <a:r>
              <a:rPr sz="800" b="0" dirty="0">
                <a:solidFill>
                  <a:schemeClr val="tx1"/>
                </a:solidFill>
                <a:latin typeface="Consolas"/>
              </a:rPr>
              <a:t>GROUP BY </a:t>
            </a:r>
            <a:r>
              <a:rPr sz="800" b="0" dirty="0">
                <a:solidFill>
                  <a:schemeClr val="accent3"/>
                </a:solidFill>
                <a:latin typeface="Consolas"/>
              </a:rPr>
              <a:t>"vehicle_id"</a:t>
            </a:r>
            <a:r>
              <a:rPr sz="800" b="0" dirty="0">
                <a:solidFill>
                  <a:schemeClr val="tx1"/>
                </a:solidFill>
                <a:latin typeface="Consolas"/>
              </a:rPr>
              <a:t>;</a:t>
            </a:r>
          </a:p>
        </p:txBody>
      </p:sp>
      <p:sp>
        <p:nvSpPr>
          <p:cNvPr id="32" name="만들어진 SQL 풀이"/>
          <p:cNvSpPr/>
          <p:nvPr/>
        </p:nvSpPr>
        <p:spPr>
          <a:xfrm>
            <a:off x="8193024" y="4736592"/>
            <a:ext cx="3483864" cy="1865376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t"/>
          <a:lstStyle/>
          <a:p>
            <a:pPr>
              <a:spcAft>
                <a:spcPts val="100"/>
              </a:spcAft>
            </a:pPr>
            <a:r>
              <a:rPr sz="800" b="1" dirty="0">
                <a:solidFill>
                  <a:schemeClr val="accent1"/>
                </a:solidFill>
              </a:rPr>
              <a:t>■ 지표 정의</a:t>
            </a:r>
            <a:r>
              <a:rPr sz="800" b="0" dirty="0">
                <a:solidFill>
                  <a:schemeClr val="tx1"/>
                </a:solidFill>
              </a:rPr>
              <a:t>  metric에 등록된 SQL을 옮긴 AST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LLM이 고른 지표: 무인 가동시간 (6단계)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차량 × 일별 MAX(uman_time) − MIN(uman_time)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기본 테이블 bms_log</a:t>
            </a:r>
          </a:p>
          <a:p>
            <a:pPr>
              <a:spcAft>
                <a:spcPts val="100"/>
              </a:spcAft>
            </a:pPr>
            <a:r>
              <a:rPr sz="800" b="1" dirty="0">
                <a:solidFill>
                  <a:schemeClr val="accent3"/>
                </a:solidFill>
              </a:rPr>
              <a:t>■ LLM 판단</a:t>
            </a:r>
            <a:r>
              <a:rPr sz="800" b="0" dirty="0">
                <a:solidFill>
                  <a:schemeClr val="tx1"/>
                </a:solidFill>
              </a:rPr>
              <a:t>  AST로 낸 조건 (9단계)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'최근 5일' → 2026-10-12 이상 ~ 2026-10-17 미만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'차량별 합계' → 지표를 하위 쿼리로 두고 바깥에서 SUM</a:t>
            </a:r>
          </a:p>
          <a:p>
            <a:pPr>
              <a:spcAft>
                <a:spcPts val="100"/>
              </a:spcAft>
            </a:pPr>
            <a:r>
              <a:rPr sz="800" b="1" dirty="0">
                <a:solidFill>
                  <a:schemeClr val="tx2"/>
                </a:solidFill>
              </a:rPr>
              <a:t>■ 코드가 자동으로 붙임</a:t>
            </a:r>
            <a:r>
              <a:rPr sz="800" b="0" dirty="0">
                <a:solidFill>
                  <a:schemeClr val="tx1"/>
                </a:solidFill>
              </a:rPr>
              <a:t>  SQL 조합 때 (10단계)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UTC 보정: 날짜 묶음은 + 9시간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조건 값은 − 9시간 (컬럼을 감싸지 않아 인덱스 사용)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chemeClr val="tx1"/>
                </a:solidFill>
              </a:rPr>
              <a:t>   CAST … AS DATE, 이름 따옴표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F36556-465C-449D-9162-F7737B1BB78B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6장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03FB716-D5CF-BECD-1589-73EF481C365B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LLM 결과 파싱 및 쿼리 전송</a:t>
            </a:r>
          </a:p>
        </p:txBody>
      </p:sp>
      <p:sp>
        <p:nvSpPr>
          <p:cNvPr id="4" name="LLM 결과 파싱"/>
          <p:cNvSpPr/>
          <p:nvPr/>
        </p:nvSpPr>
        <p:spPr>
          <a:xfrm>
            <a:off x="365760" y="987552"/>
            <a:ext cx="4663440" cy="55778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5" name="LLM 결과 파싱 제목"/>
          <p:cNvSpPr/>
          <p:nvPr/>
        </p:nvSpPr>
        <p:spPr>
          <a:xfrm>
            <a:off x="457200" y="1078992"/>
            <a:ext cx="4480559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LLM 결과 파싱</a:t>
            </a:r>
          </a:p>
        </p:txBody>
      </p:sp>
      <p:sp>
        <p:nvSpPr>
          <p:cNvPr id="6" name="LLM 결과 파싱 내용"/>
          <p:cNvSpPr/>
          <p:nvPr/>
        </p:nvSpPr>
        <p:spPr>
          <a:xfrm>
            <a:off x="457200" y="1481328"/>
            <a:ext cx="4480559" cy="499262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050" b="1" dirty="0" err="1">
                <a:solidFill>
                  <a:schemeClr val="accent1"/>
                </a:solidFill>
              </a:rPr>
              <a:t>테이블 선택 · 지표 판단 응답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1  코드펜스(```json) 제거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2  첫 { 부터 마지막 } 까지 JSON으로 파싱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3  tables · metric 이름을 실제 목록과 대조 (대소문자 무시)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4  틀리면 '형식이 틀렸습니다: 이유'를 붙여 1회 재요청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5  지표가 필요한데 metric 이 없음 → '지표 등록이 필요합니다'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AST 생성 응답 (JSON)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1  같은 방식으로 JSON 파싱, clarify 면 되묻기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2  compiler.py 검사: 테이블·컬럼 존재, 함수·연산자, 집계 규칙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3  UTC 보정: 날짜 묶음은 현지 시각, 조건 값은 UTC로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4  SQL 조합: 이름 따옴표, 0 나누기 방지(NULLIF), DB별 문법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0" dirty="0">
                <a:solidFill>
                  <a:schemeClr val="tx1"/>
                </a:solidFill>
              </a:rPr>
              <a:t>5  실패 시 '오류: 고칠 점'을 같은 대화에 붙여 재요청 (최대 3회 시도)</a:t>
            </a:r>
            <a:endParaRPr sz="1050" b="1" dirty="0">
              <a:solidFill>
                <a:schemeClr val="accent1"/>
              </a:solidFill>
            </a:endParaRPr>
          </a:p>
          <a:p>
            <a:pPr algn="l"/>
            <a:endParaRPr sz="1050" b="1" dirty="0">
              <a:solidFill>
                <a:schemeClr val="accent1"/>
              </a:solidFill>
            </a:endParaRPr>
          </a:p>
          <a:p>
            <a:pPr algn="l"/>
            <a:r>
              <a:rPr sz="1050" b="1" dirty="0" err="1">
                <a:solidFill>
                  <a:schemeClr val="accent1"/>
                </a:solidFill>
              </a:rPr>
              <a:t>결과</a:t>
            </a:r>
            <a:r>
              <a:rPr sz="1050" b="0" dirty="0">
                <a:solidFill>
                  <a:schemeClr val="tx1"/>
                </a:solidFill>
              </a:rPr>
              <a:t>  SQL  AST → ask_log, 단계별 기록 → ask_trace</a:t>
            </a:r>
            <a:endParaRPr sz="1050" b="1" dirty="0">
              <a:solidFill>
                <a:schemeClr val="accent1"/>
              </a:solidFill>
            </a:endParaRPr>
          </a:p>
        </p:txBody>
      </p:sp>
      <p:sp>
        <p:nvSpPr>
          <p:cNvPr id="8" name="화살표 1→2"/>
          <p:cNvSpPr/>
          <p:nvPr/>
        </p:nvSpPr>
        <p:spPr>
          <a:xfrm>
            <a:off x="5102352" y="3108960"/>
            <a:ext cx="274320" cy="310896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쿼리 전송"/>
          <p:cNvSpPr/>
          <p:nvPr/>
        </p:nvSpPr>
        <p:spPr>
          <a:xfrm>
            <a:off x="5468112" y="987552"/>
            <a:ext cx="2606040" cy="384048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10" name="쿼리 전송 제목"/>
          <p:cNvSpPr/>
          <p:nvPr/>
        </p:nvSpPr>
        <p:spPr>
          <a:xfrm>
            <a:off x="5559552" y="1078992"/>
            <a:ext cx="2423160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쿼리 전송</a:t>
            </a:r>
          </a:p>
        </p:txBody>
      </p:sp>
      <p:sp>
        <p:nvSpPr>
          <p:cNvPr id="11" name="쿼리 전송 내용"/>
          <p:cNvSpPr/>
          <p:nvPr/>
        </p:nvSpPr>
        <p:spPr>
          <a:xfrm>
            <a:off x="5559552" y="1481328"/>
            <a:ext cx="2423160" cy="325526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950" b="1" dirty="0">
                <a:solidFill>
                  <a:schemeClr val="tx1"/>
                </a:solidFill>
              </a:rPr>
              <a:t>SELECT 한 문장인지 확인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INSERT  UPDATE  DELETE  DDL 거부</a:t>
            </a:r>
          </a:p>
          <a:p>
            <a:pPr algn="l"/>
            <a:endParaRPr sz="950" b="0" dirty="0">
              <a:solidFill>
                <a:schemeClr val="tx1"/>
              </a:solidFill>
            </a:endParaRPr>
          </a:p>
          <a:p>
            <a:pPr algn="l"/>
            <a:r>
              <a:rPr sz="950" b="1" dirty="0">
                <a:solidFill>
                  <a:schemeClr val="tx1"/>
                </a:solidFill>
              </a:rPr>
              <a:t>읽기 전용으로 실행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SET TRANSACTION READ ONLY</a:t>
            </a:r>
          </a:p>
          <a:p>
            <a:pPr algn="l"/>
            <a:endParaRPr sz="950" b="0" dirty="0">
              <a:solidFill>
                <a:schemeClr val="tx1"/>
              </a:solidFill>
            </a:endParaRPr>
          </a:p>
          <a:p>
            <a:pPr algn="l"/>
            <a:r>
              <a:rPr sz="950" b="1" dirty="0">
                <a:solidFill>
                  <a:schemeClr val="tx1"/>
                </a:solidFill>
              </a:rPr>
              <a:t>제한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최대 행 수 (예: 1,000행)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실행 시간 (예: 30초)</a:t>
            </a:r>
          </a:p>
          <a:p>
            <a:pPr algn="l"/>
            <a:endParaRPr sz="950" b="0" dirty="0">
              <a:solidFill>
                <a:schemeClr val="tx1"/>
              </a:solidFill>
            </a:endParaRPr>
          </a:p>
          <a:p>
            <a:pPr algn="l"/>
            <a:r>
              <a:rPr sz="950" b="1" dirty="0">
                <a:solidFill>
                  <a:schemeClr val="tx1"/>
                </a:solidFill>
              </a:rPr>
              <a:t>기록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행 수  실행 시간 → ask_log</a:t>
            </a:r>
          </a:p>
          <a:p>
            <a:pPr algn="l"/>
            <a:endParaRPr sz="950" b="0" dirty="0">
              <a:solidFill>
                <a:schemeClr val="tx1"/>
              </a:solidFill>
            </a:endParaRPr>
          </a:p>
          <a:p>
            <a:pPr algn="l"/>
            <a:r>
              <a:rPr sz="950" b="1" dirty="0">
                <a:solidFill>
                  <a:schemeClr val="tx1"/>
                </a:solidFill>
              </a:rPr>
              <a:t>지금 구현된 것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지표 등록 때 원본·변환 SQL을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읽기 전용 스냅샷에서 실행·비교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(60초 제한)</a:t>
            </a:r>
          </a:p>
        </p:txBody>
      </p:sp>
      <p:sp>
        <p:nvSpPr>
          <p:cNvPr id="12" name="표시 설계안"/>
          <p:cNvSpPr/>
          <p:nvPr/>
        </p:nvSpPr>
        <p:spPr>
          <a:xfrm>
            <a:off x="7287768" y="1133856"/>
            <a:ext cx="64008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TO-BE</a:t>
            </a:r>
            <a:endParaRPr sz="800" b="1" dirty="0">
              <a:solidFill>
                <a:schemeClr val="bg1"/>
              </a:solidFill>
            </a:endParaRPr>
          </a:p>
        </p:txBody>
      </p:sp>
      <p:sp>
        <p:nvSpPr>
          <p:cNvPr id="13" name="DB 조회"/>
          <p:cNvSpPr/>
          <p:nvPr/>
        </p:nvSpPr>
        <p:spPr>
          <a:xfrm>
            <a:off x="9171432" y="987552"/>
            <a:ext cx="2651760" cy="384048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t"/>
          <a:lstStyle/>
          <a:p>
            <a:pPr algn="ctr"/>
            <a:endParaRPr/>
          </a:p>
        </p:txBody>
      </p:sp>
      <p:sp>
        <p:nvSpPr>
          <p:cNvPr id="14" name="DB 조회 제목"/>
          <p:cNvSpPr/>
          <p:nvPr/>
        </p:nvSpPr>
        <p:spPr>
          <a:xfrm>
            <a:off x="9262872" y="1078992"/>
            <a:ext cx="2468879" cy="32918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050" b="1">
                <a:solidFill>
                  <a:schemeClr val="bg1"/>
                </a:solidFill>
              </a:rPr>
              <a:t>DB 조회</a:t>
            </a:r>
          </a:p>
        </p:txBody>
      </p:sp>
      <p:sp>
        <p:nvSpPr>
          <p:cNvPr id="15" name="DB 조회 내용"/>
          <p:cNvSpPr/>
          <p:nvPr/>
        </p:nvSpPr>
        <p:spPr>
          <a:xfrm>
            <a:off x="9262872" y="1481328"/>
            <a:ext cx="2468879" cy="3255264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952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950" b="1" dirty="0" err="1">
                <a:solidFill>
                  <a:schemeClr val="tx1"/>
                </a:solidFill>
              </a:rPr>
              <a:t>meta_system 접속 정보</a:t>
            </a:r>
            <a:endParaRPr sz="950" b="1" dirty="0">
              <a:solidFill>
                <a:schemeClr val="tx1"/>
              </a:solidFill>
            </a:endParaRPr>
          </a:p>
          <a:p>
            <a:pPr algn="l"/>
            <a:r>
              <a:rPr sz="950" b="0" dirty="0">
                <a:solidFill>
                  <a:schemeClr val="tx1"/>
                </a:solidFill>
              </a:rPr>
              <a:t>  driver  host  port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db_name (Oracle 서비스명 / SID)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db_schema</a:t>
            </a:r>
          </a:p>
          <a:p>
            <a:pPr algn="l"/>
            <a:endParaRPr sz="950" b="0" dirty="0">
              <a:solidFill>
                <a:schemeClr val="tx1"/>
              </a:solidFill>
            </a:endParaRPr>
          </a:p>
          <a:p>
            <a:pPr algn="l"/>
            <a:r>
              <a:rPr sz="950" b="1" dirty="0" err="1">
                <a:solidFill>
                  <a:schemeClr val="tx1"/>
                </a:solidFill>
              </a:rPr>
              <a:t>계정정보</a:t>
            </a:r>
            <a:endParaRPr sz="950" b="1" dirty="0">
              <a:solidFill>
                <a:schemeClr val="tx1"/>
              </a:solidFill>
            </a:endParaRPr>
          </a:p>
          <a:p>
            <a:pPr algn="l"/>
            <a:r>
              <a:rPr sz="950" b="0" dirty="0">
                <a:solidFill>
                  <a:schemeClr val="tx1"/>
                </a:solidFill>
              </a:rPr>
              <a:t>  username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password_enc 를 AES-256-GCM 으로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복호화 (NL2SQL_SECRET_KEY)</a:t>
            </a:r>
          </a:p>
          <a:p>
            <a:pPr algn="l"/>
            <a:r>
              <a:rPr sz="950" b="0" dirty="0">
                <a:solidFill>
                  <a:schemeClr val="tx1"/>
                </a:solidFill>
              </a:rPr>
              <a:t>  메모리에서만 사용, 저장로그 남기지 않음</a:t>
            </a:r>
          </a:p>
          <a:p>
            <a:pPr algn="l"/>
            <a:endParaRPr sz="950" b="0" dirty="0">
              <a:solidFill>
                <a:schemeClr val="tx1"/>
              </a:solidFill>
            </a:endParaRPr>
          </a:p>
          <a:p>
            <a:pPr algn="l"/>
            <a:r>
              <a:rPr sz="950" b="1" dirty="0" err="1">
                <a:solidFill>
                  <a:schemeClr val="accent3"/>
                </a:solidFill>
              </a:rPr>
              <a:t>조회 전용 계정 권장</a:t>
            </a:r>
            <a:endParaRPr sz="950" b="1" dirty="0">
              <a:solidFill>
                <a:schemeClr val="accent3"/>
              </a:solidFill>
            </a:endParaRPr>
          </a:p>
        </p:txBody>
      </p:sp>
      <p:sp>
        <p:nvSpPr>
          <p:cNvPr id="16" name="표시 설계안"/>
          <p:cNvSpPr/>
          <p:nvPr/>
        </p:nvSpPr>
        <p:spPr>
          <a:xfrm>
            <a:off x="11036808" y="1133856"/>
            <a:ext cx="640080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TO-BE</a:t>
            </a:r>
          </a:p>
        </p:txBody>
      </p:sp>
      <p:sp>
        <p:nvSpPr>
          <p:cNvPr id="17" name="조회 화살표"/>
          <p:cNvSpPr/>
          <p:nvPr/>
        </p:nvSpPr>
        <p:spPr>
          <a:xfrm>
            <a:off x="8119872" y="2697480"/>
            <a:ext cx="1005840" cy="329184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조회 프로토콜"/>
          <p:cNvSpPr txBox="1"/>
          <p:nvPr/>
        </p:nvSpPr>
        <p:spPr>
          <a:xfrm>
            <a:off x="8101583" y="3108960"/>
            <a:ext cx="1060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chemeClr val="accent3"/>
                </a:solidFill>
              </a:rPr>
              <a:t>조회</a:t>
            </a:r>
          </a:p>
          <a:p>
            <a:pPr algn="ctr"/>
            <a:r>
              <a:rPr sz="900" b="1">
                <a:solidFill>
                  <a:schemeClr val="accent3"/>
                </a:solidFill>
              </a:rPr>
              <a:t>프로토콜</a:t>
            </a:r>
          </a:p>
        </p:txBody>
      </p:sp>
      <p:sp>
        <p:nvSpPr>
          <p:cNvPr id="19" name="프로토콜 제목"/>
          <p:cNvSpPr txBox="1"/>
          <p:nvPr/>
        </p:nvSpPr>
        <p:spPr>
          <a:xfrm>
            <a:off x="5468112" y="4983480"/>
            <a:ext cx="63550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 err="1">
                <a:solidFill>
                  <a:schemeClr val="accent1"/>
                </a:solidFill>
              </a:rPr>
              <a:t>조회 프로토콜</a:t>
            </a:r>
            <a:r>
              <a:rPr sz="850" b="0" dirty="0">
                <a:solidFill>
                  <a:schemeClr val="tx2"/>
                </a:solidFill>
              </a:rPr>
              <a:t>   메타 동기화(catalog.py)와 같은 드라이버접속 정보를 그대로 쓴다</a:t>
            </a:r>
          </a:p>
        </p:txBody>
      </p:sp>
      <p:graphicFrame>
        <p:nvGraphicFramePr>
          <p:cNvPr id="20" name="조회 프로토콜 표"/>
          <p:cNvGraphicFramePr>
            <a:graphicFrameLocks noGrp="1"/>
          </p:cNvGraphicFramePr>
          <p:nvPr/>
        </p:nvGraphicFramePr>
        <p:xfrm>
          <a:off x="5468112" y="5303520"/>
          <a:ext cx="63550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DB 종류 (driver)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드라이버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chemeClr val="bg1"/>
                          </a:solidFill>
                        </a:rPr>
                        <a:t>기본 포트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psycopg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TCP 5432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MySQL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PyMySQL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TCP 3306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Oracle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chemeClr val="tx1"/>
                          </a:solidFill>
                        </a:rPr>
                        <a:t>python-oracledb (thin)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chemeClr val="tx1"/>
                          </a:solidFill>
                        </a:rPr>
                        <a:t>TCP 1521</a:t>
                      </a:r>
                      <a:endParaRPr sz="850"/>
                    </a:p>
                  </a:txBody>
                  <a:tcPr marL="36576" marR="36576" marT="13716" marB="13716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각주"/>
          <p:cNvSpPr txBox="1"/>
          <p:nvPr/>
        </p:nvSpPr>
        <p:spPr>
          <a:xfrm>
            <a:off x="5468112" y="6355080"/>
            <a:ext cx="635508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dirty="0">
                <a:solidFill>
                  <a:schemeClr val="tx2"/>
                </a:solidFill>
              </a:rPr>
              <a:t>※ 현재는 SQL 생성까지 구현 (대상 DB 실행은 지표 등록 검증만). 질문 쿼리 전송·DB 조회는 설계안(TO-BE).</a:t>
            </a:r>
          </a:p>
        </p:txBody>
      </p:sp>
    </p:spTree>
    <p:extLst>
      <p:ext uri="{BB962C8B-B14F-4D97-AF65-F5344CB8AC3E}">
        <p14:creationId xmlns:p14="http://schemas.microsoft.com/office/powerpoint/2010/main" val="1174095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dirty="0"/>
              <a:t>7장  </a:t>
            </a:r>
            <a:r>
              <a:rPr dirty="0" err="1"/>
              <a:t>변형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 -  baroness </a:t>
            </a:r>
            <a:r>
              <a:rPr dirty="0" err="1"/>
              <a:t>차량</a:t>
            </a:r>
            <a:r>
              <a:rPr dirty="0"/>
              <a:t> BMS DB  </a:t>
            </a:r>
            <a:r>
              <a:rPr dirty="0" err="1"/>
              <a:t>질문</a:t>
            </a:r>
            <a:r>
              <a:rPr dirty="0"/>
              <a:t> 11개  </a:t>
            </a:r>
            <a:r>
              <a:rPr dirty="0" err="1"/>
              <a:t>평균</a:t>
            </a:r>
            <a:r>
              <a:rPr dirty="0"/>
              <a:t> 23.7초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ko-KR" dirty="0"/>
              <a:t>변형 질문 테스트</a:t>
            </a:r>
            <a:r>
              <a:rPr lang="en-US" altLang="ko-KR" dirty="0"/>
              <a:t> (</a:t>
            </a:r>
            <a:r>
              <a:rPr lang="ko-KR" altLang="en-US" dirty="0"/>
              <a:t>같은 뜻 다른 표현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101" name="원 질문"/>
          <p:cNvSpPr/>
          <p:nvPr/>
        </p:nvSpPr>
        <p:spPr>
          <a:xfrm>
            <a:off x="365760" y="914400"/>
            <a:ext cx="1145743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>
            <a:noFill/>
          </a:ln>
        </p:spPr>
        <p:txBody>
          <a:bodyPr wrap="square" lIns="109728" tIns="27432" rIns="109728" bIns="27432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chemeClr val="accent3"/>
                </a:solidFill>
              </a:rPr>
              <a:t>원 질문   </a:t>
            </a:r>
            <a:r>
              <a:rPr lang="ko-KR" altLang="en-US" sz="1100" b="1" dirty="0">
                <a:solidFill>
                  <a:schemeClr val="lt1"/>
                </a:solidFill>
              </a:rPr>
              <a:t>“최근 5일동안 데이터를 일단위로 무인 가동시간,유인 가동시간 조회”</a:t>
            </a:r>
            <a:r>
              <a:rPr lang="ko-KR" altLang="en-US" sz="900" b="0" dirty="0">
                <a:solidFill>
                  <a:schemeClr val="lt1"/>
                </a:solidFill>
              </a:rPr>
              <a:t>      변형 10개를 같은 엔진에 그대로 넣고, 만들어진 SQL을 baroness에서 실행해 비교</a:t>
            </a:r>
          </a:p>
        </p:txBody>
      </p:sp>
      <p:sp>
        <p:nvSpPr>
          <p:cNvPr id="102" name="결과 표 제목"/>
          <p:cNvSpPr/>
          <p:nvPr/>
        </p:nvSpPr>
        <p:spPr>
          <a:xfrm>
            <a:off x="365760" y="14173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질문별 결과</a:t>
            </a:r>
            <a:r>
              <a:rPr lang="ko-KR" altLang="en-US" sz="850" b="0" dirty="0">
                <a:solidFill>
                  <a:schemeClr val="tx1"/>
                </a:solidFill>
              </a:rPr>
              <a:t>   판정 기준: 일별 1행, 무인 = 차량별 하루 증가분의 합, 유인 = 가동 증가분 − 무인 증가분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00584"/>
              </p:ext>
            </p:extLst>
          </p:nvPr>
        </p:nvGraphicFramePr>
        <p:xfrm>
          <a:off x="365760" y="1737360"/>
          <a:ext cx="7772400" cy="3401568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질문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고른 지표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만들어진 결과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판정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원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5일동안 데이터를 일단위로 무인 가동시간,유인 가동시간 조회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5일 동안 일별 무인 가동시간과 유인 가동시간을 보여줘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지난 5일간 날짜별로 무인 가동시간, 유인 가동시간 조회해 주세요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일자별 무인 가동시간이랑 유인 가동시간 알려줘. 기간은 최근 5일이야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5일치 데이터로 하루 단위 무인/유인 가동시간 뽑아줘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유인 가동시간과 무인 가동시간을 최근 5일 동안 일 단위로 조회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닷새간 매일의 무인 가동시간과 유인 가동시간이 궁금해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448행 (5일)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5일 전부터 오늘까지 일별로 무인 운전 시간과 유인 운전 시간 조회해줘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최근5일 일단위 무인가동시간 유인가동시간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5일 동안 하루하루 사람이 운전한 시간과 무인으로 가동한 시간을 비교해서 보여줘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계산 맞음, 차량×일 536행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 err="1">
                          <a:solidFill>
                            <a:schemeClr val="accent1"/>
                          </a:solidFill>
                        </a:rPr>
                        <a:t>O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5일 데이터를 날짜 기준으로 묶어서 무인 가동시간, 유인 가동시간 합계를 구해줘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무인, 유인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일별 6행, 무인과 유인 합계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ko-KR" altLang="en-US" sz="10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정리 1">
            <a:extLst>
              <a:ext uri="{FF2B5EF4-FFF2-40B4-BE49-F238E27FC236}">
                <a16:creationId xmlns:a16="http://schemas.microsoft.com/office/drawing/2014/main" id="{A2EAB1F8-F997-EDF0-C984-A5065106BDA1}"/>
              </a:ext>
            </a:extLst>
          </p:cNvPr>
          <p:cNvSpPr/>
          <p:nvPr/>
        </p:nvSpPr>
        <p:spPr>
          <a:xfrm>
            <a:off x="8229600" y="2037806"/>
            <a:ext cx="3697223" cy="310112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 fontScale="62500" lnSpcReduction="20000"/>
          </a:bodyPr>
          <a:lstStyle/>
          <a:p>
            <a:r>
              <a:rPr lang="ko-KR" altLang="ko-KR" b="1" dirty="0" err="1"/>
              <a:t>select</a:t>
            </a:r>
            <a:endParaRPr lang="ko-KR" altLang="ko-KR" dirty="0"/>
          </a:p>
          <a:p>
            <a:r>
              <a:rPr lang="ko-KR" altLang="ko-KR" b="1" dirty="0" err="1"/>
              <a:t>cast</a:t>
            </a:r>
            <a:r>
              <a:rPr lang="ko-KR" altLang="ko-KR" dirty="0"/>
              <a:t>(("</a:t>
            </a:r>
            <a:r>
              <a:rPr lang="ko-KR" altLang="ko-KR" dirty="0" err="1"/>
              <a:t>collect_datetime</a:t>
            </a:r>
            <a:r>
              <a:rPr lang="ko-KR" altLang="ko-KR" dirty="0"/>
              <a:t>" + </a:t>
            </a:r>
            <a:r>
              <a:rPr lang="ko-KR" altLang="ko-KR" u="sng" dirty="0" err="1"/>
              <a:t>interval</a:t>
            </a:r>
            <a:r>
              <a:rPr lang="ko-KR" altLang="ko-KR" dirty="0"/>
              <a:t> '9 </a:t>
            </a:r>
            <a:r>
              <a:rPr lang="ko-KR" altLang="ko-KR" dirty="0" err="1"/>
              <a:t>hours</a:t>
            </a:r>
            <a:r>
              <a:rPr lang="ko-KR" altLang="ko-KR" dirty="0"/>
              <a:t>')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b="1" dirty="0"/>
              <a:t>DATE</a:t>
            </a:r>
            <a:r>
              <a:rPr lang="ko-KR" altLang="ko-KR" dirty="0"/>
              <a:t>)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i="1" dirty="0"/>
              <a:t>"</a:t>
            </a:r>
            <a:r>
              <a:rPr lang="ko-KR" altLang="ko-KR" i="1" dirty="0" err="1"/>
              <a:t>day</a:t>
            </a:r>
            <a:r>
              <a:rPr lang="ko-KR" altLang="ko-KR" i="1" dirty="0"/>
              <a:t>"</a:t>
            </a:r>
            <a:r>
              <a:rPr lang="ko-KR" altLang="ko-KR" dirty="0"/>
              <a:t>,</a:t>
            </a:r>
          </a:p>
          <a:p>
            <a:r>
              <a:rPr lang="ko-KR" altLang="ko-KR" dirty="0"/>
              <a:t>"</a:t>
            </a:r>
            <a:r>
              <a:rPr lang="ko-KR" altLang="ko-KR" dirty="0" err="1"/>
              <a:t>vehicle_id</a:t>
            </a:r>
            <a:r>
              <a:rPr lang="ko-KR" altLang="ko-KR" dirty="0"/>
              <a:t>"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i="1" dirty="0"/>
              <a:t>"</a:t>
            </a:r>
            <a:r>
              <a:rPr lang="ko-KR" altLang="ko-KR" i="1" dirty="0" err="1"/>
              <a:t>vehicle_id</a:t>
            </a:r>
            <a:r>
              <a:rPr lang="ko-KR" altLang="ko-KR" i="1" dirty="0"/>
              <a:t>"</a:t>
            </a:r>
            <a:r>
              <a:rPr lang="ko-KR" altLang="ko-KR" dirty="0"/>
              <a:t>,</a:t>
            </a:r>
          </a:p>
          <a:p>
            <a:r>
              <a:rPr lang="ko-KR" altLang="ko-KR" dirty="0"/>
              <a:t>(</a:t>
            </a:r>
            <a:r>
              <a:rPr lang="ko-KR" altLang="ko-KR" b="1" dirty="0"/>
              <a:t>MAX</a:t>
            </a:r>
            <a:r>
              <a:rPr lang="ko-KR" altLang="ko-KR" dirty="0"/>
              <a:t>("</a:t>
            </a:r>
            <a:r>
              <a:rPr lang="ko-KR" altLang="ko-KR" dirty="0" err="1"/>
              <a:t>uman_time</a:t>
            </a:r>
            <a:r>
              <a:rPr lang="ko-KR" altLang="ko-KR" dirty="0"/>
              <a:t>") - </a:t>
            </a:r>
            <a:r>
              <a:rPr lang="ko-KR" altLang="ko-KR" b="1" dirty="0"/>
              <a:t>MIN</a:t>
            </a:r>
            <a:r>
              <a:rPr lang="ko-KR" altLang="ko-KR" dirty="0"/>
              <a:t>("</a:t>
            </a:r>
            <a:r>
              <a:rPr lang="ko-KR" altLang="ko-KR" dirty="0" err="1"/>
              <a:t>uman_time</a:t>
            </a:r>
            <a:r>
              <a:rPr lang="ko-KR" altLang="ko-KR" dirty="0"/>
              <a:t>"))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i="1" dirty="0"/>
              <a:t>"</a:t>
            </a:r>
            <a:r>
              <a:rPr lang="ko-KR" altLang="ko-KR" i="1" dirty="0" err="1"/>
              <a:t>uman_hours</a:t>
            </a:r>
            <a:r>
              <a:rPr lang="ko-KR" altLang="ko-KR" i="1" dirty="0"/>
              <a:t>"</a:t>
            </a:r>
            <a:r>
              <a:rPr lang="ko-KR" altLang="ko-KR" dirty="0"/>
              <a:t>,</a:t>
            </a:r>
          </a:p>
          <a:p>
            <a:r>
              <a:rPr lang="ko-KR" altLang="ko-KR" dirty="0"/>
              <a:t>((</a:t>
            </a:r>
            <a:r>
              <a:rPr lang="ko-KR" altLang="ko-KR" b="1" dirty="0"/>
              <a:t>MAX</a:t>
            </a:r>
            <a:r>
              <a:rPr lang="ko-KR" altLang="ko-KR" dirty="0"/>
              <a:t>("</a:t>
            </a:r>
            <a:r>
              <a:rPr lang="ko-KR" altLang="ko-KR" dirty="0" err="1"/>
              <a:t>eg_time</a:t>
            </a:r>
            <a:r>
              <a:rPr lang="ko-KR" altLang="ko-KR" dirty="0"/>
              <a:t>") - </a:t>
            </a:r>
            <a:r>
              <a:rPr lang="ko-KR" altLang="ko-KR" b="1" dirty="0"/>
              <a:t>MIN</a:t>
            </a:r>
            <a:r>
              <a:rPr lang="ko-KR" altLang="ko-KR" dirty="0"/>
              <a:t>("</a:t>
            </a:r>
            <a:r>
              <a:rPr lang="ko-KR" altLang="ko-KR" dirty="0" err="1"/>
              <a:t>eg_time</a:t>
            </a:r>
            <a:r>
              <a:rPr lang="ko-KR" altLang="ko-KR" dirty="0"/>
              <a:t>")) - (</a:t>
            </a:r>
            <a:r>
              <a:rPr lang="ko-KR" altLang="ko-KR" b="1" dirty="0"/>
              <a:t>MAX</a:t>
            </a:r>
            <a:r>
              <a:rPr lang="ko-KR" altLang="ko-KR" dirty="0"/>
              <a:t>("</a:t>
            </a:r>
            <a:r>
              <a:rPr lang="ko-KR" altLang="ko-KR" dirty="0" err="1"/>
              <a:t>uman_time</a:t>
            </a:r>
            <a:r>
              <a:rPr lang="ko-KR" altLang="ko-KR" dirty="0"/>
              <a:t>") - </a:t>
            </a:r>
            <a:r>
              <a:rPr lang="ko-KR" altLang="ko-KR" b="1" dirty="0"/>
              <a:t>MIN</a:t>
            </a:r>
            <a:r>
              <a:rPr lang="ko-KR" altLang="ko-KR" dirty="0"/>
              <a:t>("</a:t>
            </a:r>
            <a:r>
              <a:rPr lang="ko-KR" altLang="ko-KR" dirty="0" err="1"/>
              <a:t>uman_time</a:t>
            </a:r>
            <a:r>
              <a:rPr lang="ko-KR" altLang="ko-KR" dirty="0"/>
              <a:t>")))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i="1" dirty="0"/>
              <a:t>"</a:t>
            </a:r>
            <a:r>
              <a:rPr lang="ko-KR" altLang="ko-KR" i="1" dirty="0" err="1"/>
              <a:t>man_hours</a:t>
            </a:r>
            <a:r>
              <a:rPr lang="ko-KR" altLang="ko-KR" i="1" dirty="0"/>
              <a:t>"</a:t>
            </a:r>
            <a:endParaRPr lang="ko-KR" altLang="ko-KR" dirty="0"/>
          </a:p>
          <a:p>
            <a:r>
              <a:rPr lang="ko-KR" altLang="ko-KR" b="1" dirty="0" err="1"/>
              <a:t>from</a:t>
            </a:r>
            <a:endParaRPr lang="ko-KR" altLang="ko-KR" dirty="0"/>
          </a:p>
          <a:p>
            <a:r>
              <a:rPr lang="ko-KR" altLang="ko-KR" dirty="0"/>
              <a:t>"</a:t>
            </a:r>
            <a:r>
              <a:rPr lang="ko-KR" altLang="ko-KR" dirty="0" err="1"/>
              <a:t>bms_log</a:t>
            </a:r>
            <a:r>
              <a:rPr lang="ko-KR" altLang="ko-KR" dirty="0"/>
              <a:t>"</a:t>
            </a:r>
          </a:p>
          <a:p>
            <a:r>
              <a:rPr lang="ko-KR" altLang="ko-KR" b="1" dirty="0" err="1"/>
              <a:t>where</a:t>
            </a:r>
            <a:endParaRPr lang="ko-KR" altLang="ko-KR" dirty="0"/>
          </a:p>
          <a:p>
            <a:r>
              <a:rPr lang="ko-KR" altLang="ko-KR" dirty="0"/>
              <a:t>"</a:t>
            </a:r>
            <a:r>
              <a:rPr lang="ko-KR" altLang="ko-KR" dirty="0" err="1"/>
              <a:t>collect_datetime</a:t>
            </a:r>
            <a:r>
              <a:rPr lang="ko-KR" altLang="ko-KR" dirty="0"/>
              <a:t>" &gt;= (</a:t>
            </a:r>
            <a:r>
              <a:rPr lang="ko-KR" altLang="ko-KR" b="1" dirty="0"/>
              <a:t>TIMESTAMP</a:t>
            </a:r>
            <a:r>
              <a:rPr lang="ko-KR" altLang="ko-KR" dirty="0"/>
              <a:t> '2026-10-14 00:00:00' - </a:t>
            </a:r>
            <a:r>
              <a:rPr lang="ko-KR" altLang="ko-KR" u="sng" dirty="0" err="1"/>
              <a:t>interval</a:t>
            </a:r>
            <a:r>
              <a:rPr lang="ko-KR" altLang="ko-KR" dirty="0"/>
              <a:t> '9 </a:t>
            </a:r>
            <a:r>
              <a:rPr lang="ko-KR" altLang="ko-KR" dirty="0" err="1"/>
              <a:t>hours</a:t>
            </a:r>
            <a:r>
              <a:rPr lang="ko-KR" altLang="ko-KR" dirty="0"/>
              <a:t>')</a:t>
            </a:r>
          </a:p>
          <a:p>
            <a:r>
              <a:rPr lang="ko-KR" altLang="ko-KR" b="1" dirty="0" err="1"/>
              <a:t>group</a:t>
            </a:r>
            <a:r>
              <a:rPr lang="ko-KR" altLang="ko-KR" dirty="0"/>
              <a:t> </a:t>
            </a:r>
            <a:r>
              <a:rPr lang="ko-KR" altLang="ko-KR" b="1" dirty="0" err="1"/>
              <a:t>by</a:t>
            </a:r>
            <a:endParaRPr lang="ko-KR" altLang="ko-KR" dirty="0"/>
          </a:p>
          <a:p>
            <a:r>
              <a:rPr lang="ko-KR" altLang="ko-KR" b="1" dirty="0" err="1"/>
              <a:t>cast</a:t>
            </a:r>
            <a:r>
              <a:rPr lang="ko-KR" altLang="ko-KR" dirty="0"/>
              <a:t>(("</a:t>
            </a:r>
            <a:r>
              <a:rPr lang="ko-KR" altLang="ko-KR" dirty="0" err="1"/>
              <a:t>collect_datetime</a:t>
            </a:r>
            <a:r>
              <a:rPr lang="ko-KR" altLang="ko-KR" dirty="0"/>
              <a:t>" + </a:t>
            </a:r>
            <a:r>
              <a:rPr lang="ko-KR" altLang="ko-KR" b="1" dirty="0" err="1"/>
              <a:t>interval</a:t>
            </a:r>
            <a:r>
              <a:rPr lang="ko-KR" altLang="ko-KR" dirty="0"/>
              <a:t> '9 </a:t>
            </a:r>
            <a:r>
              <a:rPr lang="ko-KR" altLang="ko-KR" dirty="0" err="1"/>
              <a:t>hours</a:t>
            </a:r>
            <a:r>
              <a:rPr lang="ko-KR" altLang="ko-KR" dirty="0"/>
              <a:t>')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b="1" dirty="0"/>
              <a:t>DATE</a:t>
            </a:r>
            <a:r>
              <a:rPr lang="ko-KR" altLang="ko-KR" dirty="0"/>
              <a:t>),</a:t>
            </a:r>
          </a:p>
          <a:p>
            <a:r>
              <a:rPr lang="ko-KR" altLang="ko-KR" b="1" dirty="0"/>
              <a:t>"</a:t>
            </a:r>
            <a:r>
              <a:rPr lang="ko-KR" altLang="ko-KR" b="1" dirty="0" err="1"/>
              <a:t>vehicle_id</a:t>
            </a:r>
            <a:r>
              <a:rPr lang="ko-KR" altLang="ko-KR" b="1" dirty="0"/>
              <a:t>"</a:t>
            </a:r>
            <a:endParaRPr lang="ko-KR" altLang="ko-KR" dirty="0"/>
          </a:p>
          <a:p>
            <a:r>
              <a:rPr lang="ko-KR" altLang="ko-KR" b="1" dirty="0" err="1"/>
              <a:t>order</a:t>
            </a:r>
            <a:r>
              <a:rPr lang="ko-KR" altLang="ko-KR" dirty="0"/>
              <a:t> </a:t>
            </a:r>
            <a:r>
              <a:rPr lang="ko-KR" altLang="ko-KR" b="1" dirty="0" err="1"/>
              <a:t>by</a:t>
            </a:r>
            <a:endParaRPr lang="ko-KR" altLang="ko-KR" dirty="0"/>
          </a:p>
          <a:p>
            <a:r>
              <a:rPr lang="ko-KR" altLang="ko-KR" b="1" dirty="0" err="1"/>
              <a:t>cast</a:t>
            </a:r>
            <a:r>
              <a:rPr lang="ko-KR" altLang="ko-KR" dirty="0"/>
              <a:t>((</a:t>
            </a:r>
            <a:r>
              <a:rPr lang="ko-KR" altLang="ko-KR" b="1" dirty="0"/>
              <a:t>"</a:t>
            </a:r>
            <a:r>
              <a:rPr lang="ko-KR" altLang="ko-KR" b="1" dirty="0" err="1"/>
              <a:t>collect_datetime</a:t>
            </a:r>
            <a:r>
              <a:rPr lang="ko-KR" altLang="ko-KR" b="1" dirty="0"/>
              <a:t>"</a:t>
            </a:r>
            <a:r>
              <a:rPr lang="ko-KR" altLang="ko-KR" dirty="0"/>
              <a:t> + </a:t>
            </a:r>
            <a:r>
              <a:rPr lang="ko-KR" altLang="ko-KR" b="1" dirty="0" err="1"/>
              <a:t>interval</a:t>
            </a:r>
            <a:r>
              <a:rPr lang="ko-KR" altLang="ko-KR" dirty="0"/>
              <a:t> '9 </a:t>
            </a:r>
            <a:r>
              <a:rPr lang="ko-KR" altLang="ko-KR" dirty="0" err="1"/>
              <a:t>hours</a:t>
            </a:r>
            <a:r>
              <a:rPr lang="ko-KR" altLang="ko-KR" dirty="0"/>
              <a:t>') </a:t>
            </a:r>
            <a:r>
              <a:rPr lang="ko-KR" altLang="ko-KR" b="1" dirty="0" err="1"/>
              <a:t>as</a:t>
            </a:r>
            <a:r>
              <a:rPr lang="ko-KR" altLang="ko-KR" dirty="0"/>
              <a:t> </a:t>
            </a:r>
            <a:r>
              <a:rPr lang="ko-KR" altLang="ko-KR" b="1" dirty="0"/>
              <a:t>DATE</a:t>
            </a:r>
            <a:r>
              <a:rPr lang="ko-KR" altLang="ko-KR" dirty="0"/>
              <a:t>) </a:t>
            </a:r>
            <a:r>
              <a:rPr lang="ko-KR" altLang="ko-KR" b="1" dirty="0" err="1"/>
              <a:t>desc</a:t>
            </a:r>
            <a:endParaRPr lang="ko-KR" altLang="ko-KR" dirty="0"/>
          </a:p>
          <a:p>
            <a:endParaRPr lang="ko-KR" dirty="0"/>
          </a:p>
        </p:txBody>
      </p:sp>
      <p:sp>
        <p:nvSpPr>
          <p:cNvPr id="9" name="정리 1">
            <a:extLst>
              <a:ext uri="{FF2B5EF4-FFF2-40B4-BE49-F238E27FC236}">
                <a16:creationId xmlns:a16="http://schemas.microsoft.com/office/drawing/2014/main" id="{1E9E7957-01EE-BAC7-C04A-D9EED72068E1}"/>
              </a:ext>
            </a:extLst>
          </p:cNvPr>
          <p:cNvSpPr/>
          <p:nvPr/>
        </p:nvSpPr>
        <p:spPr>
          <a:xfrm>
            <a:off x="365761" y="5634446"/>
            <a:ext cx="11561062" cy="75416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ko-KR" b="1" dirty="0">
                <a:solidFill>
                  <a:srgbClr val="FF0000"/>
                </a:solidFill>
              </a:rPr>
              <a:t>행 수 차이는 기간과 집계 단위 차이로 인한 것으로, 정상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정리 1">
            <a:extLst>
              <a:ext uri="{FF2B5EF4-FFF2-40B4-BE49-F238E27FC236}">
                <a16:creationId xmlns:a16="http://schemas.microsoft.com/office/drawing/2014/main" id="{73C0AAA4-4FF5-DC98-FE5F-ED6A72A4A38C}"/>
              </a:ext>
            </a:extLst>
          </p:cNvPr>
          <p:cNvSpPr/>
          <p:nvPr/>
        </p:nvSpPr>
        <p:spPr>
          <a:xfrm>
            <a:off x="8229599" y="1753036"/>
            <a:ext cx="3697223" cy="274320"/>
          </a:xfrm>
          <a:prstGeom prst="roundRect">
            <a:avLst>
              <a:gd name="adj" fmla="val 8000"/>
            </a:avLst>
          </a:prstGeom>
          <a:solidFill>
            <a:srgbClr val="5B4FE0"/>
          </a:solidFill>
          <a:ln w="12700">
            <a:solidFill>
              <a:srgbClr val="5B4FE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en-US" sz="900" b="1" dirty="0" err="1">
                <a:solidFill>
                  <a:schemeClr val="lt1"/>
                </a:solidFill>
              </a:rPr>
              <a:t>결과쿼리</a:t>
            </a:r>
            <a:endParaRPr lang="ko-KR" altLang="en-US" sz="9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C4EA-2D5E-FDC8-9705-D2619820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B9B8F4-CC18-A708-0D1F-9BFFCDD826E3}"/>
              </a:ext>
            </a:extLst>
          </p:cNvPr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7장  변형 질문 테스트  -  baroness 차량 BMS DB  질문 10개  평균 5.4초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0AAE1A-4E01-1E89-484C-673276E7368A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ko-KR" dirty="0"/>
              <a:t>변형 질문 테스트</a:t>
            </a:r>
            <a:r>
              <a:rPr lang="en-US" altLang="ko-KR" dirty="0"/>
              <a:t> (</a:t>
            </a:r>
            <a:r>
              <a:rPr lang="ko-KR" altLang="en-US" dirty="0"/>
              <a:t>예상하지 못한 질문 입력 시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9" name="정리 1">
            <a:extLst>
              <a:ext uri="{FF2B5EF4-FFF2-40B4-BE49-F238E27FC236}">
                <a16:creationId xmlns:a16="http://schemas.microsoft.com/office/drawing/2014/main" id="{5945EF01-93C9-25C0-72ED-62220A187C46}"/>
              </a:ext>
            </a:extLst>
          </p:cNvPr>
          <p:cNvSpPr/>
          <p:nvPr/>
        </p:nvSpPr>
        <p:spPr>
          <a:xfrm>
            <a:off x="365761" y="5634446"/>
            <a:ext cx="11561062" cy="754162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ko-KR" altLang="ko-KR" b="1" dirty="0">
                <a:solidFill>
                  <a:srgbClr val="FF0000"/>
                </a:solidFill>
              </a:rPr>
              <a:t>SQL을 지어낸 질문 0건, 지표 필요는 정확히 안내, 데이터 없음은 되묻기로 답함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1" name="목적"/>
          <p:cNvSpPr/>
          <p:nvPr/>
        </p:nvSpPr>
        <p:spPr>
          <a:xfrm>
            <a:off x="365760" y="914400"/>
            <a:ext cx="1145743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>
            <a:noFill/>
          </a:ln>
        </p:spPr>
        <p:txBody>
          <a:bodyPr wrap="square" lIns="109728" tIns="27432" rIns="109728" bIns="27432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chemeClr val="accent3"/>
                </a:solidFill>
              </a:rPr>
              <a:t>테스트 목적   </a:t>
            </a:r>
            <a:r>
              <a:rPr lang="ko-KR" altLang="en-US" sz="1100" b="1" dirty="0">
                <a:solidFill>
                  <a:schemeClr val="lt1"/>
                </a:solidFill>
              </a:rPr>
              <a:t>답할 수 없는 질문에 SQL을 지어내지 않고, 이유를 말하는가</a:t>
            </a:r>
            <a:r>
              <a:rPr lang="ko-KR" altLang="en-US" sz="900" b="0" dirty="0">
                <a:solidFill>
                  <a:schemeClr val="lt1"/>
                </a:solidFill>
              </a:rPr>
              <a:t>      지표가 없는 계산 5개, DB에 없는 데이터 5개</a:t>
            </a:r>
          </a:p>
        </p:txBody>
      </p:sp>
      <p:sp>
        <p:nvSpPr>
          <p:cNvPr id="102" name="결과 표 제목"/>
          <p:cNvSpPr/>
          <p:nvPr/>
        </p:nvSpPr>
        <p:spPr>
          <a:xfrm>
            <a:off x="365760" y="14173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chemeClr val="accent1"/>
                </a:solidFill>
              </a:rPr>
              <a:t>질문별 결과</a:t>
            </a:r>
            <a:r>
              <a:rPr lang="ko-KR" altLang="en-US" sz="850" b="0" dirty="0">
                <a:solidFill>
                  <a:schemeClr val="tx1"/>
                </a:solidFill>
              </a:rPr>
              <a:t>   O 기대한 답   △ SQL은 안 만들었지만 되묻기로 답함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365760" y="1737360"/>
          <a:ext cx="7772400" cy="3379618"/>
        </p:xfrm>
        <a:graphic>
          <a:graphicData uri="http://schemas.openxmlformats.org/drawingml/2006/table">
            <a:tbl>
              <a:tblPr firstRow="0" bandRow="0"/>
              <a:tblGrid>
                <a:gridCol w="365760"/>
                <a:gridCol w="914400"/>
                <a:gridCol w="2834640"/>
                <a:gridCol w="3246120"/>
                <a:gridCol w="411480"/>
              </a:tblGrid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기대 답변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질문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엔진 답변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lt1"/>
                          </a:solidFill>
                        </a:rPr>
                        <a:t>판정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지표 필요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최근 7일 차량별 무인 절단 시간 합계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지표 등록 필요: uman_reel 지표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지표 필요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어제 차량별 모어 정전 시간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지표 등록 필요: mow_time 지표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지표 필요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이번 달 모어 역전 시간이 가장 긴 차량 5대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지표 등록 필요: reel_mt 지표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지표 필요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지난주 일별 무인 절단 시간 추이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지표 등록 필요: uman_reel 지표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1"/>
                          </a:solidFill>
                        </a:rPr>
                        <a:t>지표 필요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차량별 하루 평균 무인 절단 시간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지표 등록 필요: uman_reel 지표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accent1"/>
                          </a:solidFill>
                        </a:rPr>
                        <a:t>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3"/>
                          </a:solidFill>
                        </a:rPr>
                        <a:t>데이터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운전자별 가동시간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되묻기: 차량 ID를 운전자로 볼까요?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3"/>
                          </a:solidFill>
                        </a:rPr>
                        <a:t>데이터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차량별 정비 이력과 부품 교체일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되묻기: 다른 테이블이 있나요?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3"/>
                          </a:solidFill>
                        </a:rPr>
                        <a:t>데이터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차량 구매 가격 합계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되묻기: 가격 테이블 없음, 확인 부탁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3"/>
                          </a:solidFill>
                        </a:rPr>
                        <a:t>데이터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어제 비가 온 지역의 차량 가동시간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되묻기: 외부 날씨 데이터와 연동할까요?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b="1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accent3"/>
                          </a:solidFill>
                        </a:rPr>
                        <a:t>데이터 없음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고객사별 계약 만료일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되묻기: 다른 테이블이 있나요?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△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chemeClr val="accent4"/>
                      </a:solidFill>
                    </a:lnL>
                    <a:lnR w="6350">
                      <a:solidFill>
                        <a:schemeClr val="accent4"/>
                      </a:solidFill>
                    </a:lnR>
                    <a:lnT w="6350">
                      <a:solidFill>
                        <a:schemeClr val="accent4"/>
                      </a:solidFill>
                    </a:lnT>
                    <a:lnB w="6350">
                      <a:solidFill>
                        <a:schemeClr val="accent4"/>
                      </a:solidFill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3" name="답변 머리"/>
          <p:cNvSpPr/>
          <p:nvPr/>
        </p:nvSpPr>
        <p:spPr>
          <a:xfrm>
            <a:off x="8229600" y="1737360"/>
            <a:ext cx="3694176" cy="30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chemeClr val="lt1"/>
                </a:solidFill>
              </a:rPr>
              <a:t>실제 답변</a:t>
            </a:r>
          </a:p>
        </p:txBody>
      </p:sp>
      <p:sp>
        <p:nvSpPr>
          <p:cNvPr id="104" name="답변 판"/>
          <p:cNvSpPr/>
          <p:nvPr/>
        </p:nvSpPr>
        <p:spPr>
          <a:xfrm>
            <a:off x="8229600" y="2103120"/>
            <a:ext cx="3694176" cy="30175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05" name="답변 0 띠"/>
          <p:cNvSpPr/>
          <p:nvPr/>
        </p:nvSpPr>
        <p:spPr>
          <a:xfrm>
            <a:off x="8366760" y="2212848"/>
            <a:ext cx="4572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06" name="답변 0 글"/>
          <p:cNvSpPr/>
          <p:nvPr/>
        </p:nvSpPr>
        <p:spPr>
          <a:xfrm>
            <a:off x="8503920" y="2212848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850" b="1" dirty="0">
                <a:solidFill>
                  <a:schemeClr val="accent1"/>
                </a:solidFill>
              </a:rPr>
              <a:t>0번  지표 필요</a:t>
            </a:r>
          </a:p>
          <a:p>
            <a:pPr marL="0" indent="0" algn="l">
              <a:buNone/>
            </a:pPr>
            <a:r>
              <a:rPr lang="ko-KR" altLang="en-US" sz="800" b="0" dirty="0">
                <a:solidFill>
                  <a:schemeClr val="tx1"/>
                </a:solidFill>
              </a:rPr>
              <a:t>지표 등록이 필요합니다. 무인 절단 시간(uman_reel)은 [계산 필요] 컬럼인데 지표에 계산 방식이 없습니다</a:t>
            </a:r>
          </a:p>
        </p:txBody>
      </p:sp>
      <p:sp>
        <p:nvSpPr>
          <p:cNvPr id="107" name="답변 1 띠"/>
          <p:cNvSpPr/>
          <p:nvPr/>
        </p:nvSpPr>
        <p:spPr>
          <a:xfrm>
            <a:off x="8366760" y="2871215"/>
            <a:ext cx="4572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08" name="답변 1 글"/>
          <p:cNvSpPr/>
          <p:nvPr/>
        </p:nvSpPr>
        <p:spPr>
          <a:xfrm>
            <a:off x="8503920" y="2871215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850" b="1" dirty="0">
                <a:solidFill>
                  <a:schemeClr val="accent3"/>
                </a:solidFill>
              </a:rPr>
              <a:t>7번  데이터 없음</a:t>
            </a:r>
          </a:p>
          <a:p>
            <a:pPr marL="0" indent="0" algn="l">
              <a:buNone/>
            </a:pPr>
            <a:r>
              <a:rPr lang="ko-KR" altLang="en-US" sz="800" b="0" dirty="0">
                <a:solidFill>
                  <a:schemeClr val="tx1"/>
                </a:solidFill>
              </a:rPr>
              <a:t>차량 구매 가격 정보가 포함된 테이블이 제공되지 않았습니다. 확인 부탁드립니다.</a:t>
            </a:r>
          </a:p>
        </p:txBody>
      </p:sp>
      <p:sp>
        <p:nvSpPr>
          <p:cNvPr id="109" name="답변 2 띠"/>
          <p:cNvSpPr/>
          <p:nvPr/>
        </p:nvSpPr>
        <p:spPr>
          <a:xfrm>
            <a:off x="8366760" y="3529584"/>
            <a:ext cx="4572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ko-KR"/>
          </a:p>
        </p:txBody>
      </p:sp>
      <p:sp>
        <p:nvSpPr>
          <p:cNvPr id="110" name="답변 2 글"/>
          <p:cNvSpPr/>
          <p:nvPr/>
        </p:nvSpPr>
        <p:spPr>
          <a:xfrm>
            <a:off x="8503920" y="3529584"/>
            <a:ext cx="3282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850" b="1" dirty="0">
                <a:solidFill>
                  <a:schemeClr val="accent3"/>
                </a:solidFill>
              </a:rPr>
              <a:t>5번  대체안 제안</a:t>
            </a:r>
          </a:p>
          <a:p>
            <a:pPr marL="0" indent="0" algn="l">
              <a:buNone/>
            </a:pPr>
            <a:r>
              <a:rPr lang="ko-KR" altLang="en-US" sz="800" b="0" dirty="0">
                <a:solidFill>
                  <a:schemeClr val="tx1"/>
                </a:solidFill>
              </a:rPr>
              <a:t>운전자 정보가 없습니다. 차량 ID를 운전자로 간주하여 조회하시겠습니까?</a:t>
            </a:r>
          </a:p>
        </p:txBody>
      </p:sp>
      <p:sp>
        <p:nvSpPr>
          <p:cNvPr id="111" name="제안 제목"/>
          <p:cNvSpPr/>
          <p:nvPr/>
        </p:nvSpPr>
        <p:spPr>
          <a:xfrm>
            <a:off x="8366760" y="4224528"/>
            <a:ext cx="34198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950" b="1" dirty="0">
                <a:solidFill>
                  <a:schemeClr val="accent1"/>
                </a:solidFill>
              </a:rPr>
              <a:t>보완 (제안)</a:t>
            </a:r>
          </a:p>
        </p:txBody>
      </p:sp>
      <p:sp>
        <p:nvSpPr>
          <p:cNvPr id="112" name="제안 내용"/>
          <p:cNvSpPr/>
          <p:nvPr/>
        </p:nvSpPr>
        <p:spPr>
          <a:xfrm>
            <a:off x="8366760" y="4480560"/>
            <a:ext cx="341985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155448" indent="-155448" algn="l">
              <a:spcBef>
                <a:spcPts val="2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800" b="0" dirty="0">
                <a:solidFill>
                  <a:schemeClr val="tx1"/>
                </a:solidFill>
              </a:rPr>
              <a:t>데이터 없음은 '찾을 수 없음' 결과로 따로 구분</a:t>
            </a:r>
          </a:p>
          <a:p>
            <a:pPr marL="155448" indent="-155448" algn="l">
              <a:spcBef>
                <a:spcPts val="200"/>
              </a:spcBef>
              <a:buClr>
                <a:schemeClr val="accent1"/>
              </a:buClr>
              <a:buFont typeface="Arial"/>
              <a:buChar char="•"/>
            </a:pPr>
            <a:r>
              <a:rPr lang="ko-KR" altLang="en-US" sz="800" b="0" dirty="0">
                <a:solidFill>
                  <a:schemeClr val="tx1"/>
                </a:solidFill>
              </a:rPr>
              <a:t>대체안 없이 무엇이 없는지만 답하는 규칙</a:t>
            </a:r>
          </a:p>
        </p:txBody>
      </p:sp>
    </p:spTree>
    <p:extLst>
      <p:ext uri="{BB962C8B-B14F-4D97-AF65-F5344CB8AC3E}">
        <p14:creationId xmlns:p14="http://schemas.microsoft.com/office/powerpoint/2010/main" val="1574635612"/>
      </p:ext>
    </p:extLst>
  </p:cSld>
  <p:clrMapOvr>
    <a:masterClrMapping/>
  </p:clrMapOvr>
</p:sld>
</file>

<file path=ppt/theme/theme1.xml><?xml version="1.0" encoding="utf-8"?>
<a:theme xmlns:a="http://schemas.openxmlformats.org/drawingml/2006/main" name="Card Flow">
  <a:themeElements>
    <a:clrScheme name="Card Flow">
      <a:dk1>
        <a:srgbClr val="1E1B4B"/>
      </a:dk1>
      <a:lt1>
        <a:srgbClr val="FFFFFF"/>
      </a:lt1>
      <a:dk2>
        <a:srgbClr val="64748B"/>
      </a:dk2>
      <a:lt2>
        <a:srgbClr val="F4F5FB"/>
      </a:lt2>
      <a:accent1>
        <a:srgbClr val="5B4FE0"/>
      </a:accent1>
      <a:accent2>
        <a:srgbClr val="1E1B4B"/>
      </a:accent2>
      <a:accent3>
        <a:srgbClr val="FF6B57"/>
      </a:accent3>
      <a:accent4>
        <a:srgbClr val="EEF0FF"/>
      </a:accent4>
      <a:accent5>
        <a:srgbClr val="D5D8FA"/>
      </a:accent5>
      <a:accent6>
        <a:srgbClr val="E3E5F0"/>
      </a:accent6>
      <a:hlink>
        <a:srgbClr val="5B4FE0"/>
      </a:hlink>
      <a:folHlink>
        <a:srgbClr val="1E1B4B"/>
      </a:folHlink>
    </a:clrScheme>
    <a:fontScheme name="Card Flow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3933</TotalTime>
  <Words>7148</Words>
  <Application>Microsoft Office PowerPoint</Application>
  <PresentationFormat>와이드스크린</PresentationFormat>
  <Paragraphs>1339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Consolas</vt:lpstr>
      <vt:lpstr>Card Flow</vt:lpstr>
      <vt:lpstr>데이터플랫폼 안의 NL2SQL 엔진</vt:lpstr>
      <vt:lpstr>LLM은 판단하고, SQL은 컴파일러가 만든다</vt:lpstr>
      <vt:lpstr>질문 하나가 SQL이 되는 5단계</vt:lpstr>
      <vt:lpstr>한 번에 검색하는 방식과 무엇이 다른가</vt:lpstr>
      <vt:lpstr>실제 구축과정에서 해야할 일</vt:lpstr>
      <vt:lpstr>meta_system                                         meta_table</vt:lpstr>
      <vt:lpstr>meta_column                                        meta_relation</vt:lpstr>
      <vt:lpstr>metric                                                 metric_table</vt:lpstr>
      <vt:lpstr>ask_log                                                ask_trace</vt:lpstr>
      <vt:lpstr>테이블 메타정보 구조화 설계</vt:lpstr>
      <vt:lpstr>원천 테이블 → 메타정보 구조화 결과  (bms_log)</vt:lpstr>
      <vt:lpstr>예시 질의 변환 과정</vt:lpstr>
      <vt:lpstr>LLM 연동 인터페이스 설계 요약</vt:lpstr>
      <vt:lpstr>질문 한 줄이 SQL이 되기까지</vt:lpstr>
      <vt:lpstr>LLM 결과 파싱 및 쿼리 전송</vt:lpstr>
      <vt:lpstr>변형 질문 테스트 (같은 뜻 다른 표현)</vt:lpstr>
      <vt:lpstr>변형 질문 테스트 (예상하지 못한 질문 입력 시)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질문 한 줄이 SQL이 되기까지</dc:title>
  <dc:subject>PptxGenJS Presentation</dc:subject>
  <dc:creator>PptxGenJS</dc:creator>
  <cp:lastModifiedBy>배 도윤</cp:lastModifiedBy>
  <cp:revision>164</cp:revision>
  <dcterms:created xsi:type="dcterms:W3CDTF">2026-10-11T04:28:59Z</dcterms:created>
  <dcterms:modified xsi:type="dcterms:W3CDTF">2026-10-19T04:48:47Z</dcterms:modified>
</cp:coreProperties>
</file>