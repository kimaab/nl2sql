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</p:sldIdLst>
  <p:sldSz cx="9144000" cy="23749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14" y="-4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4E445-81D5-428B-95EB-C0E7CE50D19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ECC5F-CB67-4900-9651-FC445C3184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333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60416"/>
            <a:ext cx="7772400" cy="565949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8538164"/>
            <a:ext cx="6858000" cy="3924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970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04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4052716"/>
            <a:ext cx="7886700" cy="676204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0878731"/>
            <a:ext cx="7886700" cy="3555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25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4327407"/>
            <a:ext cx="3886200" cy="103142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4327407"/>
            <a:ext cx="3886200" cy="103142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06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65485"/>
            <a:ext cx="7886700" cy="31420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3984979"/>
            <a:ext cx="3868340" cy="19529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5937956"/>
            <a:ext cx="3868340" cy="87338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3984979"/>
            <a:ext cx="3887391" cy="19529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5937956"/>
            <a:ext cx="3887391" cy="87338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08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79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097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083733"/>
            <a:ext cx="2949178" cy="37930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2340567"/>
            <a:ext cx="4629150" cy="115522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76800"/>
            <a:ext cx="2949178" cy="90348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76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083733"/>
            <a:ext cx="2949178" cy="37930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2340567"/>
            <a:ext cx="4629150" cy="1155229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76800"/>
            <a:ext cx="2949178" cy="90348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71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5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865481"/>
            <a:ext cx="1971675" cy="1377620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865481"/>
            <a:ext cx="5800725" cy="1377620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371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865485"/>
            <a:ext cx="78867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4327407"/>
            <a:ext cx="78867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5066908"/>
            <a:ext cx="20574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80846-F206-4533-A531-30BE6757C37A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5066908"/>
            <a:ext cx="30861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5066908"/>
            <a:ext cx="20574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6A604-3AB0-4A55-B211-289807100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91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D70F8EF-EFB1-EAF7-5565-14D638882560}"/>
              </a:ext>
            </a:extLst>
          </p:cNvPr>
          <p:cNvSpPr txBox="1"/>
          <p:nvPr/>
        </p:nvSpPr>
        <p:spPr>
          <a:xfrm>
            <a:off x="527309" y="530372"/>
            <a:ext cx="6350000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sz="1400" b="1">
                <a:solidFill>
                  <a:srgbClr val="1F2A37"/>
                </a:solidFill>
                <a:latin typeface="맑은 고딕"/>
                <a:ea typeface="맑은 고딕"/>
              </a:rPr>
              <a:t>TO-BE · 지표 검색에 임베딩(의미 검색) 추가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D3699C-B114-D398-C3E2-EEAF318442EA}"/>
              </a:ext>
            </a:extLst>
          </p:cNvPr>
          <p:cNvSpPr/>
          <p:nvPr/>
        </p:nvSpPr>
        <p:spPr>
          <a:xfrm>
            <a:off x="527309" y="1123138"/>
            <a:ext cx="1500188" cy="557213"/>
          </a:xfrm>
          <a:prstGeom prst="rect">
            <a:avLst/>
          </a:prstGeom>
          <a:solidFill>
            <a:schemeClr val="accent6"/>
          </a:solidFill>
          <a:ln w="1651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지표 등록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5E276AF-A5AB-255D-16DC-2E8FD2A9C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21" y="2073961"/>
            <a:ext cx="3845768" cy="274569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DB7675-2D43-2AA8-C8D9-BF413C98C843}"/>
              </a:ext>
            </a:extLst>
          </p:cNvPr>
          <p:cNvSpPr txBox="1"/>
          <p:nvPr/>
        </p:nvSpPr>
        <p:spPr>
          <a:xfrm>
            <a:off x="3019425" y="2073961"/>
            <a:ext cx="1048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008000"/>
                </a:highlight>
              </a:rPr>
              <a:t>Measure</a:t>
            </a:r>
            <a:endParaRPr lang="ko-KR" altLang="en-US" dirty="0">
              <a:highlight>
                <a:srgbClr val="008000"/>
              </a:highlight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06FE1EB-FD1C-8B73-90B6-7E55A1E64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457" y="2074255"/>
            <a:ext cx="3589477" cy="274539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41CEB5D-5290-C6FA-442A-89CE1F4FB9C9}"/>
              </a:ext>
            </a:extLst>
          </p:cNvPr>
          <p:cNvSpPr txBox="1"/>
          <p:nvPr/>
        </p:nvSpPr>
        <p:spPr>
          <a:xfrm>
            <a:off x="7505260" y="2073961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 err="1">
                <a:highlight>
                  <a:srgbClr val="008000"/>
                </a:highlight>
              </a:rPr>
              <a:t>Dimension</a:t>
            </a:r>
            <a:endParaRPr lang="ko-KR" altLang="en-US" dirty="0">
              <a:highlight>
                <a:srgbClr val="008000"/>
              </a:highlight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33B8BF5A-E4C3-41C2-8273-9E3F2C54E66F}"/>
              </a:ext>
            </a:extLst>
          </p:cNvPr>
          <p:cNvSpPr/>
          <p:nvPr/>
        </p:nvSpPr>
        <p:spPr>
          <a:xfrm>
            <a:off x="1277403" y="1680351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AE1E14-0C16-5BCF-A341-28CA4AB6CF51}"/>
              </a:ext>
            </a:extLst>
          </p:cNvPr>
          <p:cNvSpPr/>
          <p:nvPr/>
        </p:nvSpPr>
        <p:spPr>
          <a:xfrm>
            <a:off x="508000" y="7188200"/>
            <a:ext cx="1500188" cy="557213"/>
          </a:xfrm>
          <a:prstGeom prst="rect">
            <a:avLst/>
          </a:prstGeom>
          <a:solidFill>
            <a:schemeClr val="accent6"/>
          </a:solidFill>
          <a:ln w="1651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SQL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생성 요청</a:t>
            </a:r>
          </a:p>
        </p:txBody>
      </p:sp>
      <p:sp>
        <p:nvSpPr>
          <p:cNvPr id="8" name="Box prompt">
            <a:extLst>
              <a:ext uri="{FF2B5EF4-FFF2-40B4-BE49-F238E27FC236}">
                <a16:creationId xmlns:a16="http://schemas.microsoft.com/office/drawing/2014/main" id="{99688D51-CF77-34E9-864C-3AC68EAFE3BF}"/>
              </a:ext>
            </a:extLst>
          </p:cNvPr>
          <p:cNvSpPr/>
          <p:nvPr/>
        </p:nvSpPr>
        <p:spPr>
          <a:xfrm>
            <a:off x="3352800" y="17653000"/>
            <a:ext cx="2234180" cy="2523331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0" name="Title prompt">
            <a:extLst>
              <a:ext uri="{FF2B5EF4-FFF2-40B4-BE49-F238E27FC236}">
                <a16:creationId xmlns:a16="http://schemas.microsoft.com/office/drawing/2014/main" id="{E45918E2-4FE4-FAAD-05D2-DD02D8AFB451}"/>
              </a:ext>
            </a:extLst>
          </p:cNvPr>
          <p:cNvSpPr txBox="1"/>
          <p:nvPr/>
        </p:nvSpPr>
        <p:spPr>
          <a:xfrm>
            <a:off x="3416300" y="17741900"/>
            <a:ext cx="1985938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프롬프트 구성</a:t>
            </a:r>
            <a:endParaRPr lang="ko-KR" altLang="en-US" sz="1294" b="1" dirty="0">
              <a:solidFill>
                <a:srgbClr val="2463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Body prompt">
            <a:extLst>
              <a:ext uri="{FF2B5EF4-FFF2-40B4-BE49-F238E27FC236}">
                <a16:creationId xmlns:a16="http://schemas.microsoft.com/office/drawing/2014/main" id="{09FFD0AB-A10F-9052-CB8E-B29932AA86B4}"/>
              </a:ext>
            </a:extLst>
          </p:cNvPr>
          <p:cNvSpPr txBox="1"/>
          <p:nvPr/>
        </p:nvSpPr>
        <p:spPr>
          <a:xfrm>
            <a:off x="3403598" y="18059399"/>
            <a:ext cx="21336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오늘 날짜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(2026-10-07)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  → '7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월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같은 기간 계산 기준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허용된 메타데이터</a:t>
            </a: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  후보 지표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테이블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컬럼만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조회 명세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(AST)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작성 규칙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지표 예시 질문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(few-shot)</a:t>
            </a:r>
          </a:p>
          <a:p>
            <a:endParaRPr lang="en-US" altLang="ko-KR" sz="900">
              <a:solidFill>
                <a:srgbClr val="526477"/>
              </a:solidFill>
              <a:latin typeface="맑은 고딕" panose="020B0503020000020004" pitchFamily="50" charset="-127"/>
            </a:endParaRP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→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질문과 함께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LLM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에 전달</a:t>
            </a:r>
            <a:endParaRPr lang="ko-KR" altLang="en-US" sz="900" dirty="0">
              <a:solidFill>
                <a:srgbClr val="5264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Box llm">
            <a:extLst>
              <a:ext uri="{FF2B5EF4-FFF2-40B4-BE49-F238E27FC236}">
                <a16:creationId xmlns:a16="http://schemas.microsoft.com/office/drawing/2014/main" id="{A322EA08-223A-9072-05FA-C8198387AD9C}"/>
              </a:ext>
            </a:extLst>
          </p:cNvPr>
          <p:cNvSpPr/>
          <p:nvPr/>
        </p:nvSpPr>
        <p:spPr>
          <a:xfrm>
            <a:off x="6477000" y="17653000"/>
            <a:ext cx="2234180" cy="2523331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Title llm">
            <a:extLst>
              <a:ext uri="{FF2B5EF4-FFF2-40B4-BE49-F238E27FC236}">
                <a16:creationId xmlns:a16="http://schemas.microsoft.com/office/drawing/2014/main" id="{1C9CFA9B-E9C6-88F6-CAC9-FE77034171D6}"/>
              </a:ext>
            </a:extLst>
          </p:cNvPr>
          <p:cNvSpPr txBox="1"/>
          <p:nvPr/>
        </p:nvSpPr>
        <p:spPr>
          <a:xfrm>
            <a:off x="6540500" y="17741900"/>
            <a:ext cx="1985938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LLM: </a:t>
            </a:r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 명세</a:t>
            </a:r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(AST)</a:t>
            </a:r>
            <a:endParaRPr lang="ko-KR" altLang="en-US" sz="1294" b="1" dirty="0">
              <a:solidFill>
                <a:srgbClr val="2463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Body llm">
            <a:extLst>
              <a:ext uri="{FF2B5EF4-FFF2-40B4-BE49-F238E27FC236}">
                <a16:creationId xmlns:a16="http://schemas.microsoft.com/office/drawing/2014/main" id="{E070ED1E-5D10-E87B-AC72-E91BAA374E86}"/>
              </a:ext>
            </a:extLst>
          </p:cNvPr>
          <p:cNvSpPr txBox="1"/>
          <p:nvPr/>
        </p:nvSpPr>
        <p:spPr>
          <a:xfrm>
            <a:off x="6527799" y="18059399"/>
            <a:ext cx="21336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SQL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이 아니라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JSON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만 생성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{"metric": "</a:t>
            </a:r>
            <a:r>
              <a:rPr lang="ko-KR" altLang="en-US" sz="750">
                <a:solidFill>
                  <a:srgbClr val="526477"/>
                </a:solidFill>
                <a:latin typeface="Consolas" panose="020B0609020204030204" pitchFamily="49" charset="0"/>
              </a:rPr>
              <a:t>차량상태 상세정보</a:t>
            </a:r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",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"filters": [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vehicle_id = 'xxx',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collect_datetime ≥ 2026-07-01,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collect_datetime ≤ 2026-07-31 ],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"order_by": collect_datetime }</a:t>
            </a:r>
          </a:p>
          <a:p>
            <a:endParaRPr lang="en-US" altLang="ko-KR" sz="900">
              <a:solidFill>
                <a:srgbClr val="526477"/>
              </a:solidFill>
              <a:latin typeface="맑은 고딕" panose="020B0503020000020004" pitchFamily="50" charset="-127"/>
            </a:endParaRP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기간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차량 조건은 이 단계에서 해석</a:t>
            </a:r>
            <a:endParaRPr lang="ko-KR" altLang="en-US" sz="900" dirty="0">
              <a:solidFill>
                <a:srgbClr val="5264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Box compile">
            <a:extLst>
              <a:ext uri="{FF2B5EF4-FFF2-40B4-BE49-F238E27FC236}">
                <a16:creationId xmlns:a16="http://schemas.microsoft.com/office/drawing/2014/main" id="{D658B87A-9769-5454-0F74-F556C7F2E395}"/>
              </a:ext>
            </a:extLst>
          </p:cNvPr>
          <p:cNvSpPr/>
          <p:nvPr/>
        </p:nvSpPr>
        <p:spPr>
          <a:xfrm>
            <a:off x="6477000" y="20713700"/>
            <a:ext cx="2234180" cy="2523331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25" name="Title compile">
            <a:extLst>
              <a:ext uri="{FF2B5EF4-FFF2-40B4-BE49-F238E27FC236}">
                <a16:creationId xmlns:a16="http://schemas.microsoft.com/office/drawing/2014/main" id="{52443CE3-0749-4D74-BBE3-16CEDF31D0A7}"/>
              </a:ext>
            </a:extLst>
          </p:cNvPr>
          <p:cNvSpPr txBox="1"/>
          <p:nvPr/>
        </p:nvSpPr>
        <p:spPr>
          <a:xfrm>
            <a:off x="6540500" y="20802600"/>
            <a:ext cx="1985938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컴파일러</a:t>
            </a:r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·SQL </a:t>
            </a:r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조립</a:t>
            </a:r>
            <a:endParaRPr lang="ko-KR" altLang="en-US" sz="1294" b="1" dirty="0">
              <a:solidFill>
                <a:srgbClr val="2463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Body compile">
            <a:extLst>
              <a:ext uri="{FF2B5EF4-FFF2-40B4-BE49-F238E27FC236}">
                <a16:creationId xmlns:a16="http://schemas.microsoft.com/office/drawing/2014/main" id="{B9895D78-FC58-C8F2-2BB5-7FA918637557}"/>
              </a:ext>
            </a:extLst>
          </p:cNvPr>
          <p:cNvSpPr txBox="1"/>
          <p:nvPr/>
        </p:nvSpPr>
        <p:spPr>
          <a:xfrm>
            <a:off x="6527799" y="21120099"/>
            <a:ext cx="21336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지표 정의 펼치기</a:t>
            </a: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  조회 컬럼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12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개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+ bms_condition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조인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고정 필터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질문에서 받음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확인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날짜 보정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: ≤ 07-31 → &lt; 08-01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테이블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컬럼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값 화이트리스트 검증</a:t>
            </a:r>
          </a:p>
          <a:p>
            <a:endParaRPr lang="ko-KR" altLang="en-US" sz="900">
              <a:solidFill>
                <a:srgbClr val="526477"/>
              </a:solidFill>
              <a:latin typeface="맑은 고딕" panose="020B0503020000020004" pitchFamily="50" charset="-127"/>
            </a:endParaRPr>
          </a:p>
          <a:p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실패하면 오류 메시지로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재시도</a:t>
            </a:r>
          </a:p>
          <a:p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최대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회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이번 질문은 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900">
                <a:solidFill>
                  <a:srgbClr val="526477"/>
                </a:solidFill>
                <a:latin typeface="맑은 고딕" panose="020B0503020000020004" pitchFamily="50" charset="-127"/>
              </a:rPr>
              <a:t>회째 성공</a:t>
            </a:r>
            <a:r>
              <a:rPr lang="en-US" altLang="ko-KR" sz="900">
                <a:solidFill>
                  <a:srgbClr val="526477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52647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Box sql">
            <a:extLst>
              <a:ext uri="{FF2B5EF4-FFF2-40B4-BE49-F238E27FC236}">
                <a16:creationId xmlns:a16="http://schemas.microsoft.com/office/drawing/2014/main" id="{2D88F127-561D-9520-17BB-784A667E939E}"/>
              </a:ext>
            </a:extLst>
          </p:cNvPr>
          <p:cNvSpPr/>
          <p:nvPr/>
        </p:nvSpPr>
        <p:spPr>
          <a:xfrm>
            <a:off x="508000" y="20713700"/>
            <a:ext cx="5080000" cy="2523331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30" name="Title sql">
            <a:extLst>
              <a:ext uri="{FF2B5EF4-FFF2-40B4-BE49-F238E27FC236}">
                <a16:creationId xmlns:a16="http://schemas.microsoft.com/office/drawing/2014/main" id="{852994DB-C03A-F6F0-CA13-30DD0A444D44}"/>
              </a:ext>
            </a:extLst>
          </p:cNvPr>
          <p:cNvSpPr txBox="1"/>
          <p:nvPr/>
        </p:nvSpPr>
        <p:spPr>
          <a:xfrm>
            <a:off x="571500" y="20802600"/>
            <a:ext cx="4826000" cy="19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생성된 </a:t>
            </a:r>
            <a:r>
              <a:rPr lang="en-US" altLang="ko-KR" sz="1294" b="1">
                <a:solidFill>
                  <a:srgbClr val="2463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</a:t>
            </a:r>
            <a:endParaRPr lang="ko-KR" altLang="en-US" sz="1294" b="1" dirty="0">
              <a:solidFill>
                <a:srgbClr val="2463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Body sql">
            <a:extLst>
              <a:ext uri="{FF2B5EF4-FFF2-40B4-BE49-F238E27FC236}">
                <a16:creationId xmlns:a16="http://schemas.microsoft.com/office/drawing/2014/main" id="{B9124846-D7B9-6AD8-6907-558C53510C23}"/>
              </a:ext>
            </a:extLst>
          </p:cNvPr>
          <p:cNvSpPr txBox="1"/>
          <p:nvPr/>
        </p:nvSpPr>
        <p:spPr>
          <a:xfrm>
            <a:off x="558798" y="21120099"/>
            <a:ext cx="4826000" cy="205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SELECT vehicle_id, model, …,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collect_datetime, op_mode_m, …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FROM vehicle_info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INNER JOIN bms_condition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ON vehicle_info.vehicle_id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 = bms_condition.vehicle_id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WHERE vehicle_id = 'xxx'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AND collect_datetime &gt;= '2026-07-01'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  AND collect_datetime &lt;  '2026-08-01'</a:t>
            </a:r>
          </a:p>
          <a:p>
            <a:r>
              <a:rPr lang="en-US" altLang="ko-KR" sz="750">
                <a:solidFill>
                  <a:srgbClr val="526477"/>
                </a:solidFill>
                <a:latin typeface="Consolas" panose="020B0609020204030204" pitchFamily="49" charset="0"/>
              </a:rPr>
              <a:t>ORDER BY collect_datetime</a:t>
            </a:r>
            <a:endParaRPr lang="ko-KR" altLang="en-US" sz="750" dirty="0">
              <a:solidFill>
                <a:srgbClr val="526477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33400" y="8128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8A96A3"/>
                </a:solidFill>
                <a:latin typeface="맑은 고딕"/>
                <a:ea typeface="맑은 고딕"/>
              </a:rPr>
              <a:t>주황 = 새로 추가되는 단계 · 파랑 = 기존 단계 · 점수는 이해를 돕기 위한 예시 값</a:t>
            </a:r>
          </a:p>
        </p:txBody>
      </p:sp>
      <p:sp>
        <p:nvSpPr>
          <p:cNvPr id="201" name="Arrow 202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>
            <a:off x="4368800" y="49149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Rectangle 201"/>
          <p:cNvSpPr/>
          <p:nvPr/>
        </p:nvSpPr>
        <p:spPr>
          <a:xfrm>
            <a:off x="508000" y="5384800"/>
            <a:ext cx="8204200" cy="1447800"/>
          </a:xfrm>
          <a:prstGeom prst="rect">
            <a:avLst/>
          </a:prstGeom>
          <a:solidFill>
            <a:srgbClr val="FFF6EC"/>
          </a:solidFill>
          <a:ln w="2286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584200" y="5486400"/>
            <a:ext cx="8051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94" b="1">
                <a:solidFill>
                  <a:srgbClr val="D96C06"/>
                </a:solidFill>
                <a:latin typeface="맑은 고딕"/>
                <a:ea typeface="맑은 고딕"/>
              </a:rPr>
              <a:t>임베딩 계산·저장  (지표를 저장할 때 1번)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09600" y="5816600"/>
            <a:ext cx="80010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지표의 '뜻'을 숫자 벡터로 바꿔 미리 저장해 둔다 → 질문할 때마다 다시 계산하지 않는다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· 지표 이름 + 설명 → 벡터 1개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· 예시 질문 → 질문마다 벡터 1개 (사람들이 실제로 묻는 말투라 질문과 가장 잘 맞는다)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· 메타데이터 DB에 함께 저장, 지표를 수정했을 때만 다시 계산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· 임베딩 모델: 사내 LLM 서버(/v1/embeddings) 또는 로컬 모델(bge-m3 등) — 미정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8153400" y="5283200"/>
            <a:ext cx="520700" cy="2032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203" name="Arrow 204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>
            <a:off x="1282700" y="78232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Rectangle 205"/>
          <p:cNvSpPr/>
          <p:nvPr/>
        </p:nvSpPr>
        <p:spPr>
          <a:xfrm>
            <a:off x="508000" y="8280400"/>
            <a:ext cx="8204200" cy="838200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584200" y="8382000"/>
            <a:ext cx="8051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94" b="1">
                <a:solidFill>
                  <a:srgbClr val="2463A6"/>
                </a:solidFill>
                <a:latin typeface="맑은 고딕"/>
                <a:ea typeface="맑은 고딕"/>
              </a:rPr>
              <a:t>사용자 질문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09600" y="8712200"/>
            <a:ext cx="8001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“2026년 7월 기준 xxx 차량 차량상태 일별로” 입력  →  </a:t>
            </a:r>
            <a:r>
              <a:rPr sz="1000" b="1">
                <a:solidFill>
                  <a:srgbClr val="1F2A37"/>
                </a:solidFill>
                <a:latin typeface="맑은 고딕"/>
                <a:ea typeface="맑은 고딕"/>
              </a:rPr>
              <a:t>같은 질문으로 두 가지 검색을 동시에 한다</a:t>
            </a:r>
          </a:p>
        </p:txBody>
      </p:sp>
      <p:sp>
        <p:nvSpPr>
          <p:cNvPr id="205" name="Arrow 206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>
            <a:off x="2190750" y="92202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Arrow 208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>
            <a:off x="6546850" y="92202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TextBox 208"/>
          <p:cNvSpPr txBox="1"/>
          <p:nvPr/>
        </p:nvSpPr>
        <p:spPr>
          <a:xfrm>
            <a:off x="508000" y="9677400"/>
            <a:ext cx="3848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463A6"/>
                </a:solidFill>
                <a:latin typeface="맑은 고딕"/>
                <a:ea typeface="맑은 고딕"/>
              </a:rPr>
              <a:t>① 키워드 검색 (기존)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864100" y="9677400"/>
            <a:ext cx="3848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96C06"/>
                </a:solidFill>
                <a:latin typeface="맑은 고딕"/>
                <a:ea typeface="맑은 고딕"/>
              </a:rPr>
              <a:t>② 의미 검색 (NEW)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508000" y="10033000"/>
            <a:ext cx="3848100" cy="1905000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84200" y="10134600"/>
            <a:ext cx="3695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94" b="1">
                <a:solidFill>
                  <a:srgbClr val="2463A6"/>
                </a:solidFill>
                <a:latin typeface="맑은 고딕"/>
                <a:ea typeface="맑은 고딕"/>
              </a:rPr>
              <a:t>토큰화 (2-gram)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609600" y="10464800"/>
            <a:ext cx="364490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글자를 2개씩 잘라 조각으로 만든다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2026, 년, 7, 월, 기준, xxx, 차량, 차량, </a:t>
            </a:r>
            <a:r>
              <a:rPr sz="1000" b="1">
                <a:solidFill>
                  <a:srgbClr val="1F2A37"/>
                </a:solidFill>
                <a:latin typeface="맑은 고딕"/>
                <a:ea typeface="맑은 고딕"/>
              </a:rPr>
              <a:t>량상, 상태</a:t>
            </a:r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, 일별, 별로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→ 이 조각들이 지표 설명에 '글자 그대로' 있어야 매칭된다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864100" y="10033000"/>
            <a:ext cx="3848100" cy="1905000"/>
          </a:xfrm>
          <a:prstGeom prst="rect">
            <a:avLst/>
          </a:prstGeom>
          <a:solidFill>
            <a:srgbClr val="FFF6EC"/>
          </a:solidFill>
          <a:ln w="2286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4940300" y="10134600"/>
            <a:ext cx="3695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94" b="1">
                <a:solidFill>
                  <a:srgbClr val="D96C06"/>
                </a:solidFill>
                <a:latin typeface="맑은 고딕"/>
                <a:ea typeface="맑은 고딕"/>
              </a:rPr>
              <a:t>질문 임베딩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965700" y="10464800"/>
            <a:ext cx="364490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임베딩 모델이 질문 문장 전체를 숫자 벡터 하나로 바꾼다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1000" b="0">
                <a:solidFill>
                  <a:srgbClr val="1F2A37"/>
                </a:solidFill>
                <a:latin typeface="Consolas"/>
                <a:ea typeface="Consolas"/>
              </a:rPr>
              <a:t> [0.12, -0.08, 0.33, … ]  (숫자 1,024개)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· 글자 모양이 아니라 '뜻'이 담긴다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· 질문 1문장만 변환 (지표 쪽 벡터는 이미 저장돼 있음)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8153400" y="9931400"/>
            <a:ext cx="520700" cy="2032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209" name="Arrow 210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>
            <a:off x="2190750" y="120142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" name="Arrow 212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>
            <a:off x="6546850" y="120142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" name="Rectangle 217"/>
          <p:cNvSpPr/>
          <p:nvPr/>
        </p:nvSpPr>
        <p:spPr>
          <a:xfrm>
            <a:off x="508000" y="12471400"/>
            <a:ext cx="3848100" cy="2489200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584200" y="12573000"/>
            <a:ext cx="3695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94" b="1">
                <a:solidFill>
                  <a:srgbClr val="2463A6"/>
                </a:solidFill>
                <a:latin typeface="맑은 고딕"/>
                <a:ea typeface="맑은 고딕"/>
              </a:rPr>
              <a:t>TF-IDF 검색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09600" y="12903200"/>
            <a:ext cx="3644900" cy="198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질문 조각이 단어 사전에 있을 때만 점수가 오른다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사용: 7, 차량, 량상, 상태, 일별 / 무시: 2026, 년, 월 …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1000" b="1">
                <a:solidFill>
                  <a:srgbClr val="1F2A37"/>
                </a:solidFill>
                <a:latin typeface="맑은 고딕"/>
                <a:ea typeface="맑은 고딕"/>
              </a:rPr>
              <a:t>1. 차량상태 상세정보   0.52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2. 일별 가동시간   0.33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3. vehicle_info   0.26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강점: 컬럼명·코드값처럼 글자가 똑같을 때 정확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약점: '차 컨디션'처럼 표현이 다르면 못 찾음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864100" y="12471400"/>
            <a:ext cx="3848100" cy="2489200"/>
          </a:xfrm>
          <a:prstGeom prst="rect">
            <a:avLst/>
          </a:prstGeom>
          <a:solidFill>
            <a:srgbClr val="FFF6EC"/>
          </a:solidFill>
          <a:ln w="2286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940300" y="12573000"/>
            <a:ext cx="36957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94" b="1">
                <a:solidFill>
                  <a:srgbClr val="D96C06"/>
                </a:solidFill>
                <a:latin typeface="맑은 고딕"/>
                <a:ea typeface="맑은 고딕"/>
              </a:rPr>
              <a:t>벡터 유사도 검색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965700" y="12903200"/>
            <a:ext cx="3644900" cy="198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질문 벡터와 저장된 지표 벡터가 얼마나 가까운지 비교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(예시 질문 중 가장 가까운 것의 점수 사용 · 대상은 지표만)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1000" b="1">
                <a:solidFill>
                  <a:srgbClr val="1F2A37"/>
                </a:solidFill>
                <a:latin typeface="맑은 고딕"/>
                <a:ea typeface="맑은 고딕"/>
              </a:rPr>
              <a:t>1. 차량상태 상세정보   0.81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2. 차량 기본 정보   0.64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3. 일별 가동시간   0.58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강점: '차 컨디션' ≈ '차량상태'처럼 뜻이 같으면 찾음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약점: 코드값·약어처럼 정확히 같아야 하는 건 약함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8153400" y="12369800"/>
            <a:ext cx="520700" cy="2032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213" name="Arrow 214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>
            <a:off x="2190750" y="150368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Arrow 216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>
            <a:off x="6546850" y="150368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5" name="Rectangle 224"/>
          <p:cNvSpPr/>
          <p:nvPr/>
        </p:nvSpPr>
        <p:spPr>
          <a:xfrm>
            <a:off x="508000" y="15494000"/>
            <a:ext cx="8204200" cy="1625600"/>
          </a:xfrm>
          <a:prstGeom prst="rect">
            <a:avLst/>
          </a:prstGeom>
          <a:solidFill>
            <a:srgbClr val="FFF6EC"/>
          </a:solidFill>
          <a:ln w="2286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84200" y="15595600"/>
            <a:ext cx="8051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94" b="1">
                <a:solidFill>
                  <a:srgbClr val="D96C06"/>
                </a:solidFill>
                <a:latin typeface="맑은 고딕"/>
                <a:ea typeface="맑은 고딕"/>
              </a:rPr>
              <a:t>점수 결합 (RRF · 두 순위 합치기)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09600" y="15925800"/>
            <a:ext cx="8001000" cy="111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두 검색의 점수는 단위가 달라 그대로 더할 수 없다 → 각 검색의 </a:t>
            </a:r>
            <a:r>
              <a:rPr sz="1000" b="1">
                <a:solidFill>
                  <a:srgbClr val="1F2A37"/>
                </a:solidFill>
                <a:latin typeface="맑은 고딕"/>
                <a:ea typeface="맑은 고딕"/>
              </a:rPr>
              <a:t>'순위'</a:t>
            </a:r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만 보고 합친다</a:t>
            </a:r>
          </a:p>
          <a:p>
            <a:r>
              <a:rPr sz="1000" b="1">
                <a:solidFill>
                  <a:srgbClr val="1F2A37"/>
                </a:solidFill>
                <a:latin typeface="맑은 고딕"/>
                <a:ea typeface="맑은 고딕"/>
              </a:rPr>
              <a:t>     점수 = 1 / (60 + 키워드 순위)  +  1 / (60 + 의미 순위)</a:t>
            </a:r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    (60은 순위 차이를 완만하게 하는 상수)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· 차량상태 상세정보: 키워드 1위 + 의미 1위 → </a:t>
            </a:r>
            <a:r>
              <a:rPr sz="1000" b="1">
                <a:solidFill>
                  <a:srgbClr val="D96C06"/>
                </a:solidFill>
                <a:latin typeface="맑은 고딕"/>
                <a:ea typeface="맑은 고딕"/>
              </a:rPr>
              <a:t>최종 1위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· 한쪽 검색에서만 걸려도 후보로 남는다 (서로의 약점을 메움)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· 임베딩 점수는 0점이 거의 없다 → 기준 점수보다 낮은 항목은 버린다 (관련 없는 지표가 끼는 것 방지)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8153400" y="15392400"/>
            <a:ext cx="520700" cy="2032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NEW</a:t>
            </a:r>
          </a:p>
        </p:txBody>
      </p:sp>
      <p:sp>
        <p:nvSpPr>
          <p:cNvPr id="217" name="Arrow 218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>
            <a:off x="1384300" y="171958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Rectangle 228"/>
          <p:cNvSpPr/>
          <p:nvPr/>
        </p:nvSpPr>
        <p:spPr>
          <a:xfrm>
            <a:off x="508000" y="17653000"/>
            <a:ext cx="2235200" cy="2527300"/>
          </a:xfrm>
          <a:prstGeom prst="rect">
            <a:avLst/>
          </a:prstGeom>
          <a:solidFill>
            <a:srgbClr val="FFFFFF"/>
          </a:solidFill>
          <a:ln w="1651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584200" y="17754600"/>
            <a:ext cx="208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94" b="1">
                <a:solidFill>
                  <a:srgbClr val="2463A6"/>
                </a:solidFill>
                <a:latin typeface="맑은 고딕"/>
                <a:ea typeface="맑은 고딕"/>
              </a:rPr>
              <a:t>후보 선택 (상위 3개)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09600" y="18084800"/>
            <a:ext cx="2032000" cy="2019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결합 순위로 고른다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지표</a:t>
            </a:r>
          </a:p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· 차량상태 상세정보 (정답)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· 일별 가동시간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· 차량 기본 정보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00" b="1">
                <a:solidFill>
                  <a:srgbClr val="1F2A37"/>
                </a:solidFill>
                <a:latin typeface="맑은 고딕"/>
                <a:ea typeface="맑은 고딕"/>
              </a:rPr>
              <a:t>테이블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· vehicle_info</a:t>
            </a:r>
          </a:p>
          <a:p>
            <a:r>
              <a:rPr sz="900" b="0">
                <a:solidFill>
                  <a:srgbClr val="526477"/>
                </a:solidFill>
                <a:latin typeface="맑은 고딕"/>
                <a:ea typeface="맑은 고딕"/>
              </a:rPr>
              <a:t>· bms_condition (지표의 조인)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2184400" y="17551400"/>
            <a:ext cx="406400" cy="203200"/>
          </a:xfrm>
          <a:prstGeom prst="roundRect">
            <a:avLst/>
          </a:prstGeom>
          <a:solidFill>
            <a:srgbClr val="D96C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변경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4749800" y="17551400"/>
            <a:ext cx="749300" cy="203200"/>
          </a:xfrm>
          <a:prstGeom prst="round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526477"/>
                </a:solidFill>
                <a:latin typeface="맑은 고딕"/>
                <a:ea typeface="맑은 고딕"/>
              </a:rPr>
              <a:t>변경 없음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7874000" y="17551400"/>
            <a:ext cx="749300" cy="203200"/>
          </a:xfrm>
          <a:prstGeom prst="round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526477"/>
                </a:solidFill>
                <a:latin typeface="맑은 고딕"/>
                <a:ea typeface="맑은 고딕"/>
              </a:rPr>
              <a:t>변경 없음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7874000" y="20612100"/>
            <a:ext cx="749300" cy="203200"/>
          </a:xfrm>
          <a:prstGeom prst="round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526477"/>
                </a:solidFill>
                <a:latin typeface="맑은 고딕"/>
                <a:ea typeface="맑은 고딕"/>
              </a:rPr>
              <a:t>변경 없음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749800" y="20612100"/>
            <a:ext cx="749300" cy="203200"/>
          </a:xfrm>
          <a:prstGeom prst="roundRect">
            <a:avLst/>
          </a:prstGeom>
          <a:solidFill>
            <a:srgbClr val="E6E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526477"/>
                </a:solidFill>
                <a:latin typeface="맑은 고딕"/>
                <a:ea typeface="맑은 고딕"/>
              </a:rPr>
              <a:t>변경 없음</a:t>
            </a:r>
          </a:p>
        </p:txBody>
      </p:sp>
      <p:sp>
        <p:nvSpPr>
          <p:cNvPr id="219" name="Arrow 220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 rot="16200000">
            <a:off x="2794000" y="187325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Arrow 222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 rot="16200000">
            <a:off x="5854700" y="187325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3" name="Arrow 224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>
            <a:off x="7353300" y="202565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5" name="Arrow 226">
            <a:extLst>
              <a:ext uri="{FF2B5EF4-FFF2-40B4-BE49-F238E27FC236}">
                <a16:creationId xmlns:a16="http://schemas.microsoft.com/office/drawing/2014/main" id="{33942720-ED4A-E006-174F-FED45FCA0EC8}"/>
              </a:ext>
            </a:extLst>
          </p:cNvPr>
          <p:cNvSpPr/>
          <p:nvPr/>
        </p:nvSpPr>
        <p:spPr>
          <a:xfrm rot="5400000">
            <a:off x="5854700" y="21793200"/>
            <a:ext cx="484632" cy="3693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89894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F2A37"/>
                </a:solidFill>
                <a:latin typeface="맑은 고딕"/>
                <a:ea typeface="맑은 고딕"/>
              </a:rPr>
              <a:t>하이브리드 매칭 상세 (실측)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89000"/>
            <a:ext cx="812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8A96A3"/>
                </a:solidFill>
                <a:latin typeface="맑은 고딕"/>
                <a:ea typeface="맑은 고딕"/>
              </a:rPr>
              <a:t>개발 DB 'baroness 개발서버' 지표 7개 · 테이블 16개 · 임베딩 bge-m3 · 의미 기준 0.50 · 상위 3개 선택</a:t>
            </a:r>
          </a:p>
          <a:p>
            <a:r>
              <a:rPr sz="950" b="0">
                <a:solidFill>
                  <a:srgbClr val="8A96A3"/>
                </a:solidFill>
                <a:latin typeface="맑은 고딕"/>
                <a:ea typeface="맑은 고딕"/>
              </a:rPr>
              <a:t>결합 점수 = 1/(60 + TF-IDF 순위) + 1/(60 + 의미 순위)  —  한쪽에만 걸리면 그쪽 몫만 받는다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498600"/>
            <a:ext cx="812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2463A6"/>
                </a:solidFill>
                <a:latin typeface="맑은 고딕"/>
                <a:ea typeface="맑은 고딕"/>
              </a:rPr>
              <a:t>A.  </a:t>
            </a:r>
            <a:r>
              <a:rPr sz="1300" b="1">
                <a:solidFill>
                  <a:srgbClr val="1F2A37"/>
                </a:solidFill>
                <a:latin typeface="맑은 고딕"/>
                <a:ea typeface="맑은 고딕"/>
              </a:rPr>
              <a:t>“2026년 7월 기준 xxx 차량 차량상태 일별로”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7780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두 검색이 같은 지표를 1위로 꼽는다 → 선택 3개는 TF-IDF 만 쓸 때와 같고, 의미 검색이 정답을 한 번 더 확인해 준다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159000"/>
            <a:ext cx="2489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463A6"/>
                </a:solidFill>
                <a:latin typeface="맑은 고딕"/>
                <a:ea typeface="맑은 고딕"/>
              </a:rPr>
              <a:t>① TF-IDF 순위 (글자 조각)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7400" y="2159000"/>
            <a:ext cx="2489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2A37"/>
                </a:solidFill>
                <a:latin typeface="맑은 고딕"/>
                <a:ea typeface="맑은 고딕"/>
              </a:rPr>
              <a:t>③ 결합 순위 (RRF) · ✔ 상위 3개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6800" y="2159000"/>
            <a:ext cx="2489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96C06"/>
                </a:solidFill>
                <a:latin typeface="맑은 고딕"/>
                <a:ea typeface="맑은 고딕"/>
              </a:rPr>
              <a:t>② 의미 순위 (임베딩)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97200" y="2717800"/>
            <a:ext cx="330200" cy="0"/>
          </a:xfrm>
          <a:prstGeom prst="line">
            <a:avLst/>
          </a:prstGeom>
          <a:ln w="22860">
            <a:solidFill>
              <a:srgbClr val="246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997200" y="3378200"/>
            <a:ext cx="330200" cy="0"/>
          </a:xfrm>
          <a:prstGeom prst="line">
            <a:avLst/>
          </a:prstGeom>
          <a:ln w="22860">
            <a:solidFill>
              <a:srgbClr val="246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97200" y="4038600"/>
            <a:ext cx="330200" cy="0"/>
          </a:xfrm>
          <a:prstGeom prst="line">
            <a:avLst/>
          </a:prstGeom>
          <a:ln w="22860">
            <a:solidFill>
              <a:srgbClr val="246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997200" y="4699000"/>
            <a:ext cx="330200" cy="1981200"/>
          </a:xfrm>
          <a:prstGeom prst="line">
            <a:avLst/>
          </a:prstGeom>
          <a:ln w="1270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997200" y="4699000"/>
            <a:ext cx="330200" cy="660400"/>
          </a:xfrm>
          <a:prstGeom prst="line">
            <a:avLst/>
          </a:prstGeom>
          <a:ln w="1270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997200" y="5359400"/>
            <a:ext cx="330200" cy="660400"/>
          </a:xfrm>
          <a:prstGeom prst="line">
            <a:avLst/>
          </a:prstGeom>
          <a:ln w="1270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997200" y="6019800"/>
            <a:ext cx="330200" cy="660400"/>
          </a:xfrm>
          <a:prstGeom prst="line">
            <a:avLst/>
          </a:prstGeom>
          <a:ln w="20320">
            <a:solidFill>
              <a:srgbClr val="D96C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816600" y="2717800"/>
            <a:ext cx="330200" cy="0"/>
          </a:xfrm>
          <a:prstGeom prst="line">
            <a:avLst/>
          </a:prstGeom>
          <a:ln w="22860">
            <a:solidFill>
              <a:srgbClr val="246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816600" y="3378200"/>
            <a:ext cx="330200" cy="2641600"/>
          </a:xfrm>
          <a:prstGeom prst="line">
            <a:avLst/>
          </a:prstGeom>
          <a:ln w="20320">
            <a:solidFill>
              <a:srgbClr val="D96C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5816600" y="3378200"/>
            <a:ext cx="330200" cy="660400"/>
          </a:xfrm>
          <a:prstGeom prst="line">
            <a:avLst/>
          </a:prstGeom>
          <a:ln w="22860">
            <a:solidFill>
              <a:srgbClr val="246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5816600" y="4038600"/>
            <a:ext cx="330200" cy="660400"/>
          </a:xfrm>
          <a:prstGeom prst="line">
            <a:avLst/>
          </a:prstGeom>
          <a:ln w="22860">
            <a:solidFill>
              <a:srgbClr val="246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816600" y="5359400"/>
            <a:ext cx="330200" cy="0"/>
          </a:xfrm>
          <a:prstGeom prst="line">
            <a:avLst/>
          </a:prstGeom>
          <a:ln w="1270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5816600" y="4699000"/>
            <a:ext cx="330200" cy="1320800"/>
          </a:xfrm>
          <a:prstGeom prst="line">
            <a:avLst/>
          </a:prstGeom>
          <a:ln w="12700">
            <a:solidFill>
              <a:srgbClr val="B4B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8000" y="24638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2032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25273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차량별 차량상태 상세정보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27178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1위 · 0.506 · 차량·량상·상태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000" y="31242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2032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31877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차량상태 상세정보 목록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33782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2위 · 0.430 · 차량·량상·상태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8000" y="37846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2032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38481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일별 가동시간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40386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3위 · 0.341 · 차량·일별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8000" y="44450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45085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vehicle_info  [테이블]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46990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4위 · 0.261 · 차량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8000" y="51054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51689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차량 기본 정보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53594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5위 · 0.179 · 차량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8000" y="57658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600" y="58293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차량 경고 이력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0198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6위 · 0.146 · 차량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8000" y="64262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2032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64897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데이터 수집 현황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6802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10위 · 0.074 · 차량  (7~9위 bms 테이블 생략)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46800" y="24638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2032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48400" y="25273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차량별 차량상태 상세정보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8400" y="27178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1위 · 0.666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6800" y="31242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2032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8400" y="31877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데이터 수집 현황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8400" y="33782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2위 · 0.626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46800" y="37846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2032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48400" y="38481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차량상태 상세정보 목록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48400" y="40386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3위 · 0.585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6800" y="44450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2032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8400" y="45085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일별 가동시간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8400" y="46990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4위 · 0.581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46800" y="51054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48400" y="51689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차량 경고 이력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8400" y="53594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5위 · 0.537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6800" y="57658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48400" y="58293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차량 기본 정보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8400" y="60198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6위 · 0.522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6800" y="64262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48400" y="64897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8A96A3"/>
                </a:solidFill>
                <a:latin typeface="맑은 고딕"/>
                <a:ea typeface="맑은 고딕"/>
              </a:rPr>
              <a:t>공지사항 목록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8400" y="66802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8A96A3"/>
                </a:solidFill>
                <a:latin typeface="맑은 고딕"/>
                <a:ea typeface="맑은 고딕"/>
              </a:rPr>
              <a:t>0.383 · 기준 미만 → 결합 제외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327400" y="24638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2032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29000" y="25273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✔ 차량별 차량상태 상세정보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29000" y="27178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0.0328 = 0.0164 + 0.0164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27400" y="31242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2032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29000" y="31877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✔ 차량상태 상세정보 목록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29000" y="33782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0.0320 = 0.0161 + 0.0159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327400" y="37846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2032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29000" y="38481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✔ 일별 가동시간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29000" y="40386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0.0315 = 0.0159 + 0.0156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327400" y="44450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29000" y="45085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차량 기본 정보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29000" y="46990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0.0305 = 0.0154 + 0.0152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27400" y="51054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429000" y="51689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차량 경고 이력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29000" y="53594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0.0305 = 0.0152 + 0.0154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327400" y="57658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2032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29000" y="58293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데이터 수집 현황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60198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0.0304 = 0.0143 + 0.0161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327400" y="6426200"/>
            <a:ext cx="2489200" cy="50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29000" y="6489700"/>
            <a:ext cx="228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vehicle_info  [테이블]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66802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>
                <a:solidFill>
                  <a:srgbClr val="526477"/>
                </a:solidFill>
                <a:latin typeface="맑은 고딕"/>
                <a:ea typeface="맑은 고딕"/>
              </a:rPr>
              <a:t>0.0156 = TF-IDF 몫만 (의미 검색 대상 아님)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251200" y="4368800"/>
            <a:ext cx="2641600" cy="0"/>
          </a:xfrm>
          <a:prstGeom prst="line">
            <a:avLst/>
          </a:prstGeom>
          <a:ln w="12700">
            <a:solidFill>
              <a:srgbClr val="2463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508000" y="7162800"/>
            <a:ext cx="81280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· 파란 선 = 선택된 3개.  선택은 TF-IDF 만 쓸 때와 같다 (차량별 차량상태 상세정보 · 차량상태 상세정보 목록 · 일별 가동시간)</a:t>
            </a:r>
          </a:p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· </a:t>
            </a:r>
            <a:r>
              <a:rPr sz="950" b="1">
                <a:solidFill>
                  <a:srgbClr val="D96C06"/>
                </a:solidFill>
                <a:latin typeface="맑은 고딕"/>
                <a:ea typeface="맑은 고딕"/>
              </a:rPr>
              <a:t>데이터 수집 현황</a:t>
            </a:r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: TF-IDF 10위 → 의미 2위 → 결합 6위. 설명이 '차량별 마지막 데이터 수집 일시' 뿐이라 흔한 말에 두루 가깝다</a:t>
            </a:r>
          </a:p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· 테이블은 의미 검색 대상이 아니어서 TF-IDF 몫만 받는다 → vehicle_info 가 4위에서 7위로 (테이블은 고른 지표를 따라 실린다)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8000" y="8331200"/>
            <a:ext cx="812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2463A6"/>
                </a:solidFill>
                <a:latin typeface="맑은 고딕"/>
                <a:ea typeface="맑은 고딕"/>
              </a:rPr>
              <a:t>B.  </a:t>
            </a:r>
            <a:r>
              <a:rPr sz="1300" b="1">
                <a:solidFill>
                  <a:srgbClr val="1F2A37"/>
                </a:solidFill>
                <a:latin typeface="맑은 고딕"/>
                <a:ea typeface="맑은 고딕"/>
              </a:rPr>
              <a:t>“7월에 xxx 차 컨디션 어땠어”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8000" y="86106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'차', '컨디션' 은 단어 사전에 없다 — 의미 검색이 메워 줘야 하는 경우인데, 지금 데이터로는 아직 못 찾는다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08000" y="8915400"/>
            <a:ext cx="3962400" cy="177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0400" y="9042400"/>
            <a:ext cx="3657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463A6"/>
                </a:solidFill>
                <a:latin typeface="맑은 고딕"/>
                <a:ea typeface="맑은 고딕"/>
              </a:rPr>
              <a:t>① TF-IDF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0400" y="9321800"/>
            <a:ext cx="36576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사용된 토큰: '7' 하나 (나머지 7개는 사전에 없음)</a:t>
            </a:r>
          </a:p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1. bms_condition [테이블]   0.098</a:t>
            </a:r>
          </a:p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2. bms_alert [테이블]   0.062</a:t>
            </a:r>
          </a:p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3. bms_log [테이블]   0.034</a:t>
            </a:r>
          </a:p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→ 지표 0개. '7' 이 들어간 테이블만 걸림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673600" y="8915400"/>
            <a:ext cx="3962400" cy="17780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26000" y="9042400"/>
            <a:ext cx="36576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D96C06"/>
                </a:solidFill>
                <a:latin typeface="맑은 고딕"/>
                <a:ea typeface="맑은 고딕"/>
              </a:rPr>
              <a:t>② 의미 검색 — 전부 기준 0.50 미만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26000" y="9321800"/>
            <a:ext cx="36576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1. 데이터 수집 현황   0.495</a:t>
            </a:r>
          </a:p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2. 차량별 차량상태 상세정보   0.421  ← 정답</a:t>
            </a:r>
          </a:p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3. 차량 경고 이력   0.379</a:t>
            </a:r>
          </a:p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4. 차량 기본 정보   0.377</a:t>
            </a:r>
          </a:p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…  공지사항 목록   0.249</a:t>
            </a:r>
          </a:p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/>
            </a:r>
          </a:p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→ 방향은 맞지만(정답 2위) 점수가 낮아 결합에 못 들어감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8000" y="108204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결과: </a:t>
            </a:r>
            <a:r>
              <a:rPr sz="950" b="1">
                <a:solidFill>
                  <a:srgbClr val="D96C06"/>
                </a:solidFill>
                <a:latin typeface="맑은 고딕"/>
                <a:ea typeface="맑은 고딕"/>
              </a:rPr>
              <a:t>의미 검색을 켜도 지표 0개 — TF-IDF 만 쓸 때와 같다</a:t>
            </a:r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  (기준을 0.4 로 내리면 정답이 들어오지만, 관계없는 질문도 0.44 까지 나온다)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8000" y="11404600"/>
            <a:ext cx="812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2463A6"/>
                </a:solidFill>
                <a:latin typeface="맑은 고딕"/>
                <a:ea typeface="맑은 고딕"/>
              </a:rPr>
              <a:t>C.  </a:t>
            </a:r>
            <a:r>
              <a:rPr sz="1300" b="1">
                <a:solidFill>
                  <a:srgbClr val="1F2A37"/>
                </a:solidFill>
                <a:latin typeface="맑은 고딕"/>
                <a:ea typeface="맑은 고딕"/>
              </a:rPr>
              <a:t>“차량별 하루 운행 시간”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8000" y="116840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'하루', '운행' 은 사전에 없다. 정답은 일별 가동시간 — 선택 3개는 같고 순서만 바뀐다 (결합 점수 3개가 동점)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8000" y="11988800"/>
            <a:ext cx="39624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2463A6"/>
                </a:solidFill>
                <a:latin typeface="맑은 고딕"/>
                <a:ea typeface="맑은 고딕"/>
              </a:rPr>
              <a:t>TF-IDF 만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08000" y="12268200"/>
            <a:ext cx="39624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000" y="12331700"/>
            <a:ext cx="3708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1F2A37"/>
                </a:solidFill>
                <a:latin typeface="맑은 고딕"/>
                <a:ea typeface="맑은 고딕"/>
              </a:rPr>
              <a:t>1. 차량별 차량상태 상세정보   0.465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08000" y="12649200"/>
            <a:ext cx="3962400" cy="304800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1524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5000" y="12712700"/>
            <a:ext cx="3708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2. 일별 가동시간   0.260  ← 정답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08000" y="13030200"/>
            <a:ext cx="39624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5000" y="13093700"/>
            <a:ext cx="3708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1F2A37"/>
                </a:solidFill>
                <a:latin typeface="맑은 고딕"/>
                <a:ea typeface="맑은 고딕"/>
              </a:rPr>
              <a:t>3. 데이터 수집 현황   0.255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73600" y="11988800"/>
            <a:ext cx="39624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F2A37"/>
                </a:solidFill>
                <a:latin typeface="맑은 고딕"/>
                <a:ea typeface="맑은 고딕"/>
              </a:rPr>
              <a:t>결합 (TF-IDF + 의미)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673600" y="12268200"/>
            <a:ext cx="3962400" cy="30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800600" y="12331700"/>
            <a:ext cx="3708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1F2A37"/>
                </a:solidFill>
                <a:latin typeface="맑은 고딕"/>
                <a:ea typeface="맑은 고딕"/>
              </a:rPr>
              <a:t>1. 차량별 차량상태 상세정보   0.0323 (1위+3위)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673600" y="12649200"/>
            <a:ext cx="3962400" cy="3048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5240">
            <a:solidFill>
              <a:srgbClr val="D96C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800600" y="12712700"/>
            <a:ext cx="3708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2. 데이터 수집 현황   0.0323 (3위+1위)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673600" y="13030200"/>
            <a:ext cx="3962400" cy="304800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15240">
            <a:solidFill>
              <a:srgbClr val="246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00600" y="13093700"/>
            <a:ext cx="3708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1F2A37"/>
                </a:solidFill>
                <a:latin typeface="맑은 고딕"/>
                <a:ea typeface="맑은 고딕"/>
              </a:rPr>
              <a:t>3. 일별 가동시간   0.0323 (2위+2위)  ← 정답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8000" y="13512800"/>
            <a:ext cx="812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의미 1위는 정답이 아닌 </a:t>
            </a:r>
            <a:r>
              <a:rPr sz="950" b="1">
                <a:solidFill>
                  <a:srgbClr val="D96C06"/>
                </a:solidFill>
                <a:latin typeface="맑은 고딕"/>
                <a:ea typeface="맑은 고딕"/>
              </a:rPr>
              <a:t>데이터 수집 현황(0.691)</a:t>
            </a:r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, 정답 일별 가동시간은 0.632 로 2위. 둘 다 '차량별', '시간' 같은 말에 반응한다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08000" y="14147800"/>
            <a:ext cx="8128000" cy="21590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6600" y="14325600"/>
            <a:ext cx="7670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F2A37"/>
                </a:solidFill>
                <a:latin typeface="맑은 고딕"/>
                <a:ea typeface="맑은 고딕"/>
              </a:rPr>
              <a:t>정리 — 지금 데이터에서 의미 검색의 효과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36600" y="14681200"/>
            <a:ext cx="7670800" cy="215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F2A37"/>
                </a:solidFill>
                <a:latin typeface="맑은 고딕"/>
                <a:ea typeface="맑은 고딕"/>
              </a:rPr>
              <a:t>· 이번 질문들에서 결과가 나빠지지 않았다: </a:t>
            </a:r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A·C 모두 선택 3개가 TF-IDF 와 같고, 정답을 양쪽이 함께 1위로 꼽는다</a:t>
            </a:r>
          </a:p>
          <a:p>
            <a:r>
              <a:rPr sz="1000" b="1">
                <a:solidFill>
                  <a:srgbClr val="1F2A37"/>
                </a:solidFill>
                <a:latin typeface="맑은 고딕"/>
                <a:ea typeface="맑은 고딕"/>
              </a:rPr>
              <a:t>· 아직 '못 찾던 지표를 찾는' 효과는 없다: </a:t>
            </a:r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B 처럼 글자가 안 겹치는 질문은 정답 0.421 로 기준 미만</a:t>
            </a:r>
          </a:p>
          <a:p>
            <a:r>
              <a:rPr sz="1000" b="1">
                <a:solidFill>
                  <a:srgbClr val="1F2A37"/>
                </a:solidFill>
                <a:latin typeface="맑은 고딕"/>
                <a:ea typeface="맑은 고딕"/>
              </a:rPr>
              <a:t>· 원인은 모델보다 지표 쪽 문장: </a:t>
            </a:r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지표 7개 모두 예시 질문이 0개, 설명은 이름 반복("차량상태 상세정보: 차량상태 상세정보")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   → 의미 검색이 비교할 문장이 지표당 1개뿐이고, 그것도 질문 말투와 다르다</a:t>
            </a:r>
          </a:p>
          <a:p>
            <a:r>
              <a:rPr sz="1000" b="1">
                <a:solidFill>
                  <a:srgbClr val="1F2A37"/>
                </a:solidFill>
                <a:latin typeface="맑은 고딕"/>
                <a:ea typeface="맑은 고딕"/>
              </a:rPr>
              <a:t>· 다음 할 일: </a:t>
            </a:r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지표마다 예시 질문 2~3개 등록 (예: 일별 가동시간 ← "차량별 하루 운행 시간", "어제 엔진 몇 시간 돌았어"),</a:t>
            </a:r>
          </a:p>
          <a:p>
            <a:r>
              <a:rPr sz="1000" b="0">
                <a:solidFill>
                  <a:srgbClr val="526477"/>
                </a:solidFill>
                <a:latin typeface="맑은 고딕"/>
                <a:ea typeface="맑은 고딕"/>
              </a:rPr>
              <a:t>   데이터 수집 현황 설명 보강 → 같은 질문으로 재측정 (evaluate.py 기본 vs --no-semantic)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8000" y="16637000"/>
            <a:ext cx="8128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2A37"/>
                </a:solidFill>
                <a:latin typeface="맑은 고딕"/>
                <a:ea typeface="맑은 고딕"/>
              </a:rPr>
              <a:t>로그로 확인하기 (nl2sql.pruner)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8000" y="168910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526477"/>
                </a:solidFill>
                <a:latin typeface="맑은 고딕"/>
                <a:ea typeface="맑은 고딕"/>
              </a:rPr>
              <a:t>질문마다 후보 전체가 한 표로 남는다. 위 A 의 실제 로그: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8000" y="17145000"/>
            <a:ext cx="8128000" cy="1270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5000" y="17272000"/>
            <a:ext cx="79248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19" b="0">
                <a:solidFill>
                  <a:srgbClr val="9AA5B1"/>
                </a:solidFill>
                <a:latin typeface="Consolas"/>
                <a:ea typeface="Consolas"/>
              </a:rPr>
              <a:t>후보 (결합 = 1/(60+TF-IDF 순위) + 1/(60+의미 순위), 의미 기준 0.50) — 상위 3개 선택</a:t>
            </a:r>
          </a:p>
          <a:p>
            <a:r>
              <a:rPr sz="819" b="0">
                <a:solidFill>
                  <a:srgbClr val="8CC4FF"/>
                </a:solidFill>
                <a:latin typeface="Consolas"/>
                <a:ea typeface="Consolas"/>
              </a:rPr>
              <a:t>#1 ✔ [metric] 차량별 차량상태 상세정보  TF-IDF 0.506 (1위) | 의미 0.666 (1위) | 결합 0.0328 (0.0164 + 0.0164)</a:t>
            </a:r>
          </a:p>
          <a:p>
            <a:r>
              <a:rPr sz="819" b="0">
                <a:solidFill>
                  <a:srgbClr val="8CC4FF"/>
                </a:solidFill>
                <a:latin typeface="Consolas"/>
                <a:ea typeface="Consolas"/>
              </a:rPr>
              <a:t>#2 ✔ [metric] 차량상태 상세정보 목록  TF-IDF 0.430 (2위) | 의미 0.585 (3위) | 결합 0.0320 (0.0161 + 0.0159)</a:t>
            </a:r>
          </a:p>
          <a:p>
            <a:r>
              <a:rPr sz="819" b="0">
                <a:solidFill>
                  <a:srgbClr val="E5E9EE"/>
                </a:solidFill>
                <a:latin typeface="Consolas"/>
                <a:ea typeface="Consolas"/>
              </a:rPr>
              <a:t>#6   [metric] 데이터 수집 현황  TF-IDF 0.074 (10위) | 의미 0.626 (2위) | 결합 0.0304 (0.0143 + 0.0161)</a:t>
            </a:r>
          </a:p>
          <a:p>
            <a:r>
              <a:rPr sz="819" b="0">
                <a:solidFill>
                  <a:srgbClr val="E5E9EE"/>
                </a:solidFill>
                <a:latin typeface="Consolas"/>
                <a:ea typeface="Consolas"/>
              </a:rPr>
              <a:t>#7   [table] vehicle_info  TF-IDF 0.261 (4위) | 의미 - | 결합 0.0156 (0.0156)</a:t>
            </a:r>
          </a:p>
          <a:p>
            <a:r>
              <a:rPr sz="819" b="0">
                <a:solidFill>
                  <a:srgbClr val="9AA5B1"/>
                </a:solidFill>
                <a:latin typeface="Consolas"/>
                <a:ea typeface="Consolas"/>
              </a:rPr>
              <a:t>-    [metric] 공지사항 목록  TF-IDF - | 의미 0.383 (기준 미만) | 결합 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7EDDA4F-1E78-4849-9FAD-E2D60407421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2431799-ada3-4017-b0b5-c73a94221e3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952</TotalTime>
  <Words>774</Words>
  <Application>Microsoft Office PowerPoint</Application>
  <PresentationFormat>사용자 지정</PresentationFormat>
  <Paragraphs>138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Aptos</vt:lpstr>
      <vt:lpstr>Aptos Display</vt:lpstr>
      <vt:lpstr>Arial</vt:lpstr>
      <vt:lpstr>Consolas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배 도윤</dc:creator>
  <cp:lastModifiedBy>배 도윤</cp:lastModifiedBy>
  <cp:revision>18</cp:revision>
  <dcterms:created xsi:type="dcterms:W3CDTF">2026-10-06T09:15:38Z</dcterms:created>
  <dcterms:modified xsi:type="dcterms:W3CDTF">2026-10-07T01:35:30Z</dcterms:modified>
</cp:coreProperties>
</file>